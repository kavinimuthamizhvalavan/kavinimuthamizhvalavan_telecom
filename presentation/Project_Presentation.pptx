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7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8427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0:15. Introduce yourself and the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0:45. NOC engineers face the same degradations repeatedly; the knowledge is buried in KPI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0:30. One request returns all of this; every step is grounded and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0:45. Top band: offline build, no LLM. Bottom band: the mandated spine Retriever → LLM/RAG Pipeline → Agents → API Layer → UI. Orange = LLM, green = deterministic.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0:40. These findings shaped the whole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0:20. Everything runs locally except the LLM call; zero-key mode works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0:35. Only LLM decisions under ambiguity are agents; everything computable is a deterministic tool. The judge's verdict drives one revision; a second failure is shown as a low-confidence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3:00. Turn on Demo mode (rail switch): larger type, five incident cards, keys 1 to 5. Repeated queries come from the response cache, so they are instant and free. Backup: the screenshot on the hidden slide, or zero-key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0:45. Left: parts that use no model, identical in both runs. Right: the two configurations. Sonnet is the best measured capability; Haiku is what the demo runs, about 10x cheaper with the same accuracy, less consistent, and the judge flags it. Answer-quality scores come from different judges, so compare basic RAG vs multi-agent within a run, not across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0:25. End on the honest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Hidden backup slide: use if the live demo fails. Recorded Haiku 5.5 run of PRD query 1 (32 s, 4 model calls, validated).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Hidden backup slide. Full suite on both configurations.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Hidden backup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4000" b="1" dirty="0">
                <a:solidFill>
                  <a:srgbClr val="FFFFFF"/>
                </a:solidFill>
                <a:latin typeface="Segoe UI"/>
              </a:rPr>
              <a:t>AI-Powered Telecom Network Operations Assistant</a:t>
            </a:r>
          </a:p>
          <a:p>
            <a:pPr>
              <a:spcAft>
                <a:spcPts val="1800"/>
              </a:spcAft>
            </a:pPr>
            <a:r>
              <a:rPr sz="2000" b="0" dirty="0">
                <a:solidFill>
                  <a:srgbClr val="DBE8F4"/>
                </a:solidFill>
                <a:latin typeface="Segoe UI"/>
              </a:rPr>
              <a:t>Similar-incident retrieval, multi-agent root-cause analysis and validated troubleshooting for NOC engineers</a:t>
            </a:r>
          </a:p>
          <a:p>
            <a:pPr>
              <a:spcAft>
                <a:spcPts val="1800"/>
              </a:spcAft>
            </a:pPr>
            <a:r>
              <a:rPr lang="en-IN" sz="1600" dirty="0">
                <a:solidFill>
                  <a:srgbClr val="F6C9A8"/>
                </a:solidFill>
                <a:latin typeface="Segoe UI"/>
              </a:rPr>
              <a:t>Kavini </a:t>
            </a:r>
            <a:r>
              <a:rPr lang="en-IN" sz="1600" dirty="0" err="1">
                <a:solidFill>
                  <a:srgbClr val="F6C9A8"/>
                </a:solidFill>
                <a:latin typeface="Segoe UI"/>
              </a:rPr>
              <a:t>Muthamizhvalvan</a:t>
            </a:r>
            <a:r>
              <a:rPr sz="1600" b="0">
                <a:solidFill>
                  <a:srgbClr val="F6C9A8"/>
                </a:solidFill>
                <a:latin typeface="Segoe UI"/>
              </a:rPr>
              <a:t>  </a:t>
            </a:r>
            <a:r>
              <a:rPr sz="1600" b="0" dirty="0">
                <a:solidFill>
                  <a:srgbClr val="F6C9A8"/>
                </a:solidFill>
                <a:latin typeface="Segoe UI"/>
              </a:rPr>
              <a:t>·  </a:t>
            </a:r>
            <a:r>
              <a:rPr sz="1600" b="0">
                <a:solidFill>
                  <a:srgbClr val="F6C9A8"/>
                </a:solidFill>
                <a:latin typeface="Segoe UI"/>
              </a:rPr>
              <a:t>GenAI capstone</a:t>
            </a:r>
            <a:endParaRPr sz="1600" b="0" dirty="0">
              <a:solidFill>
                <a:srgbClr val="F6C9A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The problem: slow, inconsistent incident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D2329"/>
                </a:solidFill>
                <a:latin typeface="Segoe UI"/>
              </a:rPr>
              <a:t>• NOC teams repeatedly face congestion, weak signal, latency, packet loss, call drops, handover failures and faults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D2329"/>
                </a:solidFill>
                <a:latin typeface="Segoe UI"/>
              </a:rPr>
              <a:t>• What similar incidents looked like, why they happened and what fixed them is buried in thousands of KPI records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D2329"/>
                </a:solidFill>
                <a:latin typeface="Segoe UI"/>
              </a:rPr>
              <a:t>• Searching by hand is slow → higher MTTR and inconsistent decisions between engineers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D2329"/>
                </a:solidFill>
                <a:latin typeface="Segoe UI"/>
              </a:rPr>
              <a:t>• Business need: from a plain-language description, return within seconds</a:t>
            </a:r>
          </a:p>
          <a:p>
            <a:pPr lvl="1"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– similar past cases · a classified, prioritized incident · root-cause hypotheses · cited, validated actions</a:t>
            </a:r>
          </a:p>
          <a:p>
            <a:pPr>
              <a:spcAft>
                <a:spcPts val="1200"/>
              </a:spcAft>
            </a:pPr>
            <a:r>
              <a:rPr sz="2200" b="0">
                <a:solidFill>
                  <a:srgbClr val="1D2329"/>
                </a:solidFill>
                <a:latin typeface="Segoe UI"/>
              </a:rPr>
              <a:t>• And improve from engineer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What the engineer 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205740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Similar cases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hybrid search over 100,000 historical records, with filters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566160" cy="20574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Classification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8 incident types + NORMAL; asks for clarification when vague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371600"/>
            <a:ext cx="3566160" cy="205740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Risk and priority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ML fault risk, P1–P4 priority with reasons, impact level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3566160" cy="20574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Root causes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ranked hypotheses, each with evidence type and citations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703320"/>
            <a:ext cx="3566160" cy="20574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Actions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ordered, phased, with verification and change-approval flags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703320"/>
            <a:ext cx="3566160" cy="20574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Validation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an LLM judge + rule checks; one revision; low-confidence flag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6455" y="1051560"/>
            <a:ext cx="8558784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The dataset: three surprising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B7883"/>
                </a:solidFill>
                <a:latin typeface="Segoe UI"/>
              </a:rPr>
              <a:t>5G NetOps dataset (Hugging Face fenar/5g_netops): 100,000 rows × 27 KPI columns, Apache-2.0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11880" cy="4480560"/>
          </a:xfrm>
          <a:prstGeom prst="roundRect">
            <a:avLst/>
          </a:prstGeom>
          <a:solidFill>
            <a:srgbClr val="DBE8F4"/>
          </a:solidFill>
          <a:ln w="19050"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1. No text at all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No incident descriptions, causes or actions.</a:t>
            </a:r>
          </a:p>
          <a:p>
            <a:pPr algn="l">
              <a:spcAft>
                <a:spcPts val="400"/>
              </a:spcAft>
            </a:pPr>
            <a:endParaRPr sz="1700">
              <a:solidFill>
                <a:srgbClr val="1D2329"/>
              </a:solidFill>
              <a:latin typeface="Segoe UI"/>
            </a:endParaRP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→ Case narratives generated from the KPIs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→ 9 authored runbooks as the knowledge source (81 sections)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611880" cy="4480560"/>
          </a:xfrm>
          <a:prstGeom prst="roundRect">
            <a:avLst/>
          </a:prstGeom>
          <a:solidFill>
            <a:srgbClr val="DBE8F4"/>
          </a:solidFill>
          <a:ln w="19050"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2. Leaky columns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Fault occurrence rate is an exact formula of other columns (R² = 1.00).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'Issue Reported' is noise (AUC 0.501).</a:t>
            </a:r>
          </a:p>
          <a:p>
            <a:pPr algn="l">
              <a:spcAft>
                <a:spcPts val="400"/>
              </a:spcAft>
            </a:pPr>
            <a:endParaRPr sz="1700">
              <a:solidFill>
                <a:srgbClr val="1D2329"/>
              </a:solidFill>
              <a:latin typeface="Segoe UI"/>
            </a:endParaRP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→ ML on leading indicators only: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fault-risk AUC 0.874, honest not perfect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611880" cy="4480560"/>
          </a:xfrm>
          <a:prstGeom prst="roundRect">
            <a:avLst/>
          </a:prstGeom>
          <a:solidFill>
            <a:srgbClr val="DBE8F4"/>
          </a:solidFill>
          <a:ln w="19050">
            <a:solidFill>
              <a:srgbClr val="0B3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D2329"/>
                </a:solidFill>
                <a:latin typeface="Segoe UI"/>
              </a:rPr>
              <a:t>3. Synthetic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Faker city names (38,066 unique), uniform distributions, no timestamps or cell IDs.</a:t>
            </a:r>
          </a:p>
          <a:p>
            <a:pPr algn="l">
              <a:spcAft>
                <a:spcPts val="400"/>
              </a:spcAft>
            </a:pPr>
            <a:endParaRPr sz="1700">
              <a:solidFill>
                <a:srgbClr val="1D2329"/>
              </a:solidFill>
              <a:latin typeface="Segoe UI"/>
            </a:endParaRP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→ Severity relative to this network (p75 / p90)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D2329"/>
                </a:solidFill>
                <a:latin typeface="Segoe UI"/>
              </a:rPr>
              <a:t>→ Trends cannot be verified: the app says 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Layer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Choice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LLM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Claude Haiku 5.5 via the AICredits gateway (≈ ₹0.75 per analysis); Sonnet 5.5 = best measured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LangGraph state graph: 4 agents, judge loop, deterministic fallbacks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Retrieval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ChromaDB (dense, bge-small-en-v1.5) + bm25s, reciprocal-rank fusion + rerank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scikit-learn HistGradientBoosting: fault risk, 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API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FastAPI + Uvicorn: 13 endpoints, guardrails first, one error envelope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React 19 + TypeScript (Vite, TanStack Query): live agent progress, summary-first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Storage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SQLite: runs, feedback, LLM cache, spend ledger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DeepEval (LLM judge) + retrieval, classifier, guardrail, ML and judge tests; pytest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Agent workflow: why agents, and the judge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468880" cy="13716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D2329"/>
                </a:solidFill>
                <a:latin typeface="Segoe UI"/>
              </a:rPr>
              <a:t>Classifier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category, symptoms,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filters,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468880" cy="13716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D2329"/>
                </a:solidFill>
                <a:latin typeface="Segoe UI"/>
              </a:rPr>
              <a:t>Analyst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ranked root causes,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evidence + citations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2468880" cy="13716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D2329"/>
                </a:solidFill>
                <a:latin typeface="Segoe UI"/>
              </a:rPr>
              <a:t>Recommender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ordered actions,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verification, approval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9720" y="1463040"/>
            <a:ext cx="2468880" cy="1371600"/>
          </a:xfrm>
          <a:prstGeom prst="roundRect">
            <a:avLst/>
          </a:prstGeom>
          <a:solidFill>
            <a:srgbClr val="FBE3D2"/>
          </a:solidFill>
          <a:ln w="19050">
            <a:solidFill>
              <a:srgbClr val="C06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D2329"/>
                </a:solidFill>
                <a:latin typeface="Segoe UI"/>
              </a:rPr>
              <a:t>Judge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4 scores + 6 rule checks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D2329"/>
                </a:solidFill>
                <a:latin typeface="Segoe UI"/>
              </a:rPr>
              <a:t>pass / revise / fail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148840"/>
            <a:ext cx="411480" cy="0"/>
          </a:xfrm>
          <a:prstGeom prst="line">
            <a:avLst/>
          </a:prstGeom>
          <a:ln w="25400">
            <a:solidFill>
              <a:srgbClr val="1D232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97880" y="2148840"/>
            <a:ext cx="411480" cy="0"/>
          </a:xfrm>
          <a:prstGeom prst="line">
            <a:avLst/>
          </a:prstGeom>
          <a:ln w="25400">
            <a:solidFill>
              <a:srgbClr val="1D232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778240" y="2148840"/>
            <a:ext cx="411480" cy="0"/>
          </a:xfrm>
          <a:prstGeom prst="line">
            <a:avLst/>
          </a:prstGeom>
          <a:ln w="25400">
            <a:solidFill>
              <a:srgbClr val="1D232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4663440" y="1371600"/>
            <a:ext cx="5760720" cy="91440"/>
          </a:xfrm>
          <a:prstGeom prst="line">
            <a:avLst/>
          </a:prstGeom>
          <a:ln w="25400">
            <a:solidFill>
              <a:srgbClr val="C0612B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0" y="1024128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C0612B"/>
                </a:solidFill>
                <a:latin typeface="Segoe UI"/>
              </a:rPr>
              <a:t>revision (max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8328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KPI analyzer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38328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Segment statistics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38328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ML predictors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3484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Prioritization + impact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43484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Similar-case 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434840"/>
            <a:ext cx="3566160" cy="868680"/>
          </a:xfrm>
          <a:prstGeom prst="roundRect">
            <a:avLst/>
          </a:prstGeom>
          <a:solidFill>
            <a:srgbClr val="DFF0E3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ctr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1D2329"/>
                </a:solidFill>
                <a:latin typeface="Segoe UI"/>
              </a:rPr>
              <a:t>Guardrails (before any LLM)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883"/>
                </a:solidFill>
                <a:latin typeface="Segoe UI"/>
              </a:rPr>
              <a:t>Every LLM node has a deterministic fallback; with no key, or after the daily spend cap, the same request is answered by rules alone (reduced mode).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Live demo (3 minutes)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Area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What to show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Time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Investigate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Preset 1: agents working live, then the report: diagnosis, priority, likely cause, escalation, worst KPIs, top 3 actions; open a tab (causes, similar cases, agent trace)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1:40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Filters (state, season, weather) and the four-mode search comparison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0:30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Simulate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Change KPIs → fault risk, throughput and priority update with reasons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0:25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Judge verdicts, feedback loop, both evaluation runs named by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0:25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035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6B7883"/>
                </a:solidFill>
                <a:latin typeface="Segoe UI"/>
              </a:rPr>
              <a:t>• A daily spend cap and the prepaid AICredits balance bound the total cost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Evaluation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i="1">
                <a:solidFill>
                  <a:srgbClr val="6B7883"/>
                </a:solidFill>
                <a:latin typeface="Segoe UI"/>
              </a:rPr>
              <a:t>Search, classification, guardrails, ML, answer quality vs basic RAG, judge reliability,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47548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Same in both runs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Search Hit@5 / nDCG@10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1.000 / 0.953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Guardrails blocked / false pos.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12 of 12 /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Fault-risk ROC-AUC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0.874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Priority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6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Feedback loop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+0.006 nDCG, 0 worse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77840" y="1600200"/>
          <a:ext cx="6035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Sonnet 5.5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Haiku 5.5 (demo)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Targets met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26 of 28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27 of 28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Classifier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0.955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0.955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Actionability: RAG → agents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0.60 → 0.84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0.66 → 0.99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Planted errors caught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12 of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12 of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Median time per analysis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31 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35 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Passed judge first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11 of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8 of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Cost per analysis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≈ $0.076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D2329"/>
                          </a:solidFill>
                          <a:latin typeface="Segoe UI"/>
                        </a:rPr>
                        <a:t>≈ $0.007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Synthetic, text-free data → generated narratives, authored runbooks, leakage-free ML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Agents cost 4 LLM calls instead of 1 → paid back in actionability and an independent check of every answer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Provider migration (NVIDIA → Claude) → median latency 76 s → 31 s, no JSON failures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Cost: Sonnet evaluation ≈ $11 → Haiku 5.5 via a prepaid gateway (≈ 10× cheaper per analysis),</a:t>
            </a:r>
          </a:p>
          <a:p>
            <a:pPr lvl="1">
              <a:spcAft>
                <a:spcPts val="1200"/>
              </a:spcAft>
            </a:pPr>
            <a:r>
              <a:rPr sz="1800" b="0">
                <a:solidFill>
                  <a:srgbClr val="1D2329"/>
                </a:solidFill>
                <a:latin typeface="Segoe UI"/>
              </a:rPr>
              <a:t>– same accuracy, less consistent: the judge revised 3 of 11 and flagged 2 low-confidence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Information overload → a summary-first report: the essentials in 15 to 30 seconds, detail in tabs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D2329"/>
                </a:solidFill>
                <a:latin typeface="Segoe UI"/>
              </a:rPr>
              <a:t>• Next: real data with timestamps, retrieve runbook verification sections, authentication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Backup: the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pic>
        <p:nvPicPr>
          <p:cNvPr id="5" name="Picture 4" descr="report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879" y="1051560"/>
            <a:ext cx="863193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Backup: Haiku 5.5 vs Sonnet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Same test sets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Haiku 5.5 via AICredits (demo)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Sonnet 5.5 (best capability)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Evaluation judge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gpt-oss-120b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Claude Opus 5.5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Targets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27 of 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26 of 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Judge verdicts (11 queries)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9 pass, 2 low confidence; 3 revised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11 pass; 0 revised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Median / max time per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34.8 s / 78.8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31.4 s / 33.9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Planted errors caught by the judge agent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12 of 12, 0 false alarms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12 of 12, 0 false alarms</a:t>
                      </a:r>
                    </a:p>
                  </a:txBody>
                  <a:tcPr>
                    <a:solidFill>
                      <a:srgbClr val="F1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Cost of the full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≈ $0.27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D2329"/>
                          </a:solidFill>
                          <a:latin typeface="Segoe UI"/>
                        </a:rPr>
                        <a:t>≈ $11.4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Backup: Q&amp;A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883"/>
                </a:solidFill>
                <a:latin typeface="Segoe UI"/>
              </a:rPr>
              <a:t>AI-Powered Telecom Network Operations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Why does synthetic data matter? Generator artifacts; severity is relative; no trends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How was leakage avoided? Leakage audit: R² from root columns ≥ 0.15 → excluded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Why agents and not one call? Actionability 0.60 → 0.84 (Sonnet) and 0.66 → 0.99 (Haiku); judge catches 12/12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Why Haiku for the demo? Same accuracy at ≈ 10x lower cost; weaker answers are revised or flagged, not hidden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How is hallucination controlled? Citations validated against evidence IDs; rule checks; judge; fallbacks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What does feedback change? A smoothed prior in the rerank (+0.006 nDCG on voted queries, 0 regressions)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Why Chroma and BM25? Metadata filters on both paths; exact terms + paraphrases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D2329"/>
                </a:solidFill>
                <a:latin typeface="Segoe UI"/>
              </a:rPr>
              <a:t>• Production needs: real data, authentication, production vector DB, monitoring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1571</Words>
  <Application>Microsoft Office PowerPoint</Application>
  <PresentationFormat>Widescreen</PresentationFormat>
  <Paragraphs>201</Paragraphs>
  <Slides>13</Slides>
  <Notes>13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Kavini Muthamizhvalavan</cp:lastModifiedBy>
  <cp:revision>2</cp:revision>
  <dcterms:created xsi:type="dcterms:W3CDTF">2013-01-27T09:14:16Z</dcterms:created>
  <dcterms:modified xsi:type="dcterms:W3CDTF">2026-10-11T10:51:34Z</dcterms:modified>
  <cp:category/>
</cp:coreProperties>
</file>