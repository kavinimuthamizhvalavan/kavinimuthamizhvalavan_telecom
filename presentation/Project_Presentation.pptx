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71" r:id="rId11"/>
    <p:sldId id="267" r:id="rId12"/>
    <p:sldId id="268" r:id="rId13"/>
    <p:sldId id="266" r:id="rId14"/>
    <p:sldId id="265" r:id="rId15"/>
    <p:sldId id="269" r:id="rId16"/>
    <p:sldId id="270"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29ABB9D-E301-D509-466E-452E54867302}">
          <p14:sldIdLst>
            <p14:sldId id="256"/>
          </p14:sldIdLst>
        </p14:section>
        <p14:section name="Problem and need" id="{28DBE53F-3887-6D58-DC02-9B7FA9963AED}">
          <p14:sldIdLst>
            <p14:sldId id="257"/>
            <p14:sldId id="258"/>
          </p14:sldIdLst>
        </p14:section>
        <p14:section name="Solution" id="{EAEC5521-6086-58F1-4018-9FDFA992C3CC}">
          <p14:sldIdLst>
            <p14:sldId id="259"/>
          </p14:sldIdLst>
        </p14:section>
        <p14:section name="Architecture and data" id="{5389B76A-F6AC-76B2-1BBF-4B8707D15094}">
          <p14:sldIdLst>
            <p14:sldId id="260"/>
            <p14:sldId id="261"/>
            <p14:sldId id="262"/>
          </p14:sldIdLst>
        </p14:section>
        <p14:section name="Build" id="{23F4D697-F31A-E7DC-0169-32749C48A676}">
          <p14:sldIdLst>
            <p14:sldId id="263"/>
            <p14:sldId id="264"/>
          </p14:sldIdLst>
        </p14:section>
        <p14:section name="Demo and results" id="{84EF6F64-2081-B2ED-EEB9-5AF8389A1F8C}">
          <p14:sldIdLst>
            <p14:sldId id="271"/>
          </p14:sldIdLst>
        </p14:section>
        <p14:section name="Wrap-up" id="{2111DDC7-B877-8112-BEBE-70525D4FDBFF}">
          <p14:sldIdLst>
            <p14:sldId id="267"/>
          </p14:sldIdLst>
        </p14:section>
        <p14:section name="Backup" id="{B2C9DC56-13CA-8D6A-9D4B-611ED2549DA0}">
          <p14:sldIdLst>
            <p14:sldId id="268"/>
            <p14:sldId id="266"/>
            <p14:sldId id="265"/>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2" d="100"/>
          <a:sy n="92" d="100"/>
        </p:scale>
        <p:origin x="200"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62520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Introduce yourself and the one-line pitch.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 NOC engineers face the same degradations repeatedly; the knowledge is buried in KPI history. Searching by hand is slow, which means higher MTTR and inconsistent decisions between engineers.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From a plain-language description, the business need is to return within seconds: similar past cases, a classified, prioritized incident, root-cause hypotheses and cited, validated actions, and to improve from engineer feedback.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One request returns all of this; every step is grounded and cited.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Top band: offline build, no LLM. Bottom band: the mandated spine Retriever → LLM/RAG Pipeline → Agents → API Layer → UI. Orange = LLM, green = deterministic.</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Offline, once and with no LLM: the dataset is preprocessed, turned into case narratives and runbook chunks, embedded and indexed, and the ML models are trained. Online, every request passes the guardrails, retrieves similar cases, builds an evidence pack, runs through the agents and the judge, and returns a summary-first report. Engineer feedback flows back into the rerank.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These findings shaped the whole design.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Everything runs locally except the LLM call; zero-key mode works too.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Only LLM decisions under ambiguity are agents; everything computable is a deterministic tool. The judge's verdict drives one revision; a second failure is shown as a low-confidence diagnosis.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 End on the honest trade-offs.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backup slide: use if the live demo fails. Recorded Haiku 5.5 run of PRD query 1 (32 s, 4 model calls, validated).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Left: parts that use no model, identical in both runs. Right: the two configurations. Sonnet is the best measured capability; Haiku is what the demo runs, about 10x cheaper with the same accuracy, less consistent, and the judge flags it. Answer-quality scores come from different judges, so compare basic RAG vs multi-agent within a run, not across runs.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 Turn on Demo mode (rail switch): larger type, five incident cards, keys 1 to 5. Repeated queries come from the response cache, so they are instant and free. Backup: the screenshot on the hidden slide, or zero-key mode.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backup slide. Full suite on both configurations.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backup slide.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229600" cy="274320"/>
          </a:xfrm>
          <a:prstGeom prst="rect">
            <a:avLst/>
          </a:prstGeom>
          <a:noFill/>
          <a:ln/>
        </p:spPr>
        <p:txBody>
          <a:bodyPr wrap="square" rtlCol="0"/>
          <a:lstStyle>
            <a:lvl1pPr marL="0" indent="0">
              <a:buNone/>
              <a:defRPr lang="en-US" sz="1200" b="1" kern="0" spc="200" dirty="0">
                <a:solidFill>
                  <a:srgbClr val="EA580C"/>
                </a:solidFill>
              </a:defRPr>
            </a:lvl1pPr>
          </a:lstStyle>
          <a:p>
            <a:pPr marL="0" indent="0">
              <a:buNone/>
            </a:pPr>
            <a:endParaRPr lang="en-US" sz="1200" dirty="0"/>
          </a:p>
        </p:txBody>
      </p:sp>
      <p:sp>
        <p:nvSpPr>
          <p:cNvPr id="3" name="Text 0"/>
          <p:cNvSpPr>
            <a:spLocks noGrp="1"/>
          </p:cNvSpPr>
          <p:nvPr>
            <p:ph type="title" idx="101" hasCustomPrompt="1"/>
          </p:nvPr>
        </p:nvSpPr>
        <p:spPr>
          <a:xfrm>
            <a:off x="548640" y="621792"/>
            <a:ext cx="11064240" cy="640080"/>
          </a:xfrm>
          <a:prstGeom prst="rect">
            <a:avLst/>
          </a:prstGeom>
          <a:noFill/>
          <a:ln/>
        </p:spPr>
        <p:txBody>
          <a:bodyPr wrap="square" rtlCol="0"/>
          <a:lstStyle>
            <a:lvl1pPr marL="0" indent="0" algn="l">
              <a:buNone/>
              <a:defRPr lang="en-US" sz="3200" b="1" dirty="0">
                <a:solidFill>
                  <a:srgbClr val="0B2545"/>
                </a:solidFill>
              </a:defRPr>
            </a:lvl1pPr>
          </a:lstStyle>
          <a:p>
            <a:pPr marL="0" indent="0" algn="l">
              <a:buNone/>
            </a:pPr>
            <a:endParaRPr lang="en-US" sz="3200" dirty="0"/>
          </a:p>
        </p:txBody>
      </p:sp>
      <p:sp>
        <p:nvSpPr>
          <p:cNvPr id="4" name="Text 0"/>
          <p:cNvSpPr/>
          <p:nvPr/>
        </p:nvSpPr>
        <p:spPr>
          <a:xfrm>
            <a:off x="548640" y="6419088"/>
            <a:ext cx="7315200" cy="274320"/>
          </a:xfrm>
          <a:prstGeom prst="rect">
            <a:avLst/>
          </a:prstGeom>
          <a:noFill/>
          <a:ln/>
        </p:spPr>
        <p:txBody>
          <a:bodyPr wrap="square" lIns="0" tIns="0" rIns="0" bIns="0" rtlCol="0" anchor="ctr"/>
          <a:lstStyle/>
          <a:p>
            <a:pPr marL="0" indent="0">
              <a:buNone/>
            </a:pPr>
            <a:r>
              <a:rPr lang="en-US" sz="1000" dirty="0">
                <a:solidFill>
                  <a:srgbClr val="64748B"/>
                </a:solidFill>
              </a:rPr>
              <a:t>AI-Powered Telecom Network Operations Assistant</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64748B"/>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0B2545"/>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64748B"/>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10.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4.png"/><Relationship Id="rId7"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8.png"/><Relationship Id="rId4" Type="http://schemas.openxmlformats.org/officeDocument/2006/relationships/image" Target="../media/image21.png"/><Relationship Id="rId9" Type="http://schemas.openxmlformats.org/officeDocument/2006/relationships/image" Target="../media/image27.png"/></Relationships>
</file>

<file path=ppt/slides/_rels/slide9.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4.png"/><Relationship Id="rId3" Type="http://schemas.openxmlformats.org/officeDocument/2006/relationships/image" Target="../media/image6.png"/><Relationship Id="rId7" Type="http://schemas.openxmlformats.org/officeDocument/2006/relationships/image" Target="../media/image29.png"/><Relationship Id="rId12"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5.png"/><Relationship Id="rId5" Type="http://schemas.openxmlformats.org/officeDocument/2006/relationships/image" Target="../media/image8.png"/><Relationship Id="rId10" Type="http://schemas.openxmlformats.org/officeDocument/2006/relationships/image" Target="../media/image32.png"/><Relationship Id="rId4" Type="http://schemas.openxmlformats.org/officeDocument/2006/relationships/image" Target="../media/image7.png"/><Relationship Id="rId9" Type="http://schemas.openxmlformats.org/officeDocument/2006/relationships/image" Target="../media/image3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5.png"/><Relationship Id="rId7" Type="http://schemas.openxmlformats.org/officeDocument/2006/relationships/image" Target="../media/image38.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flipV="1">
            <a:off x="8778240" y="914400"/>
            <a:ext cx="1828800" cy="274320"/>
          </a:xfrm>
          <a:prstGeom prst="line">
            <a:avLst/>
          </a:prstGeom>
          <a:noFill/>
          <a:ln w="15875">
            <a:solidFill>
              <a:srgbClr val="2E4A72"/>
            </a:solidFill>
            <a:prstDash val="solid"/>
          </a:ln>
        </p:spPr>
      </p:sp>
      <p:sp>
        <p:nvSpPr>
          <p:cNvPr id="3" name="Shape 1"/>
          <p:cNvSpPr/>
          <p:nvPr/>
        </p:nvSpPr>
        <p:spPr>
          <a:xfrm>
            <a:off x="10607040" y="914400"/>
            <a:ext cx="731520" cy="1463040"/>
          </a:xfrm>
          <a:prstGeom prst="line">
            <a:avLst/>
          </a:prstGeom>
          <a:noFill/>
          <a:ln w="15875">
            <a:solidFill>
              <a:srgbClr val="2E4A72"/>
            </a:solidFill>
            <a:prstDash val="solid"/>
          </a:ln>
        </p:spPr>
      </p:sp>
      <p:sp>
        <p:nvSpPr>
          <p:cNvPr id="4" name="Shape 2"/>
          <p:cNvSpPr/>
          <p:nvPr/>
        </p:nvSpPr>
        <p:spPr>
          <a:xfrm>
            <a:off x="8778240" y="1188720"/>
            <a:ext cx="914400" cy="1463040"/>
          </a:xfrm>
          <a:prstGeom prst="line">
            <a:avLst/>
          </a:prstGeom>
          <a:noFill/>
          <a:ln w="15875">
            <a:solidFill>
              <a:srgbClr val="2E4A72"/>
            </a:solidFill>
            <a:prstDash val="solid"/>
          </a:ln>
        </p:spPr>
      </p:sp>
      <p:sp>
        <p:nvSpPr>
          <p:cNvPr id="5" name="Shape 3"/>
          <p:cNvSpPr/>
          <p:nvPr/>
        </p:nvSpPr>
        <p:spPr>
          <a:xfrm flipH="1">
            <a:off x="9692640" y="914400"/>
            <a:ext cx="914400" cy="1737360"/>
          </a:xfrm>
          <a:prstGeom prst="line">
            <a:avLst/>
          </a:prstGeom>
          <a:noFill/>
          <a:ln w="15875">
            <a:solidFill>
              <a:srgbClr val="2E4A72"/>
            </a:solidFill>
            <a:prstDash val="solid"/>
          </a:ln>
        </p:spPr>
      </p:sp>
      <p:sp>
        <p:nvSpPr>
          <p:cNvPr id="6" name="Shape 4"/>
          <p:cNvSpPr/>
          <p:nvPr/>
        </p:nvSpPr>
        <p:spPr>
          <a:xfrm flipV="1">
            <a:off x="9692640" y="2377440"/>
            <a:ext cx="1645920" cy="274320"/>
          </a:xfrm>
          <a:prstGeom prst="line">
            <a:avLst/>
          </a:prstGeom>
          <a:noFill/>
          <a:ln w="15875">
            <a:solidFill>
              <a:srgbClr val="2E4A72"/>
            </a:solidFill>
            <a:prstDash val="solid"/>
          </a:ln>
        </p:spPr>
      </p:sp>
      <p:sp>
        <p:nvSpPr>
          <p:cNvPr id="7" name="Shape 5"/>
          <p:cNvSpPr/>
          <p:nvPr/>
        </p:nvSpPr>
        <p:spPr>
          <a:xfrm flipH="1">
            <a:off x="8412480" y="2651760"/>
            <a:ext cx="1280160" cy="1280160"/>
          </a:xfrm>
          <a:prstGeom prst="line">
            <a:avLst/>
          </a:prstGeom>
          <a:noFill/>
          <a:ln w="15875">
            <a:solidFill>
              <a:srgbClr val="2E4A72"/>
            </a:solidFill>
            <a:prstDash val="solid"/>
          </a:ln>
        </p:spPr>
      </p:sp>
      <p:sp>
        <p:nvSpPr>
          <p:cNvPr id="8" name="Shape 6"/>
          <p:cNvSpPr/>
          <p:nvPr/>
        </p:nvSpPr>
        <p:spPr>
          <a:xfrm>
            <a:off x="9692640" y="2651760"/>
            <a:ext cx="731520" cy="1554480"/>
          </a:xfrm>
          <a:prstGeom prst="line">
            <a:avLst/>
          </a:prstGeom>
          <a:noFill/>
          <a:ln w="15875">
            <a:solidFill>
              <a:srgbClr val="2E4A72"/>
            </a:solidFill>
            <a:prstDash val="solid"/>
          </a:ln>
        </p:spPr>
      </p:sp>
      <p:sp>
        <p:nvSpPr>
          <p:cNvPr id="9" name="Shape 7"/>
          <p:cNvSpPr/>
          <p:nvPr/>
        </p:nvSpPr>
        <p:spPr>
          <a:xfrm flipH="1">
            <a:off x="10424160" y="2377440"/>
            <a:ext cx="914400" cy="1828800"/>
          </a:xfrm>
          <a:prstGeom prst="line">
            <a:avLst/>
          </a:prstGeom>
          <a:noFill/>
          <a:ln w="15875">
            <a:solidFill>
              <a:srgbClr val="2E4A72"/>
            </a:solidFill>
            <a:prstDash val="solid"/>
          </a:ln>
        </p:spPr>
      </p:sp>
      <p:sp>
        <p:nvSpPr>
          <p:cNvPr id="10" name="Shape 8"/>
          <p:cNvSpPr/>
          <p:nvPr/>
        </p:nvSpPr>
        <p:spPr>
          <a:xfrm>
            <a:off x="8412480" y="3931920"/>
            <a:ext cx="2011680" cy="274320"/>
          </a:xfrm>
          <a:prstGeom prst="line">
            <a:avLst/>
          </a:prstGeom>
          <a:noFill/>
          <a:ln w="15875">
            <a:solidFill>
              <a:srgbClr val="2E4A72"/>
            </a:solidFill>
            <a:prstDash val="solid"/>
          </a:ln>
        </p:spPr>
      </p:sp>
      <p:sp>
        <p:nvSpPr>
          <p:cNvPr id="11" name="Shape 9"/>
          <p:cNvSpPr/>
          <p:nvPr/>
        </p:nvSpPr>
        <p:spPr>
          <a:xfrm>
            <a:off x="10424160" y="4206240"/>
            <a:ext cx="1097280" cy="1188720"/>
          </a:xfrm>
          <a:prstGeom prst="line">
            <a:avLst/>
          </a:prstGeom>
          <a:noFill/>
          <a:ln w="15875">
            <a:solidFill>
              <a:srgbClr val="2E4A72"/>
            </a:solidFill>
            <a:prstDash val="solid"/>
          </a:ln>
        </p:spPr>
      </p:sp>
      <p:sp>
        <p:nvSpPr>
          <p:cNvPr id="12" name="Shape 10"/>
          <p:cNvSpPr/>
          <p:nvPr/>
        </p:nvSpPr>
        <p:spPr>
          <a:xfrm>
            <a:off x="8412480" y="3931920"/>
            <a:ext cx="914400" cy="1645920"/>
          </a:xfrm>
          <a:prstGeom prst="line">
            <a:avLst/>
          </a:prstGeom>
          <a:noFill/>
          <a:ln w="15875">
            <a:solidFill>
              <a:srgbClr val="2E4A72"/>
            </a:solidFill>
            <a:prstDash val="solid"/>
          </a:ln>
        </p:spPr>
      </p:sp>
      <p:sp>
        <p:nvSpPr>
          <p:cNvPr id="13" name="Shape 11"/>
          <p:cNvSpPr/>
          <p:nvPr/>
        </p:nvSpPr>
        <p:spPr>
          <a:xfrm flipH="1">
            <a:off x="9326880" y="4206240"/>
            <a:ext cx="1097280" cy="1371600"/>
          </a:xfrm>
          <a:prstGeom prst="line">
            <a:avLst/>
          </a:prstGeom>
          <a:noFill/>
          <a:ln w="15875">
            <a:solidFill>
              <a:srgbClr val="2E4A72"/>
            </a:solidFill>
            <a:prstDash val="solid"/>
          </a:ln>
        </p:spPr>
      </p:sp>
      <p:sp>
        <p:nvSpPr>
          <p:cNvPr id="14" name="Shape 12"/>
          <p:cNvSpPr/>
          <p:nvPr/>
        </p:nvSpPr>
        <p:spPr>
          <a:xfrm>
            <a:off x="8595360" y="1005840"/>
            <a:ext cx="365760" cy="365760"/>
          </a:xfrm>
          <a:prstGeom prst="ellipse">
            <a:avLst/>
          </a:prstGeom>
          <a:solidFill>
            <a:srgbClr val="3B82F6"/>
          </a:solidFill>
          <a:ln w="38100">
            <a:solidFill>
              <a:srgbClr val="0B2545"/>
            </a:solidFill>
            <a:prstDash val="solid"/>
          </a:ln>
        </p:spPr>
      </p:sp>
      <p:sp>
        <p:nvSpPr>
          <p:cNvPr id="15" name="Shape 13"/>
          <p:cNvSpPr/>
          <p:nvPr/>
        </p:nvSpPr>
        <p:spPr>
          <a:xfrm>
            <a:off x="10424160" y="731520"/>
            <a:ext cx="365760" cy="365760"/>
          </a:xfrm>
          <a:prstGeom prst="ellipse">
            <a:avLst/>
          </a:prstGeom>
          <a:solidFill>
            <a:srgbClr val="3B82F6"/>
          </a:solidFill>
          <a:ln w="38100">
            <a:solidFill>
              <a:srgbClr val="0B2545"/>
            </a:solidFill>
            <a:prstDash val="solid"/>
          </a:ln>
        </p:spPr>
      </p:sp>
      <p:sp>
        <p:nvSpPr>
          <p:cNvPr id="16" name="Shape 14"/>
          <p:cNvSpPr/>
          <p:nvPr/>
        </p:nvSpPr>
        <p:spPr>
          <a:xfrm>
            <a:off x="11155680" y="2194560"/>
            <a:ext cx="365760" cy="365760"/>
          </a:xfrm>
          <a:prstGeom prst="ellipse">
            <a:avLst/>
          </a:prstGeom>
          <a:solidFill>
            <a:srgbClr val="3B82F6"/>
          </a:solidFill>
          <a:ln w="38100">
            <a:solidFill>
              <a:srgbClr val="0B2545"/>
            </a:solidFill>
            <a:prstDash val="solid"/>
          </a:ln>
        </p:spPr>
      </p:sp>
      <p:sp>
        <p:nvSpPr>
          <p:cNvPr id="17" name="Shape 15"/>
          <p:cNvSpPr/>
          <p:nvPr/>
        </p:nvSpPr>
        <p:spPr>
          <a:xfrm>
            <a:off x="9381744" y="2340864"/>
            <a:ext cx="621792" cy="621792"/>
          </a:xfrm>
          <a:prstGeom prst="ellipse">
            <a:avLst/>
          </a:prstGeom>
          <a:solidFill>
            <a:srgbClr val="EA580C"/>
          </a:solidFill>
          <a:ln w="38100">
            <a:solidFill>
              <a:srgbClr val="0B2545"/>
            </a:solidFill>
            <a:prstDash val="solid"/>
          </a:ln>
        </p:spPr>
      </p:sp>
      <p:sp>
        <p:nvSpPr>
          <p:cNvPr id="18" name="Shape 16"/>
          <p:cNvSpPr/>
          <p:nvPr/>
        </p:nvSpPr>
        <p:spPr>
          <a:xfrm>
            <a:off x="8229600" y="3749040"/>
            <a:ext cx="365760" cy="365760"/>
          </a:xfrm>
          <a:prstGeom prst="ellipse">
            <a:avLst/>
          </a:prstGeom>
          <a:solidFill>
            <a:srgbClr val="3B82F6"/>
          </a:solidFill>
          <a:ln w="38100">
            <a:solidFill>
              <a:srgbClr val="0B2545"/>
            </a:solidFill>
            <a:prstDash val="solid"/>
          </a:ln>
        </p:spPr>
      </p:sp>
      <p:sp>
        <p:nvSpPr>
          <p:cNvPr id="19" name="Shape 17"/>
          <p:cNvSpPr/>
          <p:nvPr/>
        </p:nvSpPr>
        <p:spPr>
          <a:xfrm>
            <a:off x="10113264" y="3895344"/>
            <a:ext cx="621792" cy="621792"/>
          </a:xfrm>
          <a:prstGeom prst="ellipse">
            <a:avLst/>
          </a:prstGeom>
          <a:solidFill>
            <a:srgbClr val="0E9F6E"/>
          </a:solidFill>
          <a:ln w="38100">
            <a:solidFill>
              <a:srgbClr val="0B2545"/>
            </a:solidFill>
            <a:prstDash val="solid"/>
          </a:ln>
        </p:spPr>
      </p:sp>
      <p:sp>
        <p:nvSpPr>
          <p:cNvPr id="20" name="Shape 18"/>
          <p:cNvSpPr/>
          <p:nvPr/>
        </p:nvSpPr>
        <p:spPr>
          <a:xfrm>
            <a:off x="11338560" y="5212080"/>
            <a:ext cx="365760" cy="365760"/>
          </a:xfrm>
          <a:prstGeom prst="ellipse">
            <a:avLst/>
          </a:prstGeom>
          <a:solidFill>
            <a:srgbClr val="3B82F6"/>
          </a:solidFill>
          <a:ln w="38100">
            <a:solidFill>
              <a:srgbClr val="0B2545"/>
            </a:solidFill>
            <a:prstDash val="solid"/>
          </a:ln>
        </p:spPr>
      </p:sp>
      <p:sp>
        <p:nvSpPr>
          <p:cNvPr id="21" name="Shape 19"/>
          <p:cNvSpPr/>
          <p:nvPr/>
        </p:nvSpPr>
        <p:spPr>
          <a:xfrm>
            <a:off x="9144000" y="5394960"/>
            <a:ext cx="365760" cy="365760"/>
          </a:xfrm>
          <a:prstGeom prst="ellipse">
            <a:avLst/>
          </a:prstGeom>
          <a:solidFill>
            <a:srgbClr val="3B82F6"/>
          </a:solidFill>
          <a:ln w="38100">
            <a:solidFill>
              <a:srgbClr val="0B2545"/>
            </a:solidFill>
            <a:prstDash val="solid"/>
          </a:ln>
        </p:spPr>
      </p:sp>
      <p:sp>
        <p:nvSpPr>
          <p:cNvPr id="22" name="Text 20"/>
          <p:cNvSpPr txBox="1"/>
          <p:nvPr/>
        </p:nvSpPr>
        <p:spPr>
          <a:xfrm>
            <a:off x="731520" y="1554480"/>
            <a:ext cx="5486400" cy="320040"/>
          </a:xfrm>
          <a:prstGeom prst="rect">
            <a:avLst/>
          </a:prstGeom>
          <a:noFill/>
          <a:ln/>
        </p:spPr>
        <p:txBody>
          <a:bodyPr wrap="square" lIns="0" tIns="0" rIns="0" bIns="0" rtlCol="0" anchor="t"/>
          <a:lstStyle/>
          <a:p>
            <a:pPr marL="0" indent="0">
              <a:buNone/>
            </a:pPr>
            <a:r>
              <a:rPr lang="en-US" sz="1300" b="1" kern="0" spc="300" dirty="0">
                <a:solidFill>
                  <a:srgbClr val="F59E5B"/>
                </a:solidFill>
              </a:rPr>
              <a:t>GENAI CAPSTONE</a:t>
            </a:r>
            <a:endParaRPr lang="en-US" sz="1300" dirty="0"/>
          </a:p>
        </p:txBody>
      </p:sp>
      <p:sp>
        <p:nvSpPr>
          <p:cNvPr id="23" name="Text 21"/>
          <p:cNvSpPr txBox="1"/>
          <p:nvPr/>
        </p:nvSpPr>
        <p:spPr>
          <a:xfrm>
            <a:off x="731520" y="1965960"/>
            <a:ext cx="7223760" cy="1737360"/>
          </a:xfrm>
          <a:prstGeom prst="rect">
            <a:avLst/>
          </a:prstGeom>
          <a:noFill/>
          <a:ln/>
        </p:spPr>
        <p:txBody>
          <a:bodyPr wrap="square" lIns="0" tIns="0" rIns="0" bIns="0" rtlCol="0" anchor="t"/>
          <a:lstStyle/>
          <a:p>
            <a:pPr marL="0" indent="0">
              <a:buNone/>
            </a:pPr>
            <a:r>
              <a:rPr lang="en-US" sz="4200" b="1" dirty="0">
                <a:solidFill>
                  <a:srgbClr val="FFFFFF"/>
                </a:solidFill>
                <a:latin typeface="Calibri" pitchFamily="34" charset="0"/>
                <a:ea typeface="Calibri" pitchFamily="34" charset="-122"/>
                <a:cs typeface="Calibri" pitchFamily="34" charset="-120"/>
              </a:rPr>
              <a:t>AI-Powered Telecom Network Operations Assistant</a:t>
            </a:r>
            <a:endParaRPr lang="en-US" sz="4200" dirty="0"/>
          </a:p>
        </p:txBody>
      </p:sp>
      <p:sp>
        <p:nvSpPr>
          <p:cNvPr id="24" name="Text 22"/>
          <p:cNvSpPr txBox="1"/>
          <p:nvPr/>
        </p:nvSpPr>
        <p:spPr>
          <a:xfrm>
            <a:off x="731520" y="3794760"/>
            <a:ext cx="6766560" cy="822960"/>
          </a:xfrm>
          <a:prstGeom prst="rect">
            <a:avLst/>
          </a:prstGeom>
          <a:noFill/>
          <a:ln/>
        </p:spPr>
        <p:txBody>
          <a:bodyPr wrap="square" lIns="0" tIns="0" rIns="0" bIns="0" rtlCol="0" anchor="t"/>
          <a:lstStyle/>
          <a:p>
            <a:pPr marL="0" indent="0">
              <a:buNone/>
            </a:pPr>
            <a:r>
              <a:rPr lang="en-US" sz="1800" dirty="0">
                <a:solidFill>
                  <a:srgbClr val="C9D6EA"/>
                </a:solidFill>
              </a:rPr>
              <a:t>Similar-incident retrieval, multi-agent root-cause analysis and validated troubleshooting for NOC engineers</a:t>
            </a:r>
            <a:endParaRPr lang="en-US" sz="1800" dirty="0"/>
          </a:p>
        </p:txBody>
      </p:sp>
      <p:sp>
        <p:nvSpPr>
          <p:cNvPr id="25" name="Shape 23"/>
          <p:cNvSpPr/>
          <p:nvPr/>
        </p:nvSpPr>
        <p:spPr>
          <a:xfrm>
            <a:off x="731520" y="4983480"/>
            <a:ext cx="3566160" cy="457200"/>
          </a:xfrm>
          <a:prstGeom prst="roundRect">
            <a:avLst>
              <a:gd name="adj" fmla="val 50000"/>
            </a:avLst>
          </a:prstGeom>
          <a:solidFill>
            <a:srgbClr val="16345C"/>
          </a:solidFill>
          <a:ln w="12700">
            <a:solidFill>
              <a:srgbClr val="2E4A72"/>
            </a:solidFill>
            <a:prstDash val="solid"/>
          </a:ln>
        </p:spPr>
      </p:sp>
      <p:sp>
        <p:nvSpPr>
          <p:cNvPr id="26" name="Text 24"/>
          <p:cNvSpPr txBox="1"/>
          <p:nvPr/>
        </p:nvSpPr>
        <p:spPr>
          <a:xfrm>
            <a:off x="731520" y="4983480"/>
            <a:ext cx="3566160" cy="457200"/>
          </a:xfrm>
          <a:prstGeom prst="rect">
            <a:avLst/>
          </a:prstGeom>
          <a:noFill/>
          <a:ln/>
        </p:spPr>
        <p:txBody>
          <a:bodyPr wrap="square" lIns="0" tIns="0" rIns="0" bIns="0" rtlCol="0" anchor="ctr"/>
          <a:lstStyle/>
          <a:p>
            <a:pPr marL="0" indent="0" algn="ctr">
              <a:buNone/>
            </a:pPr>
            <a:r>
              <a:rPr lang="en-US" sz="1400" dirty="0">
                <a:solidFill>
                  <a:srgbClr val="FFFFFF"/>
                </a:solidFill>
              </a:rPr>
              <a:t>Kavini Muthamizhvalvan  ·  GenAI capstone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229600" cy="274320"/>
          </a:xfrm>
          <a:prstGeom prst="rect">
            <a:avLst/>
          </a:prstGeom>
          <a:noFill/>
          <a:ln/>
        </p:spPr>
        <p:txBody>
          <a:bodyPr wrap="square" lIns="0" tIns="0" rIns="0" bIns="0" rtlCol="0" anchor="ctr"/>
          <a:lstStyle/>
          <a:p>
            <a:pPr marL="0" indent="0">
              <a:buNone/>
            </a:pPr>
            <a:r>
              <a:rPr lang="en-US" sz="1200" b="1" kern="0" spc="200" dirty="0">
                <a:solidFill>
                  <a:srgbClr val="EA580C"/>
                </a:solidFill>
              </a:rPr>
              <a:t>PROBLEM STATEMENT</a:t>
            </a:r>
            <a:endParaRPr lang="en-US" sz="1200" dirty="0"/>
          </a:p>
        </p:txBody>
      </p:sp>
      <p:sp>
        <p:nvSpPr>
          <p:cNvPr id="3" name="Text 0"/>
          <p:cNvSpPr>
            <a:spLocks noGrp="1"/>
          </p:cNvSpPr>
          <p:nvPr>
            <p:ph type="title" idx="101" hasCustomPrompt="1"/>
          </p:nvPr>
        </p:nvSpPr>
        <p:spPr>
          <a:xfrm>
            <a:off x="548640" y="621792"/>
            <a:ext cx="11064240" cy="640080"/>
          </a:xfrm>
          <a:prstGeom prst="rect">
            <a:avLst/>
          </a:prstGeom>
          <a:noFill/>
          <a:ln/>
        </p:spPr>
        <p:txBody>
          <a:bodyPr wrap="square" lIns="0" tIns="0" rIns="0" bIns="0" rtlCol="0" anchor="ctr"/>
          <a:lstStyle/>
          <a:p>
            <a:pPr marL="0" indent="0" algn="l">
              <a:buNone/>
            </a:pPr>
            <a:r>
              <a:rPr lang="en-US" sz="3200" b="1" dirty="0">
                <a:solidFill>
                  <a:srgbClr val="0B2545"/>
                </a:solidFill>
              </a:rPr>
              <a:t>The problem: slow, inconsistent incident triage</a:t>
            </a:r>
            <a:endParaRPr lang="en-US" sz="3200" dirty="0"/>
          </a:p>
        </p:txBody>
      </p:sp>
      <p:sp>
        <p:nvSpPr>
          <p:cNvPr id="4" name="Text 2"/>
          <p:cNvSpPr txBox="1"/>
          <p:nvPr/>
        </p:nvSpPr>
        <p:spPr>
          <a:xfrm>
            <a:off x="548640" y="1554480"/>
            <a:ext cx="5486400" cy="320040"/>
          </a:xfrm>
          <a:prstGeom prst="rect">
            <a:avLst/>
          </a:prstGeom>
          <a:noFill/>
          <a:ln/>
        </p:spPr>
        <p:txBody>
          <a:bodyPr wrap="square" lIns="0" tIns="0" rIns="0" bIns="0" rtlCol="0" anchor="t"/>
          <a:lstStyle/>
          <a:p>
            <a:pPr marL="0" indent="0">
              <a:buNone/>
            </a:pPr>
            <a:r>
              <a:rPr lang="en-US" sz="1500" b="1" dirty="0">
                <a:solidFill>
                  <a:srgbClr val="0F172A"/>
                </a:solidFill>
              </a:rPr>
              <a:t>NOC teams repeatedly face</a:t>
            </a:r>
            <a:endParaRPr lang="en-US" sz="1500" dirty="0"/>
          </a:p>
        </p:txBody>
      </p:sp>
      <p:sp>
        <p:nvSpPr>
          <p:cNvPr id="5" name="Shape 3"/>
          <p:cNvSpPr/>
          <p:nvPr/>
        </p:nvSpPr>
        <p:spPr>
          <a:xfrm>
            <a:off x="548640" y="1965960"/>
            <a:ext cx="1344168" cy="438912"/>
          </a:xfrm>
          <a:prstGeom prst="roundRect">
            <a:avLst>
              <a:gd name="adj" fmla="val 50000"/>
            </a:avLst>
          </a:prstGeom>
          <a:solidFill>
            <a:srgbClr val="E6ECF5"/>
          </a:solidFill>
          <a:ln w="12700">
            <a:solidFill>
              <a:srgbClr val="E6ECF5"/>
            </a:solidFill>
            <a:prstDash val="solid"/>
          </a:ln>
        </p:spPr>
      </p:sp>
      <p:sp>
        <p:nvSpPr>
          <p:cNvPr id="6" name="Text 4"/>
          <p:cNvSpPr txBox="1"/>
          <p:nvPr/>
        </p:nvSpPr>
        <p:spPr>
          <a:xfrm>
            <a:off x="548640" y="1965960"/>
            <a:ext cx="1344168" cy="438912"/>
          </a:xfrm>
          <a:prstGeom prst="rect">
            <a:avLst/>
          </a:prstGeom>
          <a:noFill/>
          <a:ln/>
        </p:spPr>
        <p:txBody>
          <a:bodyPr wrap="square" lIns="0" tIns="0" rIns="0" bIns="0" rtlCol="0" anchor="ctr"/>
          <a:lstStyle/>
          <a:p>
            <a:pPr marL="0" indent="0" algn="ctr">
              <a:buNone/>
            </a:pPr>
            <a:r>
              <a:rPr lang="en-US" sz="1400" b="1" dirty="0">
                <a:solidFill>
                  <a:srgbClr val="0B2545"/>
                </a:solidFill>
              </a:rPr>
              <a:t>Congestion</a:t>
            </a:r>
            <a:endParaRPr lang="en-US" sz="1400" dirty="0"/>
          </a:p>
        </p:txBody>
      </p:sp>
      <p:sp>
        <p:nvSpPr>
          <p:cNvPr id="7" name="Shape 5"/>
          <p:cNvSpPr/>
          <p:nvPr/>
        </p:nvSpPr>
        <p:spPr>
          <a:xfrm>
            <a:off x="2029968" y="1965960"/>
            <a:ext cx="1440180" cy="438912"/>
          </a:xfrm>
          <a:prstGeom prst="roundRect">
            <a:avLst>
              <a:gd name="adj" fmla="val 50000"/>
            </a:avLst>
          </a:prstGeom>
          <a:solidFill>
            <a:srgbClr val="E6ECF5"/>
          </a:solidFill>
          <a:ln w="12700">
            <a:solidFill>
              <a:srgbClr val="E6ECF5"/>
            </a:solidFill>
            <a:prstDash val="solid"/>
          </a:ln>
        </p:spPr>
      </p:sp>
      <p:sp>
        <p:nvSpPr>
          <p:cNvPr id="8" name="Text 6"/>
          <p:cNvSpPr txBox="1"/>
          <p:nvPr/>
        </p:nvSpPr>
        <p:spPr>
          <a:xfrm>
            <a:off x="2029968" y="1965960"/>
            <a:ext cx="1440180" cy="438912"/>
          </a:xfrm>
          <a:prstGeom prst="rect">
            <a:avLst/>
          </a:prstGeom>
          <a:noFill/>
          <a:ln/>
        </p:spPr>
        <p:txBody>
          <a:bodyPr wrap="square" lIns="0" tIns="0" rIns="0" bIns="0" rtlCol="0" anchor="ctr"/>
          <a:lstStyle/>
          <a:p>
            <a:pPr marL="0" indent="0" algn="ctr">
              <a:buNone/>
            </a:pPr>
            <a:r>
              <a:rPr lang="en-US" sz="1400" b="1" dirty="0">
                <a:solidFill>
                  <a:srgbClr val="0B2545"/>
                </a:solidFill>
              </a:rPr>
              <a:t>Weak signal</a:t>
            </a:r>
            <a:endParaRPr lang="en-US" sz="1400" dirty="0"/>
          </a:p>
        </p:txBody>
      </p:sp>
      <p:sp>
        <p:nvSpPr>
          <p:cNvPr id="9" name="Shape 7"/>
          <p:cNvSpPr/>
          <p:nvPr/>
        </p:nvSpPr>
        <p:spPr>
          <a:xfrm>
            <a:off x="3607308" y="1965960"/>
            <a:ext cx="1056132" cy="438912"/>
          </a:xfrm>
          <a:prstGeom prst="roundRect">
            <a:avLst>
              <a:gd name="adj" fmla="val 50000"/>
            </a:avLst>
          </a:prstGeom>
          <a:solidFill>
            <a:srgbClr val="E6ECF5"/>
          </a:solidFill>
          <a:ln w="12700">
            <a:solidFill>
              <a:srgbClr val="E6ECF5"/>
            </a:solidFill>
            <a:prstDash val="solid"/>
          </a:ln>
        </p:spPr>
      </p:sp>
      <p:sp>
        <p:nvSpPr>
          <p:cNvPr id="10" name="Text 8"/>
          <p:cNvSpPr txBox="1"/>
          <p:nvPr/>
        </p:nvSpPr>
        <p:spPr>
          <a:xfrm>
            <a:off x="3607308" y="1965960"/>
            <a:ext cx="1056132" cy="438912"/>
          </a:xfrm>
          <a:prstGeom prst="rect">
            <a:avLst/>
          </a:prstGeom>
          <a:noFill/>
          <a:ln/>
        </p:spPr>
        <p:txBody>
          <a:bodyPr wrap="square" lIns="0" tIns="0" rIns="0" bIns="0" rtlCol="0" anchor="ctr"/>
          <a:lstStyle/>
          <a:p>
            <a:pPr marL="0" indent="0" algn="ctr">
              <a:buNone/>
            </a:pPr>
            <a:r>
              <a:rPr lang="en-US" sz="1400" b="1" dirty="0">
                <a:solidFill>
                  <a:srgbClr val="0B2545"/>
                </a:solidFill>
              </a:rPr>
              <a:t>Latency</a:t>
            </a:r>
            <a:endParaRPr lang="en-US" sz="1400" dirty="0"/>
          </a:p>
        </p:txBody>
      </p:sp>
      <p:sp>
        <p:nvSpPr>
          <p:cNvPr id="11" name="Shape 9"/>
          <p:cNvSpPr/>
          <p:nvPr/>
        </p:nvSpPr>
        <p:spPr>
          <a:xfrm>
            <a:off x="4800600" y="1965960"/>
            <a:ext cx="1440180" cy="438912"/>
          </a:xfrm>
          <a:prstGeom prst="roundRect">
            <a:avLst>
              <a:gd name="adj" fmla="val 50000"/>
            </a:avLst>
          </a:prstGeom>
          <a:solidFill>
            <a:srgbClr val="E6ECF5"/>
          </a:solidFill>
          <a:ln w="12700">
            <a:solidFill>
              <a:srgbClr val="E6ECF5"/>
            </a:solidFill>
            <a:prstDash val="solid"/>
          </a:ln>
        </p:spPr>
      </p:sp>
      <p:sp>
        <p:nvSpPr>
          <p:cNvPr id="12" name="Text 10"/>
          <p:cNvSpPr txBox="1"/>
          <p:nvPr/>
        </p:nvSpPr>
        <p:spPr>
          <a:xfrm>
            <a:off x="4800600" y="1965960"/>
            <a:ext cx="1440180" cy="438912"/>
          </a:xfrm>
          <a:prstGeom prst="rect">
            <a:avLst/>
          </a:prstGeom>
          <a:noFill/>
          <a:ln/>
        </p:spPr>
        <p:txBody>
          <a:bodyPr wrap="square" lIns="0" tIns="0" rIns="0" bIns="0" rtlCol="0" anchor="ctr"/>
          <a:lstStyle/>
          <a:p>
            <a:pPr marL="0" indent="0" algn="ctr">
              <a:buNone/>
            </a:pPr>
            <a:r>
              <a:rPr lang="en-US" sz="1400" b="1" dirty="0">
                <a:solidFill>
                  <a:srgbClr val="0B2545"/>
                </a:solidFill>
              </a:rPr>
              <a:t>Packet loss</a:t>
            </a:r>
            <a:endParaRPr lang="en-US" sz="1400" dirty="0"/>
          </a:p>
        </p:txBody>
      </p:sp>
      <p:sp>
        <p:nvSpPr>
          <p:cNvPr id="13" name="Shape 11"/>
          <p:cNvSpPr/>
          <p:nvPr/>
        </p:nvSpPr>
        <p:spPr>
          <a:xfrm>
            <a:off x="6377940" y="1965960"/>
            <a:ext cx="1344168" cy="438912"/>
          </a:xfrm>
          <a:prstGeom prst="roundRect">
            <a:avLst>
              <a:gd name="adj" fmla="val 50000"/>
            </a:avLst>
          </a:prstGeom>
          <a:solidFill>
            <a:srgbClr val="E6ECF5"/>
          </a:solidFill>
          <a:ln w="12700">
            <a:solidFill>
              <a:srgbClr val="E6ECF5"/>
            </a:solidFill>
            <a:prstDash val="solid"/>
          </a:ln>
        </p:spPr>
      </p:sp>
      <p:sp>
        <p:nvSpPr>
          <p:cNvPr id="14" name="Text 12"/>
          <p:cNvSpPr txBox="1"/>
          <p:nvPr/>
        </p:nvSpPr>
        <p:spPr>
          <a:xfrm>
            <a:off x="6377940" y="1965960"/>
            <a:ext cx="1344168" cy="438912"/>
          </a:xfrm>
          <a:prstGeom prst="rect">
            <a:avLst/>
          </a:prstGeom>
          <a:noFill/>
          <a:ln/>
        </p:spPr>
        <p:txBody>
          <a:bodyPr wrap="square" lIns="0" tIns="0" rIns="0" bIns="0" rtlCol="0" anchor="ctr"/>
          <a:lstStyle/>
          <a:p>
            <a:pPr marL="0" indent="0" algn="ctr">
              <a:buNone/>
            </a:pPr>
            <a:r>
              <a:rPr lang="en-US" sz="1400" b="1" dirty="0">
                <a:solidFill>
                  <a:srgbClr val="0B2545"/>
                </a:solidFill>
              </a:rPr>
              <a:t>Call drops</a:t>
            </a:r>
            <a:endParaRPr lang="en-US" sz="1400" dirty="0"/>
          </a:p>
        </p:txBody>
      </p:sp>
      <p:sp>
        <p:nvSpPr>
          <p:cNvPr id="15" name="Shape 13"/>
          <p:cNvSpPr/>
          <p:nvPr/>
        </p:nvSpPr>
        <p:spPr>
          <a:xfrm>
            <a:off x="7859268" y="1965960"/>
            <a:ext cx="2016252" cy="438912"/>
          </a:xfrm>
          <a:prstGeom prst="roundRect">
            <a:avLst>
              <a:gd name="adj" fmla="val 50000"/>
            </a:avLst>
          </a:prstGeom>
          <a:solidFill>
            <a:srgbClr val="E6ECF5"/>
          </a:solidFill>
          <a:ln w="12700">
            <a:solidFill>
              <a:srgbClr val="E6ECF5"/>
            </a:solidFill>
            <a:prstDash val="solid"/>
          </a:ln>
        </p:spPr>
      </p:sp>
      <p:sp>
        <p:nvSpPr>
          <p:cNvPr id="16" name="Text 14"/>
          <p:cNvSpPr txBox="1"/>
          <p:nvPr/>
        </p:nvSpPr>
        <p:spPr>
          <a:xfrm>
            <a:off x="7859268" y="1965960"/>
            <a:ext cx="2016252" cy="438912"/>
          </a:xfrm>
          <a:prstGeom prst="rect">
            <a:avLst/>
          </a:prstGeom>
          <a:noFill/>
          <a:ln/>
        </p:spPr>
        <p:txBody>
          <a:bodyPr wrap="square" lIns="0" tIns="0" rIns="0" bIns="0" rtlCol="0" anchor="ctr"/>
          <a:lstStyle/>
          <a:p>
            <a:pPr marL="0" indent="0" algn="ctr">
              <a:buNone/>
            </a:pPr>
            <a:r>
              <a:rPr lang="en-US" sz="1400" b="1" dirty="0">
                <a:solidFill>
                  <a:srgbClr val="0B2545"/>
                </a:solidFill>
              </a:rPr>
              <a:t>Handover failures</a:t>
            </a:r>
            <a:endParaRPr lang="en-US" sz="1400" dirty="0"/>
          </a:p>
        </p:txBody>
      </p:sp>
      <p:sp>
        <p:nvSpPr>
          <p:cNvPr id="17" name="Shape 15"/>
          <p:cNvSpPr/>
          <p:nvPr/>
        </p:nvSpPr>
        <p:spPr>
          <a:xfrm>
            <a:off x="10012680" y="1965960"/>
            <a:ext cx="960120" cy="438912"/>
          </a:xfrm>
          <a:prstGeom prst="roundRect">
            <a:avLst>
              <a:gd name="adj" fmla="val 50000"/>
            </a:avLst>
          </a:prstGeom>
          <a:solidFill>
            <a:srgbClr val="E6ECF5"/>
          </a:solidFill>
          <a:ln w="12700">
            <a:solidFill>
              <a:srgbClr val="E6ECF5"/>
            </a:solidFill>
            <a:prstDash val="solid"/>
          </a:ln>
        </p:spPr>
      </p:sp>
      <p:sp>
        <p:nvSpPr>
          <p:cNvPr id="18" name="Text 16"/>
          <p:cNvSpPr txBox="1"/>
          <p:nvPr/>
        </p:nvSpPr>
        <p:spPr>
          <a:xfrm>
            <a:off x="10012680" y="1965960"/>
            <a:ext cx="960120" cy="438912"/>
          </a:xfrm>
          <a:prstGeom prst="rect">
            <a:avLst/>
          </a:prstGeom>
          <a:noFill/>
          <a:ln/>
        </p:spPr>
        <p:txBody>
          <a:bodyPr wrap="square" lIns="0" tIns="0" rIns="0" bIns="0" rtlCol="0" anchor="ctr"/>
          <a:lstStyle/>
          <a:p>
            <a:pPr marL="0" indent="0" algn="ctr">
              <a:buNone/>
            </a:pPr>
            <a:r>
              <a:rPr lang="en-US" sz="1400" b="1" dirty="0">
                <a:solidFill>
                  <a:srgbClr val="0B2545"/>
                </a:solidFill>
              </a:rPr>
              <a:t>Faults</a:t>
            </a:r>
            <a:endParaRPr lang="en-US" sz="1400" dirty="0"/>
          </a:p>
        </p:txBody>
      </p:sp>
      <p:sp>
        <p:nvSpPr>
          <p:cNvPr id="19" name="Shape 17"/>
          <p:cNvSpPr/>
          <p:nvPr/>
        </p:nvSpPr>
        <p:spPr>
          <a:xfrm>
            <a:off x="548640" y="2971800"/>
            <a:ext cx="3383280" cy="2514600"/>
          </a:xfrm>
          <a:prstGeom prst="roundRect">
            <a:avLst>
              <a:gd name="adj" fmla="val 4364"/>
            </a:avLst>
          </a:prstGeom>
          <a:solidFill>
            <a:srgbClr val="FFFFFF"/>
          </a:solidFill>
          <a:ln w="12700">
            <a:solidFill>
              <a:srgbClr val="E2E8F0"/>
            </a:solidFill>
            <a:prstDash val="solid"/>
          </a:ln>
          <a:effectLst>
            <a:outerShdw blurRad="101600" dist="25400" dir="5400000" algn="bl" rotWithShape="0">
              <a:srgbClr val="0F172A">
                <a:alpha val="10000"/>
              </a:srgbClr>
            </a:outerShdw>
          </a:effectLst>
        </p:spPr>
      </p:sp>
      <p:sp>
        <p:nvSpPr>
          <p:cNvPr id="20" name="Shape 18"/>
          <p:cNvSpPr/>
          <p:nvPr/>
        </p:nvSpPr>
        <p:spPr>
          <a:xfrm>
            <a:off x="868680" y="3291840"/>
            <a:ext cx="566928" cy="566928"/>
          </a:xfrm>
          <a:prstGeom prst="roundRect">
            <a:avLst>
              <a:gd name="adj" fmla="val 22000"/>
            </a:avLst>
          </a:prstGeom>
          <a:solidFill>
            <a:srgbClr val="EAF1FF"/>
          </a:solidFill>
          <a:ln w="12700">
            <a:solidFill>
              <a:srgbClr val="EAF1FF"/>
            </a:solidFill>
            <a:prstDash val="solid"/>
          </a:ln>
        </p:spPr>
      </p:sp>
      <p:pic>
        <p:nvPicPr>
          <p:cNvPr id="21" name="Image 0" descr="preencoded.png"/>
          <p:cNvPicPr>
            <a:picLocks noChangeAspect="1"/>
          </p:cNvPicPr>
          <p:nvPr/>
        </p:nvPicPr>
        <p:blipFill>
          <a:blip r:embed="rId3"/>
          <a:stretch>
            <a:fillRect/>
          </a:stretch>
        </p:blipFill>
        <p:spPr>
          <a:xfrm>
            <a:off x="1004743" y="3427903"/>
            <a:ext cx="294803" cy="294803"/>
          </a:xfrm>
          <a:prstGeom prst="rect">
            <a:avLst/>
          </a:prstGeom>
        </p:spPr>
      </p:pic>
      <p:sp>
        <p:nvSpPr>
          <p:cNvPr id="22" name="Text 19"/>
          <p:cNvSpPr txBox="1"/>
          <p:nvPr/>
        </p:nvSpPr>
        <p:spPr>
          <a:xfrm>
            <a:off x="868680" y="4041648"/>
            <a:ext cx="2743200" cy="411480"/>
          </a:xfrm>
          <a:prstGeom prst="rect">
            <a:avLst/>
          </a:prstGeom>
          <a:noFill/>
          <a:ln/>
        </p:spPr>
        <p:txBody>
          <a:bodyPr wrap="square" lIns="0" tIns="0" rIns="0" bIns="0" rtlCol="0" anchor="t"/>
          <a:lstStyle/>
          <a:p>
            <a:pPr marL="0" indent="0">
              <a:buNone/>
            </a:pPr>
            <a:r>
              <a:rPr lang="en-US" sz="1900" b="1" dirty="0">
                <a:solidFill>
                  <a:srgbClr val="0F172A"/>
                </a:solidFill>
              </a:rPr>
              <a:t>Knowledge is buried</a:t>
            </a:r>
            <a:endParaRPr lang="en-US" sz="1900" dirty="0"/>
          </a:p>
        </p:txBody>
      </p:sp>
      <p:sp>
        <p:nvSpPr>
          <p:cNvPr id="23" name="Text 20"/>
          <p:cNvSpPr txBox="1"/>
          <p:nvPr/>
        </p:nvSpPr>
        <p:spPr>
          <a:xfrm>
            <a:off x="868680" y="4507992"/>
            <a:ext cx="2743200" cy="1188720"/>
          </a:xfrm>
          <a:prstGeom prst="rect">
            <a:avLst/>
          </a:prstGeom>
          <a:noFill/>
          <a:ln/>
        </p:spPr>
        <p:txBody>
          <a:bodyPr wrap="square" lIns="0" tIns="0" rIns="0" bIns="0" rtlCol="0" anchor="t"/>
          <a:lstStyle/>
          <a:p>
            <a:pPr marL="0" indent="0">
              <a:buNone/>
            </a:pPr>
            <a:r>
              <a:rPr lang="en-US" sz="1500" dirty="0">
                <a:solidFill>
                  <a:srgbClr val="475569"/>
                </a:solidFill>
              </a:rPr>
              <a:t>What similar incidents looked like, why they happened and what fixed them is buried in thousands of KPI records</a:t>
            </a:r>
            <a:endParaRPr lang="en-US" sz="1500" dirty="0"/>
          </a:p>
        </p:txBody>
      </p:sp>
      <p:sp>
        <p:nvSpPr>
          <p:cNvPr id="25" name="Shape 22"/>
          <p:cNvSpPr/>
          <p:nvPr/>
        </p:nvSpPr>
        <p:spPr>
          <a:xfrm>
            <a:off x="4389120" y="2971800"/>
            <a:ext cx="3383280" cy="2514600"/>
          </a:xfrm>
          <a:prstGeom prst="roundRect">
            <a:avLst>
              <a:gd name="adj" fmla="val 4364"/>
            </a:avLst>
          </a:prstGeom>
          <a:solidFill>
            <a:srgbClr val="FFFFFF"/>
          </a:solidFill>
          <a:ln w="12700">
            <a:solidFill>
              <a:srgbClr val="E2E8F0"/>
            </a:solidFill>
            <a:prstDash val="solid"/>
          </a:ln>
          <a:effectLst>
            <a:outerShdw blurRad="101600" dist="25400" dir="5400000" algn="bl" rotWithShape="0">
              <a:srgbClr val="0F172A">
                <a:alpha val="10000"/>
              </a:srgbClr>
            </a:outerShdw>
          </a:effectLst>
        </p:spPr>
      </p:sp>
      <p:sp>
        <p:nvSpPr>
          <p:cNvPr id="26" name="Shape 23"/>
          <p:cNvSpPr/>
          <p:nvPr/>
        </p:nvSpPr>
        <p:spPr>
          <a:xfrm>
            <a:off x="4709160" y="3291840"/>
            <a:ext cx="566928" cy="566928"/>
          </a:xfrm>
          <a:prstGeom prst="roundRect">
            <a:avLst>
              <a:gd name="adj" fmla="val 22000"/>
            </a:avLst>
          </a:prstGeom>
          <a:solidFill>
            <a:srgbClr val="EEF2F6"/>
          </a:solidFill>
          <a:ln w="12700">
            <a:solidFill>
              <a:srgbClr val="EEF2F6"/>
            </a:solidFill>
            <a:prstDash val="solid"/>
          </a:ln>
        </p:spPr>
      </p:sp>
      <p:pic>
        <p:nvPicPr>
          <p:cNvPr id="27" name="Image 1" descr="preencoded.png"/>
          <p:cNvPicPr>
            <a:picLocks noChangeAspect="1"/>
          </p:cNvPicPr>
          <p:nvPr/>
        </p:nvPicPr>
        <p:blipFill>
          <a:blip r:embed="rId4"/>
          <a:stretch>
            <a:fillRect/>
          </a:stretch>
        </p:blipFill>
        <p:spPr>
          <a:xfrm>
            <a:off x="4845223" y="3427903"/>
            <a:ext cx="294803" cy="294803"/>
          </a:xfrm>
          <a:prstGeom prst="rect">
            <a:avLst/>
          </a:prstGeom>
        </p:spPr>
      </p:pic>
      <p:sp>
        <p:nvSpPr>
          <p:cNvPr id="28" name="Text 24"/>
          <p:cNvSpPr txBox="1"/>
          <p:nvPr/>
        </p:nvSpPr>
        <p:spPr>
          <a:xfrm>
            <a:off x="4709160" y="4041648"/>
            <a:ext cx="2743200" cy="411480"/>
          </a:xfrm>
          <a:prstGeom prst="rect">
            <a:avLst/>
          </a:prstGeom>
          <a:noFill/>
          <a:ln/>
        </p:spPr>
        <p:txBody>
          <a:bodyPr wrap="square" lIns="0" tIns="0" rIns="0" bIns="0" rtlCol="0" anchor="t"/>
          <a:lstStyle/>
          <a:p>
            <a:pPr marL="0" indent="0">
              <a:buNone/>
            </a:pPr>
            <a:r>
              <a:rPr lang="en-US" sz="1900" b="1" dirty="0">
                <a:solidFill>
                  <a:srgbClr val="0F172A"/>
                </a:solidFill>
              </a:rPr>
              <a:t>Searching by hand is slow</a:t>
            </a:r>
            <a:endParaRPr lang="en-US" sz="1900" dirty="0"/>
          </a:p>
        </p:txBody>
      </p:sp>
      <p:sp>
        <p:nvSpPr>
          <p:cNvPr id="29" name="Text 25"/>
          <p:cNvSpPr txBox="1"/>
          <p:nvPr/>
        </p:nvSpPr>
        <p:spPr>
          <a:xfrm>
            <a:off x="4709160" y="4507992"/>
            <a:ext cx="2743200" cy="1188720"/>
          </a:xfrm>
          <a:prstGeom prst="rect">
            <a:avLst/>
          </a:prstGeom>
          <a:noFill/>
          <a:ln/>
        </p:spPr>
        <p:txBody>
          <a:bodyPr wrap="square" lIns="0" tIns="0" rIns="0" bIns="0" rtlCol="0" anchor="t"/>
          <a:lstStyle/>
          <a:p>
            <a:pPr marL="0" indent="0">
              <a:buNone/>
            </a:pPr>
            <a:r>
              <a:rPr lang="en-US" sz="1500" dirty="0">
                <a:solidFill>
                  <a:srgbClr val="475569"/>
                </a:solidFill>
              </a:rPr>
              <a:t>Engineers dig through the history manually for every incident</a:t>
            </a:r>
            <a:endParaRPr lang="en-US" sz="1500" dirty="0"/>
          </a:p>
        </p:txBody>
      </p:sp>
      <p:sp>
        <p:nvSpPr>
          <p:cNvPr id="31" name="Shape 27"/>
          <p:cNvSpPr/>
          <p:nvPr/>
        </p:nvSpPr>
        <p:spPr>
          <a:xfrm>
            <a:off x="8229600" y="2971800"/>
            <a:ext cx="3383280" cy="2514600"/>
          </a:xfrm>
          <a:prstGeom prst="roundRect">
            <a:avLst>
              <a:gd name="adj" fmla="val 4364"/>
            </a:avLst>
          </a:prstGeom>
          <a:solidFill>
            <a:srgbClr val="FFF7F1"/>
          </a:solidFill>
          <a:ln w="12700">
            <a:solidFill>
              <a:srgbClr val="F8C9A8"/>
            </a:solidFill>
            <a:prstDash val="solid"/>
          </a:ln>
          <a:effectLst>
            <a:outerShdw blurRad="101600" dist="25400" dir="5400000" algn="bl" rotWithShape="0">
              <a:srgbClr val="0F172A">
                <a:alpha val="10000"/>
              </a:srgbClr>
            </a:outerShdw>
          </a:effectLst>
        </p:spPr>
      </p:sp>
      <p:sp>
        <p:nvSpPr>
          <p:cNvPr id="32" name="Shape 28"/>
          <p:cNvSpPr/>
          <p:nvPr/>
        </p:nvSpPr>
        <p:spPr>
          <a:xfrm>
            <a:off x="8549640" y="3291840"/>
            <a:ext cx="566928" cy="566928"/>
          </a:xfrm>
          <a:prstGeom prst="roundRect">
            <a:avLst>
              <a:gd name="adj" fmla="val 22000"/>
            </a:avLst>
          </a:prstGeom>
          <a:solidFill>
            <a:srgbClr val="FFEFE3"/>
          </a:solidFill>
          <a:ln w="12700">
            <a:solidFill>
              <a:srgbClr val="FFEFE3"/>
            </a:solidFill>
            <a:prstDash val="solid"/>
          </a:ln>
        </p:spPr>
      </p:sp>
      <p:pic>
        <p:nvPicPr>
          <p:cNvPr id="33" name="Image 2" descr="preencoded.png"/>
          <p:cNvPicPr>
            <a:picLocks noChangeAspect="1"/>
          </p:cNvPicPr>
          <p:nvPr/>
        </p:nvPicPr>
        <p:blipFill>
          <a:blip r:embed="rId5"/>
          <a:stretch>
            <a:fillRect/>
          </a:stretch>
        </p:blipFill>
        <p:spPr>
          <a:xfrm>
            <a:off x="8685703" y="3427903"/>
            <a:ext cx="294803" cy="294803"/>
          </a:xfrm>
          <a:prstGeom prst="rect">
            <a:avLst/>
          </a:prstGeom>
        </p:spPr>
      </p:pic>
      <p:sp>
        <p:nvSpPr>
          <p:cNvPr id="34" name="Text 29"/>
          <p:cNvSpPr txBox="1"/>
          <p:nvPr/>
        </p:nvSpPr>
        <p:spPr>
          <a:xfrm>
            <a:off x="8549640" y="4041648"/>
            <a:ext cx="2743200" cy="411480"/>
          </a:xfrm>
          <a:prstGeom prst="rect">
            <a:avLst/>
          </a:prstGeom>
          <a:noFill/>
          <a:ln/>
        </p:spPr>
        <p:txBody>
          <a:bodyPr wrap="square" lIns="0" tIns="0" rIns="0" bIns="0" rtlCol="0" anchor="t"/>
          <a:lstStyle/>
          <a:p>
            <a:pPr marL="0" indent="0">
              <a:buNone/>
            </a:pPr>
            <a:r>
              <a:rPr lang="en-US" sz="1900" b="1" dirty="0">
                <a:solidFill>
                  <a:srgbClr val="0F172A"/>
                </a:solidFill>
              </a:rPr>
              <a:t>The cost</a:t>
            </a:r>
            <a:endParaRPr lang="en-US" sz="1900" dirty="0"/>
          </a:p>
        </p:txBody>
      </p:sp>
      <p:sp>
        <p:nvSpPr>
          <p:cNvPr id="35" name="Text 30"/>
          <p:cNvSpPr txBox="1"/>
          <p:nvPr/>
        </p:nvSpPr>
        <p:spPr>
          <a:xfrm>
            <a:off x="8549640" y="4507992"/>
            <a:ext cx="2743200" cy="1188720"/>
          </a:xfrm>
          <a:prstGeom prst="rect">
            <a:avLst/>
          </a:prstGeom>
          <a:noFill/>
          <a:ln/>
        </p:spPr>
        <p:txBody>
          <a:bodyPr wrap="square" lIns="0" tIns="0" rIns="0" bIns="0" rtlCol="0" anchor="t"/>
          <a:lstStyle/>
          <a:p>
            <a:pPr marL="0" indent="0">
              <a:buNone/>
            </a:pPr>
            <a:r>
              <a:rPr lang="en-US" sz="1500" dirty="0">
                <a:solidFill>
                  <a:srgbClr val="475569"/>
                </a:solidFill>
              </a:rPr>
              <a:t>Higher MTTR and inconsistent decisions between engineers</a:t>
            </a:r>
            <a:endParaRPr lang="en-US" sz="1500" dirty="0"/>
          </a:p>
        </p:txBody>
      </p:sp>
      <p:sp>
        <p:nvSpPr>
          <p:cNvPr id="36"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64748B"/>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229600" cy="274320"/>
          </a:xfrm>
          <a:prstGeom prst="rect">
            <a:avLst/>
          </a:prstGeom>
          <a:noFill/>
          <a:ln/>
        </p:spPr>
        <p:txBody>
          <a:bodyPr wrap="square" lIns="0" tIns="0" rIns="0" bIns="0" rtlCol="0" anchor="ctr"/>
          <a:lstStyle/>
          <a:p>
            <a:pPr marL="0" indent="0">
              <a:buNone/>
            </a:pPr>
            <a:r>
              <a:rPr lang="en-US" sz="1200" b="1" kern="0" spc="200" dirty="0">
                <a:solidFill>
                  <a:srgbClr val="EA580C"/>
                </a:solidFill>
              </a:rPr>
              <a:t>BUSINESS NEED</a:t>
            </a:r>
            <a:endParaRPr lang="en-US" sz="1200" dirty="0"/>
          </a:p>
        </p:txBody>
      </p:sp>
      <p:sp>
        <p:nvSpPr>
          <p:cNvPr id="3" name="Text 0"/>
          <p:cNvSpPr>
            <a:spLocks noGrp="1"/>
          </p:cNvSpPr>
          <p:nvPr>
            <p:ph type="title" idx="101" hasCustomPrompt="1"/>
          </p:nvPr>
        </p:nvSpPr>
        <p:spPr>
          <a:xfrm>
            <a:off x="548640" y="621792"/>
            <a:ext cx="11064240" cy="640080"/>
          </a:xfrm>
          <a:prstGeom prst="rect">
            <a:avLst/>
          </a:prstGeom>
          <a:noFill/>
          <a:ln/>
        </p:spPr>
        <p:txBody>
          <a:bodyPr wrap="square" lIns="0" tIns="0" rIns="0" bIns="0" rtlCol="0" anchor="ctr"/>
          <a:lstStyle/>
          <a:p>
            <a:pPr marL="0" indent="0" algn="l">
              <a:buNone/>
            </a:pPr>
            <a:r>
              <a:rPr lang="en-US" sz="3200" b="1" dirty="0">
                <a:solidFill>
                  <a:srgbClr val="0B2545"/>
                </a:solidFill>
              </a:rPr>
              <a:t>Business need: quicker, consistent triaging</a:t>
            </a:r>
            <a:endParaRPr lang="en-US" sz="3200" dirty="0"/>
          </a:p>
        </p:txBody>
      </p:sp>
      <p:sp>
        <p:nvSpPr>
          <p:cNvPr id="4" name="Shape 2"/>
          <p:cNvSpPr/>
          <p:nvPr/>
        </p:nvSpPr>
        <p:spPr>
          <a:xfrm>
            <a:off x="548640" y="1874520"/>
            <a:ext cx="3108960" cy="3017520"/>
          </a:xfrm>
          <a:prstGeom prst="roundRect">
            <a:avLst>
              <a:gd name="adj" fmla="val 3636"/>
            </a:avLst>
          </a:prstGeom>
          <a:solidFill>
            <a:srgbClr val="0B2545"/>
          </a:solidFill>
          <a:ln w="12700">
            <a:solidFill>
              <a:srgbClr val="0B2545"/>
            </a:solidFill>
            <a:prstDash val="solid"/>
          </a:ln>
          <a:effectLst>
            <a:outerShdw blurRad="101600" dist="25400" dir="5400000" algn="bl" rotWithShape="0">
              <a:srgbClr val="0F172A">
                <a:alpha val="10000"/>
              </a:srgbClr>
            </a:outerShdw>
          </a:effectLst>
        </p:spPr>
      </p:sp>
      <p:sp>
        <p:nvSpPr>
          <p:cNvPr id="5" name="Shape 3"/>
          <p:cNvSpPr/>
          <p:nvPr/>
        </p:nvSpPr>
        <p:spPr>
          <a:xfrm>
            <a:off x="868680" y="2194560"/>
            <a:ext cx="566928" cy="566928"/>
          </a:xfrm>
          <a:prstGeom prst="roundRect">
            <a:avLst>
              <a:gd name="adj" fmla="val 22000"/>
            </a:avLst>
          </a:prstGeom>
          <a:solidFill>
            <a:srgbClr val="EAF1FF"/>
          </a:solidFill>
          <a:ln w="12700">
            <a:solidFill>
              <a:srgbClr val="EAF1FF"/>
            </a:solidFill>
            <a:prstDash val="solid"/>
          </a:ln>
        </p:spPr>
      </p:sp>
      <p:pic>
        <p:nvPicPr>
          <p:cNvPr id="6" name="Image 0" descr="preencoded.png"/>
          <p:cNvPicPr>
            <a:picLocks noChangeAspect="1"/>
          </p:cNvPicPr>
          <p:nvPr/>
        </p:nvPicPr>
        <p:blipFill>
          <a:blip r:embed="rId3"/>
          <a:stretch>
            <a:fillRect/>
          </a:stretch>
        </p:blipFill>
        <p:spPr>
          <a:xfrm>
            <a:off x="1004743" y="2330623"/>
            <a:ext cx="294803" cy="294803"/>
          </a:xfrm>
          <a:prstGeom prst="rect">
            <a:avLst/>
          </a:prstGeom>
        </p:spPr>
      </p:pic>
      <p:sp>
        <p:nvSpPr>
          <p:cNvPr id="7" name="Text 4"/>
          <p:cNvSpPr txBox="1"/>
          <p:nvPr/>
        </p:nvSpPr>
        <p:spPr>
          <a:xfrm>
            <a:off x="868680" y="3017520"/>
            <a:ext cx="2560320" cy="274320"/>
          </a:xfrm>
          <a:prstGeom prst="rect">
            <a:avLst/>
          </a:prstGeom>
          <a:noFill/>
          <a:ln/>
        </p:spPr>
        <p:txBody>
          <a:bodyPr wrap="square" lIns="0" tIns="0" rIns="0" bIns="0" rtlCol="0" anchor="t"/>
          <a:lstStyle/>
          <a:p>
            <a:pPr marL="0" indent="0">
              <a:buNone/>
            </a:pPr>
            <a:r>
              <a:rPr lang="en-US" sz="1200" b="1" kern="0" spc="200" dirty="0">
                <a:solidFill>
                  <a:srgbClr val="93B4E8"/>
                </a:solidFill>
              </a:rPr>
              <a:t>INPUT</a:t>
            </a:r>
            <a:endParaRPr lang="en-US" sz="1200" dirty="0"/>
          </a:p>
        </p:txBody>
      </p:sp>
      <p:sp>
        <p:nvSpPr>
          <p:cNvPr id="8" name="Text 5"/>
          <p:cNvSpPr txBox="1"/>
          <p:nvPr/>
        </p:nvSpPr>
        <p:spPr>
          <a:xfrm>
            <a:off x="868680" y="3337560"/>
            <a:ext cx="2560320" cy="1097280"/>
          </a:xfrm>
          <a:prstGeom prst="rect">
            <a:avLst/>
          </a:prstGeom>
          <a:noFill/>
          <a:ln/>
        </p:spPr>
        <p:txBody>
          <a:bodyPr wrap="square" lIns="0" tIns="0" rIns="0" bIns="0" rtlCol="0" anchor="t"/>
          <a:lstStyle/>
          <a:p>
            <a:pPr marL="0" indent="0">
              <a:buNone/>
            </a:pPr>
            <a:r>
              <a:rPr lang="en-US" sz="2000" b="1" dirty="0">
                <a:solidFill>
                  <a:srgbClr val="FFFFFF"/>
                </a:solidFill>
              </a:rPr>
              <a:t>A plain-language description of the incident</a:t>
            </a:r>
            <a:endParaRPr lang="en-US" sz="2000" dirty="0"/>
          </a:p>
        </p:txBody>
      </p:sp>
      <p:sp>
        <p:nvSpPr>
          <p:cNvPr id="9" name="Shape 6"/>
          <p:cNvSpPr/>
          <p:nvPr/>
        </p:nvSpPr>
        <p:spPr>
          <a:xfrm>
            <a:off x="3794760" y="3383280"/>
            <a:ext cx="640080" cy="0"/>
          </a:xfrm>
          <a:prstGeom prst="line">
            <a:avLst/>
          </a:prstGeom>
          <a:noFill/>
          <a:ln w="31750">
            <a:solidFill>
              <a:srgbClr val="EA580C"/>
            </a:solidFill>
            <a:prstDash val="solid"/>
            <a:tailEnd type="triangle"/>
          </a:ln>
        </p:spPr>
      </p:sp>
      <p:sp>
        <p:nvSpPr>
          <p:cNvPr id="10" name="Text 7"/>
          <p:cNvSpPr txBox="1"/>
          <p:nvPr/>
        </p:nvSpPr>
        <p:spPr>
          <a:xfrm>
            <a:off x="3611880" y="2971800"/>
            <a:ext cx="1005840" cy="274320"/>
          </a:xfrm>
          <a:prstGeom prst="rect">
            <a:avLst/>
          </a:prstGeom>
          <a:noFill/>
          <a:ln/>
        </p:spPr>
        <p:txBody>
          <a:bodyPr wrap="square" lIns="0" tIns="0" rIns="0" bIns="0" rtlCol="0" anchor="t"/>
          <a:lstStyle/>
          <a:p>
            <a:pPr marL="0" indent="0" algn="ctr">
              <a:buNone/>
            </a:pPr>
            <a:endParaRPr lang="en-US" sz="1100" dirty="0"/>
          </a:p>
        </p:txBody>
      </p:sp>
      <p:sp>
        <p:nvSpPr>
          <p:cNvPr id="11" name="Shape 8"/>
          <p:cNvSpPr/>
          <p:nvPr/>
        </p:nvSpPr>
        <p:spPr>
          <a:xfrm>
            <a:off x="4572000" y="1691640"/>
            <a:ext cx="3429000" cy="1371600"/>
          </a:xfrm>
          <a:prstGeom prst="roundRect">
            <a:avLst>
              <a:gd name="adj" fmla="val 8000"/>
            </a:avLst>
          </a:prstGeom>
          <a:solidFill>
            <a:srgbClr val="FFFFFF"/>
          </a:solidFill>
          <a:ln w="12700">
            <a:solidFill>
              <a:srgbClr val="E2E8F0"/>
            </a:solidFill>
            <a:prstDash val="solid"/>
          </a:ln>
          <a:effectLst>
            <a:outerShdw blurRad="101600" dist="25400" dir="5400000" algn="bl" rotWithShape="0">
              <a:srgbClr val="0F172A">
                <a:alpha val="10000"/>
              </a:srgbClr>
            </a:outerShdw>
          </a:effectLst>
        </p:spPr>
      </p:sp>
      <p:sp>
        <p:nvSpPr>
          <p:cNvPr id="12" name="Shape 9"/>
          <p:cNvSpPr/>
          <p:nvPr/>
        </p:nvSpPr>
        <p:spPr>
          <a:xfrm>
            <a:off x="4846320" y="2103120"/>
            <a:ext cx="548640" cy="548640"/>
          </a:xfrm>
          <a:prstGeom prst="roundRect">
            <a:avLst>
              <a:gd name="adj" fmla="val 22000"/>
            </a:avLst>
          </a:prstGeom>
          <a:solidFill>
            <a:srgbClr val="E3F6EC"/>
          </a:solidFill>
          <a:ln w="12700">
            <a:solidFill>
              <a:srgbClr val="E3F6EC"/>
            </a:solidFill>
            <a:prstDash val="solid"/>
          </a:ln>
        </p:spPr>
      </p:sp>
      <p:pic>
        <p:nvPicPr>
          <p:cNvPr id="13" name="Image 1" descr="preencoded.png"/>
          <p:cNvPicPr>
            <a:picLocks noChangeAspect="1"/>
          </p:cNvPicPr>
          <p:nvPr/>
        </p:nvPicPr>
        <p:blipFill>
          <a:blip r:embed="rId4"/>
          <a:stretch>
            <a:fillRect/>
          </a:stretch>
        </p:blipFill>
        <p:spPr>
          <a:xfrm>
            <a:off x="4977994" y="2234794"/>
            <a:ext cx="285293" cy="285293"/>
          </a:xfrm>
          <a:prstGeom prst="rect">
            <a:avLst/>
          </a:prstGeom>
        </p:spPr>
      </p:pic>
      <p:sp>
        <p:nvSpPr>
          <p:cNvPr id="14" name="Text 10"/>
          <p:cNvSpPr txBox="1"/>
          <p:nvPr/>
        </p:nvSpPr>
        <p:spPr>
          <a:xfrm>
            <a:off x="5577840" y="1691640"/>
            <a:ext cx="2240280" cy="1371600"/>
          </a:xfrm>
          <a:prstGeom prst="rect">
            <a:avLst/>
          </a:prstGeom>
          <a:noFill/>
          <a:ln/>
        </p:spPr>
        <p:txBody>
          <a:bodyPr wrap="square" lIns="0" tIns="0" rIns="0" bIns="0" rtlCol="0" anchor="ctr"/>
          <a:lstStyle/>
          <a:p>
            <a:pPr marL="0" indent="0">
              <a:buNone/>
            </a:pPr>
            <a:r>
              <a:rPr lang="en-US" sz="1800" b="1" dirty="0">
                <a:solidFill>
                  <a:srgbClr val="0F172A"/>
                </a:solidFill>
              </a:rPr>
              <a:t>Similar past cases</a:t>
            </a:r>
            <a:endParaRPr lang="en-US" sz="1800" dirty="0"/>
          </a:p>
        </p:txBody>
      </p:sp>
      <p:sp>
        <p:nvSpPr>
          <p:cNvPr id="15" name="Shape 11"/>
          <p:cNvSpPr/>
          <p:nvPr/>
        </p:nvSpPr>
        <p:spPr>
          <a:xfrm>
            <a:off x="8275320" y="1691640"/>
            <a:ext cx="3429000" cy="1371600"/>
          </a:xfrm>
          <a:prstGeom prst="roundRect">
            <a:avLst>
              <a:gd name="adj" fmla="val 8000"/>
            </a:avLst>
          </a:prstGeom>
          <a:solidFill>
            <a:srgbClr val="FFFFFF"/>
          </a:solidFill>
          <a:ln w="12700">
            <a:solidFill>
              <a:srgbClr val="E2E8F0"/>
            </a:solidFill>
            <a:prstDash val="solid"/>
          </a:ln>
          <a:effectLst>
            <a:outerShdw blurRad="101600" dist="25400" dir="5400000" algn="bl" rotWithShape="0">
              <a:srgbClr val="0F172A">
                <a:alpha val="10000"/>
              </a:srgbClr>
            </a:outerShdw>
          </a:effectLst>
        </p:spPr>
      </p:sp>
      <p:sp>
        <p:nvSpPr>
          <p:cNvPr id="16" name="Shape 12"/>
          <p:cNvSpPr/>
          <p:nvPr/>
        </p:nvSpPr>
        <p:spPr>
          <a:xfrm>
            <a:off x="8549640" y="2103120"/>
            <a:ext cx="548640" cy="548640"/>
          </a:xfrm>
          <a:prstGeom prst="roundRect">
            <a:avLst>
              <a:gd name="adj" fmla="val 22000"/>
            </a:avLst>
          </a:prstGeom>
          <a:solidFill>
            <a:srgbClr val="FFEFE3"/>
          </a:solidFill>
          <a:ln w="12700">
            <a:solidFill>
              <a:srgbClr val="FFEFE3"/>
            </a:solidFill>
            <a:prstDash val="solid"/>
          </a:ln>
        </p:spPr>
      </p:sp>
      <p:pic>
        <p:nvPicPr>
          <p:cNvPr id="17" name="Image 2" descr="preencoded.png"/>
          <p:cNvPicPr>
            <a:picLocks noChangeAspect="1"/>
          </p:cNvPicPr>
          <p:nvPr/>
        </p:nvPicPr>
        <p:blipFill>
          <a:blip r:embed="rId5"/>
          <a:stretch>
            <a:fillRect/>
          </a:stretch>
        </p:blipFill>
        <p:spPr>
          <a:xfrm>
            <a:off x="8681314" y="2234794"/>
            <a:ext cx="285293" cy="285293"/>
          </a:xfrm>
          <a:prstGeom prst="rect">
            <a:avLst/>
          </a:prstGeom>
        </p:spPr>
      </p:pic>
      <p:sp>
        <p:nvSpPr>
          <p:cNvPr id="18" name="Text 13"/>
          <p:cNvSpPr txBox="1"/>
          <p:nvPr/>
        </p:nvSpPr>
        <p:spPr>
          <a:xfrm>
            <a:off x="9281160" y="1691640"/>
            <a:ext cx="2240280" cy="1371600"/>
          </a:xfrm>
          <a:prstGeom prst="rect">
            <a:avLst/>
          </a:prstGeom>
          <a:noFill/>
          <a:ln/>
        </p:spPr>
        <p:txBody>
          <a:bodyPr wrap="square" lIns="0" tIns="0" rIns="0" bIns="0" rtlCol="0" anchor="ctr"/>
          <a:lstStyle/>
          <a:p>
            <a:pPr marL="0" indent="0">
              <a:buNone/>
            </a:pPr>
            <a:r>
              <a:rPr lang="en-US" sz="1800" b="1" dirty="0">
                <a:solidFill>
                  <a:srgbClr val="0F172A"/>
                </a:solidFill>
              </a:rPr>
              <a:t>A classified, prioritized incident</a:t>
            </a:r>
            <a:endParaRPr lang="en-US" sz="1800" dirty="0"/>
          </a:p>
        </p:txBody>
      </p:sp>
      <p:sp>
        <p:nvSpPr>
          <p:cNvPr id="19" name="Shape 14"/>
          <p:cNvSpPr/>
          <p:nvPr/>
        </p:nvSpPr>
        <p:spPr>
          <a:xfrm>
            <a:off x="4572000" y="3337560"/>
            <a:ext cx="3429000" cy="1371600"/>
          </a:xfrm>
          <a:prstGeom prst="roundRect">
            <a:avLst>
              <a:gd name="adj" fmla="val 8000"/>
            </a:avLst>
          </a:prstGeom>
          <a:solidFill>
            <a:srgbClr val="FFFFFF"/>
          </a:solidFill>
          <a:ln w="12700">
            <a:solidFill>
              <a:srgbClr val="E2E8F0"/>
            </a:solidFill>
            <a:prstDash val="solid"/>
          </a:ln>
          <a:effectLst>
            <a:outerShdw blurRad="101600" dist="25400" dir="5400000" algn="bl" rotWithShape="0">
              <a:srgbClr val="0F172A">
                <a:alpha val="10000"/>
              </a:srgbClr>
            </a:outerShdw>
          </a:effectLst>
        </p:spPr>
      </p:sp>
      <p:sp>
        <p:nvSpPr>
          <p:cNvPr id="20" name="Shape 15"/>
          <p:cNvSpPr/>
          <p:nvPr/>
        </p:nvSpPr>
        <p:spPr>
          <a:xfrm>
            <a:off x="4846320" y="3749040"/>
            <a:ext cx="548640" cy="548640"/>
          </a:xfrm>
          <a:prstGeom prst="roundRect">
            <a:avLst>
              <a:gd name="adj" fmla="val 22000"/>
            </a:avLst>
          </a:prstGeom>
          <a:solidFill>
            <a:srgbClr val="FFEFE3"/>
          </a:solidFill>
          <a:ln w="12700">
            <a:solidFill>
              <a:srgbClr val="FFEFE3"/>
            </a:solidFill>
            <a:prstDash val="solid"/>
          </a:ln>
        </p:spPr>
      </p:sp>
      <p:pic>
        <p:nvPicPr>
          <p:cNvPr id="21" name="Image 3" descr="preencoded.png"/>
          <p:cNvPicPr>
            <a:picLocks noChangeAspect="1"/>
          </p:cNvPicPr>
          <p:nvPr/>
        </p:nvPicPr>
        <p:blipFill>
          <a:blip r:embed="rId6"/>
          <a:stretch>
            <a:fillRect/>
          </a:stretch>
        </p:blipFill>
        <p:spPr>
          <a:xfrm>
            <a:off x="4977994" y="3880714"/>
            <a:ext cx="285293" cy="285293"/>
          </a:xfrm>
          <a:prstGeom prst="rect">
            <a:avLst/>
          </a:prstGeom>
        </p:spPr>
      </p:pic>
      <p:sp>
        <p:nvSpPr>
          <p:cNvPr id="22" name="Text 16"/>
          <p:cNvSpPr txBox="1"/>
          <p:nvPr/>
        </p:nvSpPr>
        <p:spPr>
          <a:xfrm>
            <a:off x="5577840" y="3337560"/>
            <a:ext cx="2240280" cy="1371600"/>
          </a:xfrm>
          <a:prstGeom prst="rect">
            <a:avLst/>
          </a:prstGeom>
          <a:noFill/>
          <a:ln/>
        </p:spPr>
        <p:txBody>
          <a:bodyPr wrap="square" lIns="0" tIns="0" rIns="0" bIns="0" rtlCol="0" anchor="ctr"/>
          <a:lstStyle/>
          <a:p>
            <a:pPr marL="0" indent="0">
              <a:buNone/>
            </a:pPr>
            <a:r>
              <a:rPr lang="en-US" sz="1800" b="1" dirty="0">
                <a:solidFill>
                  <a:srgbClr val="0F172A"/>
                </a:solidFill>
              </a:rPr>
              <a:t>Root-cause hypotheses</a:t>
            </a:r>
            <a:endParaRPr lang="en-US" sz="1800" dirty="0"/>
          </a:p>
        </p:txBody>
      </p:sp>
      <p:sp>
        <p:nvSpPr>
          <p:cNvPr id="23" name="Shape 17"/>
          <p:cNvSpPr/>
          <p:nvPr/>
        </p:nvSpPr>
        <p:spPr>
          <a:xfrm>
            <a:off x="8275320" y="3337560"/>
            <a:ext cx="3429000" cy="1371600"/>
          </a:xfrm>
          <a:prstGeom prst="roundRect">
            <a:avLst>
              <a:gd name="adj" fmla="val 8000"/>
            </a:avLst>
          </a:prstGeom>
          <a:solidFill>
            <a:srgbClr val="FFFFFF"/>
          </a:solidFill>
          <a:ln w="12700">
            <a:solidFill>
              <a:srgbClr val="E2E8F0"/>
            </a:solidFill>
            <a:prstDash val="solid"/>
          </a:ln>
          <a:effectLst>
            <a:outerShdw blurRad="101600" dist="25400" dir="5400000" algn="bl" rotWithShape="0">
              <a:srgbClr val="0F172A">
                <a:alpha val="10000"/>
              </a:srgbClr>
            </a:outerShdw>
          </a:effectLst>
        </p:spPr>
      </p:sp>
      <p:sp>
        <p:nvSpPr>
          <p:cNvPr id="24" name="Shape 18"/>
          <p:cNvSpPr/>
          <p:nvPr/>
        </p:nvSpPr>
        <p:spPr>
          <a:xfrm>
            <a:off x="8549640" y="3749040"/>
            <a:ext cx="548640" cy="548640"/>
          </a:xfrm>
          <a:prstGeom prst="roundRect">
            <a:avLst>
              <a:gd name="adj" fmla="val 22000"/>
            </a:avLst>
          </a:prstGeom>
          <a:solidFill>
            <a:srgbClr val="FFEFE3"/>
          </a:solidFill>
          <a:ln w="12700">
            <a:solidFill>
              <a:srgbClr val="FFEFE3"/>
            </a:solidFill>
            <a:prstDash val="solid"/>
          </a:ln>
        </p:spPr>
      </p:sp>
      <p:pic>
        <p:nvPicPr>
          <p:cNvPr id="25" name="Image 4" descr="preencoded.png"/>
          <p:cNvPicPr>
            <a:picLocks noChangeAspect="1"/>
          </p:cNvPicPr>
          <p:nvPr/>
        </p:nvPicPr>
        <p:blipFill>
          <a:blip r:embed="rId7"/>
          <a:stretch>
            <a:fillRect/>
          </a:stretch>
        </p:blipFill>
        <p:spPr>
          <a:xfrm>
            <a:off x="8681314" y="3880714"/>
            <a:ext cx="285293" cy="285293"/>
          </a:xfrm>
          <a:prstGeom prst="rect">
            <a:avLst/>
          </a:prstGeom>
        </p:spPr>
      </p:pic>
      <p:sp>
        <p:nvSpPr>
          <p:cNvPr id="26" name="Text 19"/>
          <p:cNvSpPr txBox="1"/>
          <p:nvPr/>
        </p:nvSpPr>
        <p:spPr>
          <a:xfrm>
            <a:off x="9281160" y="3337560"/>
            <a:ext cx="2240280" cy="1371600"/>
          </a:xfrm>
          <a:prstGeom prst="rect">
            <a:avLst/>
          </a:prstGeom>
          <a:noFill/>
          <a:ln/>
        </p:spPr>
        <p:txBody>
          <a:bodyPr wrap="square" lIns="0" tIns="0" rIns="0" bIns="0" rtlCol="0" anchor="ctr"/>
          <a:lstStyle/>
          <a:p>
            <a:pPr marL="0" indent="0">
              <a:buNone/>
            </a:pPr>
            <a:r>
              <a:rPr lang="en-US" sz="1800" b="1" dirty="0">
                <a:solidFill>
                  <a:srgbClr val="0F172A"/>
                </a:solidFill>
              </a:rPr>
              <a:t>Cited, validated actions</a:t>
            </a:r>
            <a:endParaRPr lang="en-US" sz="1800" dirty="0"/>
          </a:p>
        </p:txBody>
      </p:sp>
      <p:sp>
        <p:nvSpPr>
          <p:cNvPr id="27" name="Shape 20"/>
          <p:cNvSpPr/>
          <p:nvPr/>
        </p:nvSpPr>
        <p:spPr>
          <a:xfrm>
            <a:off x="548640" y="5166360"/>
            <a:ext cx="11064240" cy="868680"/>
          </a:xfrm>
          <a:prstGeom prst="roundRect">
            <a:avLst>
              <a:gd name="adj" fmla="val 12632"/>
            </a:avLst>
          </a:prstGeom>
          <a:solidFill>
            <a:srgbClr val="E3F6EC"/>
          </a:solidFill>
          <a:ln w="12700">
            <a:solidFill>
              <a:srgbClr val="BFE8D3"/>
            </a:solidFill>
            <a:prstDash val="solid"/>
          </a:ln>
        </p:spPr>
      </p:sp>
      <p:sp>
        <p:nvSpPr>
          <p:cNvPr id="28" name="Shape 21"/>
          <p:cNvSpPr/>
          <p:nvPr/>
        </p:nvSpPr>
        <p:spPr>
          <a:xfrm>
            <a:off x="777240" y="5321808"/>
            <a:ext cx="548640" cy="548640"/>
          </a:xfrm>
          <a:prstGeom prst="roundRect">
            <a:avLst>
              <a:gd name="adj" fmla="val 22000"/>
            </a:avLst>
          </a:prstGeom>
          <a:solidFill>
            <a:srgbClr val="E3F6EC"/>
          </a:solidFill>
          <a:ln w="12700">
            <a:solidFill>
              <a:srgbClr val="E3F6EC"/>
            </a:solidFill>
            <a:prstDash val="solid"/>
          </a:ln>
        </p:spPr>
      </p:sp>
      <p:pic>
        <p:nvPicPr>
          <p:cNvPr id="29" name="Image 5" descr="preencoded.png"/>
          <p:cNvPicPr>
            <a:picLocks noChangeAspect="1"/>
          </p:cNvPicPr>
          <p:nvPr/>
        </p:nvPicPr>
        <p:blipFill>
          <a:blip r:embed="rId8"/>
          <a:stretch>
            <a:fillRect/>
          </a:stretch>
        </p:blipFill>
        <p:spPr>
          <a:xfrm>
            <a:off x="908914" y="5453482"/>
            <a:ext cx="285293" cy="285293"/>
          </a:xfrm>
          <a:prstGeom prst="rect">
            <a:avLst/>
          </a:prstGeom>
        </p:spPr>
      </p:pic>
      <p:sp>
        <p:nvSpPr>
          <p:cNvPr id="30" name="Text 22"/>
          <p:cNvSpPr txBox="1"/>
          <p:nvPr/>
        </p:nvSpPr>
        <p:spPr>
          <a:xfrm>
            <a:off x="1508760" y="5166360"/>
            <a:ext cx="9875520" cy="868680"/>
          </a:xfrm>
          <a:prstGeom prst="rect">
            <a:avLst/>
          </a:prstGeom>
          <a:noFill/>
          <a:ln/>
        </p:spPr>
        <p:txBody>
          <a:bodyPr wrap="square" lIns="0" tIns="0" rIns="0" bIns="0" rtlCol="0" anchor="ctr"/>
          <a:lstStyle/>
          <a:p>
            <a:pPr marL="0" indent="0">
              <a:buNone/>
            </a:pPr>
            <a:r>
              <a:rPr lang="en-US" sz="1600" b="1" dirty="0">
                <a:solidFill>
                  <a:srgbClr val="0F172A"/>
                </a:solidFill>
              </a:rPr>
              <a:t>And improve from engineer feedback</a:t>
            </a:r>
            <a:r>
              <a:rPr lang="en-US" sz="1600" dirty="0">
                <a:solidFill>
                  <a:srgbClr val="475569"/>
                </a:solidFill>
              </a:rPr>
              <a:t>  ·  ratings and case relevance votes flow back into retrieval</a:t>
            </a:r>
            <a:endParaRPr lang="en-US" sz="1600" dirty="0"/>
          </a:p>
        </p:txBody>
      </p:sp>
      <p:sp>
        <p:nvSpPr>
          <p:cNvPr id="31"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64748B"/>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229600" cy="274320"/>
          </a:xfrm>
          <a:prstGeom prst="rect">
            <a:avLst/>
          </a:prstGeom>
          <a:noFill/>
          <a:ln/>
        </p:spPr>
        <p:txBody>
          <a:bodyPr wrap="square" lIns="0" tIns="0" rIns="0" bIns="0" rtlCol="0" anchor="ctr"/>
          <a:lstStyle/>
          <a:p>
            <a:pPr marL="0" indent="0">
              <a:buNone/>
            </a:pPr>
            <a:r>
              <a:rPr lang="en-US" sz="1200" b="1" kern="0" spc="200" dirty="0">
                <a:solidFill>
                  <a:srgbClr val="EA580C"/>
                </a:solidFill>
              </a:rPr>
              <a:t>SOLUTION OVERVIEW</a:t>
            </a:r>
            <a:endParaRPr lang="en-US" sz="1200" dirty="0"/>
          </a:p>
        </p:txBody>
      </p:sp>
      <p:sp>
        <p:nvSpPr>
          <p:cNvPr id="3" name="Text 0"/>
          <p:cNvSpPr>
            <a:spLocks noGrp="1"/>
          </p:cNvSpPr>
          <p:nvPr>
            <p:ph type="title" idx="101" hasCustomPrompt="1"/>
          </p:nvPr>
        </p:nvSpPr>
        <p:spPr>
          <a:xfrm>
            <a:off x="548640" y="621792"/>
            <a:ext cx="11064240" cy="640080"/>
          </a:xfrm>
          <a:prstGeom prst="rect">
            <a:avLst/>
          </a:prstGeom>
          <a:noFill/>
          <a:ln/>
        </p:spPr>
        <p:txBody>
          <a:bodyPr wrap="square" lIns="0" tIns="0" rIns="0" bIns="0" rtlCol="0" anchor="ctr"/>
          <a:lstStyle/>
          <a:p>
            <a:pPr marL="0" indent="0" algn="l">
              <a:buNone/>
            </a:pPr>
            <a:r>
              <a:rPr lang="en-US" sz="3200" b="1" dirty="0">
                <a:solidFill>
                  <a:srgbClr val="0B2545"/>
                </a:solidFill>
              </a:rPr>
              <a:t>What the engineer gets</a:t>
            </a:r>
            <a:endParaRPr lang="en-US" sz="3200" dirty="0"/>
          </a:p>
        </p:txBody>
      </p:sp>
      <p:sp>
        <p:nvSpPr>
          <p:cNvPr id="4" name="Shape 2"/>
          <p:cNvSpPr/>
          <p:nvPr/>
        </p:nvSpPr>
        <p:spPr>
          <a:xfrm>
            <a:off x="548640" y="1600200"/>
            <a:ext cx="3502152" cy="1965960"/>
          </a:xfrm>
          <a:prstGeom prst="roundRect">
            <a:avLst>
              <a:gd name="adj" fmla="val 5581"/>
            </a:avLst>
          </a:prstGeom>
          <a:solidFill>
            <a:srgbClr val="FFFFFF"/>
          </a:solidFill>
          <a:ln w="12700">
            <a:solidFill>
              <a:srgbClr val="E2E8F0"/>
            </a:solidFill>
            <a:prstDash val="solid"/>
          </a:ln>
          <a:effectLst>
            <a:outerShdw blurRad="101600" dist="25400" dir="5400000" algn="bl" rotWithShape="0">
              <a:srgbClr val="0F172A">
                <a:alpha val="10000"/>
              </a:srgbClr>
            </a:outerShdw>
          </a:effectLst>
        </p:spPr>
      </p:sp>
      <p:sp>
        <p:nvSpPr>
          <p:cNvPr id="5" name="Shape 3"/>
          <p:cNvSpPr/>
          <p:nvPr/>
        </p:nvSpPr>
        <p:spPr>
          <a:xfrm>
            <a:off x="822960" y="1874520"/>
            <a:ext cx="530352" cy="530352"/>
          </a:xfrm>
          <a:prstGeom prst="roundRect">
            <a:avLst>
              <a:gd name="adj" fmla="val 22000"/>
            </a:avLst>
          </a:prstGeom>
          <a:solidFill>
            <a:srgbClr val="E3F6EC"/>
          </a:solidFill>
          <a:ln w="12700">
            <a:solidFill>
              <a:srgbClr val="E3F6EC"/>
            </a:solidFill>
            <a:prstDash val="solid"/>
          </a:ln>
        </p:spPr>
      </p:sp>
      <p:pic>
        <p:nvPicPr>
          <p:cNvPr id="6" name="Image 0" descr="preencoded.png"/>
          <p:cNvPicPr>
            <a:picLocks noChangeAspect="1"/>
          </p:cNvPicPr>
          <p:nvPr/>
        </p:nvPicPr>
        <p:blipFill>
          <a:blip r:embed="rId3"/>
          <a:stretch>
            <a:fillRect/>
          </a:stretch>
        </p:blipFill>
        <p:spPr>
          <a:xfrm>
            <a:off x="950244" y="2001804"/>
            <a:ext cx="275783" cy="275783"/>
          </a:xfrm>
          <a:prstGeom prst="rect">
            <a:avLst/>
          </a:prstGeom>
        </p:spPr>
      </p:pic>
      <p:sp>
        <p:nvSpPr>
          <p:cNvPr id="7" name="Text 4"/>
          <p:cNvSpPr txBox="1"/>
          <p:nvPr/>
        </p:nvSpPr>
        <p:spPr>
          <a:xfrm>
            <a:off x="1508760" y="1874520"/>
            <a:ext cx="2313432" cy="530352"/>
          </a:xfrm>
          <a:prstGeom prst="rect">
            <a:avLst/>
          </a:prstGeom>
          <a:noFill/>
          <a:ln/>
        </p:spPr>
        <p:txBody>
          <a:bodyPr wrap="square" lIns="0" tIns="0" rIns="0" bIns="0" rtlCol="0" anchor="ctr"/>
          <a:lstStyle/>
          <a:p>
            <a:pPr marL="0" indent="0">
              <a:buNone/>
            </a:pPr>
            <a:r>
              <a:rPr lang="en-US" sz="1900" b="1" dirty="0">
                <a:solidFill>
                  <a:srgbClr val="0F172A"/>
                </a:solidFill>
              </a:rPr>
              <a:t>Similar cases</a:t>
            </a:r>
            <a:endParaRPr lang="en-US" sz="1900" dirty="0"/>
          </a:p>
        </p:txBody>
      </p:sp>
      <p:sp>
        <p:nvSpPr>
          <p:cNvPr id="8" name="Text 5"/>
          <p:cNvSpPr txBox="1"/>
          <p:nvPr/>
        </p:nvSpPr>
        <p:spPr>
          <a:xfrm>
            <a:off x="822960" y="2560320"/>
            <a:ext cx="2953512" cy="868680"/>
          </a:xfrm>
          <a:prstGeom prst="rect">
            <a:avLst/>
          </a:prstGeom>
          <a:noFill/>
          <a:ln/>
        </p:spPr>
        <p:txBody>
          <a:bodyPr wrap="square" lIns="0" tIns="0" rIns="0" bIns="0" rtlCol="0" anchor="t"/>
          <a:lstStyle/>
          <a:p>
            <a:pPr marL="0" indent="0">
              <a:buNone/>
            </a:pPr>
            <a:r>
              <a:rPr lang="en-US" sz="1500" dirty="0">
                <a:solidFill>
                  <a:srgbClr val="475569"/>
                </a:solidFill>
              </a:rPr>
              <a:t>Hybrid search over 100,000 historical records, with filters</a:t>
            </a:r>
            <a:endParaRPr lang="en-US" sz="1500" dirty="0"/>
          </a:p>
        </p:txBody>
      </p:sp>
      <p:sp>
        <p:nvSpPr>
          <p:cNvPr id="9" name="Shape 6"/>
          <p:cNvSpPr/>
          <p:nvPr/>
        </p:nvSpPr>
        <p:spPr>
          <a:xfrm>
            <a:off x="4325112" y="1600200"/>
            <a:ext cx="3502152" cy="1965960"/>
          </a:xfrm>
          <a:prstGeom prst="roundRect">
            <a:avLst>
              <a:gd name="adj" fmla="val 5581"/>
            </a:avLst>
          </a:prstGeom>
          <a:solidFill>
            <a:srgbClr val="FFFFFF"/>
          </a:solidFill>
          <a:ln w="12700">
            <a:solidFill>
              <a:srgbClr val="E2E8F0"/>
            </a:solidFill>
            <a:prstDash val="solid"/>
          </a:ln>
          <a:effectLst>
            <a:outerShdw blurRad="101600" dist="25400" dir="5400000" algn="bl" rotWithShape="0">
              <a:srgbClr val="0F172A">
                <a:alpha val="10000"/>
              </a:srgbClr>
            </a:outerShdw>
          </a:effectLst>
        </p:spPr>
      </p:sp>
      <p:sp>
        <p:nvSpPr>
          <p:cNvPr id="10" name="Shape 7"/>
          <p:cNvSpPr/>
          <p:nvPr/>
        </p:nvSpPr>
        <p:spPr>
          <a:xfrm>
            <a:off x="4599432" y="1874520"/>
            <a:ext cx="530352" cy="530352"/>
          </a:xfrm>
          <a:prstGeom prst="roundRect">
            <a:avLst>
              <a:gd name="adj" fmla="val 22000"/>
            </a:avLst>
          </a:prstGeom>
          <a:solidFill>
            <a:srgbClr val="FFEFE3"/>
          </a:solidFill>
          <a:ln w="12700">
            <a:solidFill>
              <a:srgbClr val="FFEFE3"/>
            </a:solidFill>
            <a:prstDash val="solid"/>
          </a:ln>
        </p:spPr>
      </p:sp>
      <p:pic>
        <p:nvPicPr>
          <p:cNvPr id="11" name="Image 1" descr="preencoded.png"/>
          <p:cNvPicPr>
            <a:picLocks noChangeAspect="1"/>
          </p:cNvPicPr>
          <p:nvPr/>
        </p:nvPicPr>
        <p:blipFill>
          <a:blip r:embed="rId4"/>
          <a:stretch>
            <a:fillRect/>
          </a:stretch>
        </p:blipFill>
        <p:spPr>
          <a:xfrm>
            <a:off x="4726716" y="2001804"/>
            <a:ext cx="275783" cy="275783"/>
          </a:xfrm>
          <a:prstGeom prst="rect">
            <a:avLst/>
          </a:prstGeom>
        </p:spPr>
      </p:pic>
      <p:sp>
        <p:nvSpPr>
          <p:cNvPr id="12" name="Text 8"/>
          <p:cNvSpPr txBox="1"/>
          <p:nvPr/>
        </p:nvSpPr>
        <p:spPr>
          <a:xfrm>
            <a:off x="5285232" y="1874520"/>
            <a:ext cx="2313432" cy="530352"/>
          </a:xfrm>
          <a:prstGeom prst="rect">
            <a:avLst/>
          </a:prstGeom>
          <a:noFill/>
          <a:ln/>
        </p:spPr>
        <p:txBody>
          <a:bodyPr wrap="square" lIns="0" tIns="0" rIns="0" bIns="0" rtlCol="0" anchor="ctr"/>
          <a:lstStyle/>
          <a:p>
            <a:pPr marL="0" indent="0">
              <a:buNone/>
            </a:pPr>
            <a:r>
              <a:rPr lang="en-US" sz="1900" b="1" dirty="0">
                <a:solidFill>
                  <a:srgbClr val="0F172A"/>
                </a:solidFill>
              </a:rPr>
              <a:t>Classification</a:t>
            </a:r>
            <a:endParaRPr lang="en-US" sz="1900" dirty="0"/>
          </a:p>
        </p:txBody>
      </p:sp>
      <p:sp>
        <p:nvSpPr>
          <p:cNvPr id="13" name="Text 9"/>
          <p:cNvSpPr txBox="1"/>
          <p:nvPr/>
        </p:nvSpPr>
        <p:spPr>
          <a:xfrm>
            <a:off x="4599432" y="2560320"/>
            <a:ext cx="2953512" cy="868680"/>
          </a:xfrm>
          <a:prstGeom prst="rect">
            <a:avLst/>
          </a:prstGeom>
          <a:noFill/>
          <a:ln/>
        </p:spPr>
        <p:txBody>
          <a:bodyPr wrap="square" lIns="0" tIns="0" rIns="0" bIns="0" rtlCol="0" anchor="t"/>
          <a:lstStyle/>
          <a:p>
            <a:pPr marL="0" indent="0">
              <a:buNone/>
            </a:pPr>
            <a:r>
              <a:rPr lang="en-US" sz="1500" dirty="0">
                <a:solidFill>
                  <a:srgbClr val="475569"/>
                </a:solidFill>
              </a:rPr>
              <a:t>8 incident types + NORMAL; asks for clarification when vague</a:t>
            </a:r>
            <a:endParaRPr lang="en-US" sz="1500" dirty="0"/>
          </a:p>
        </p:txBody>
      </p:sp>
      <p:sp>
        <p:nvSpPr>
          <p:cNvPr id="14" name="Shape 10"/>
          <p:cNvSpPr/>
          <p:nvPr/>
        </p:nvSpPr>
        <p:spPr>
          <a:xfrm>
            <a:off x="8101584" y="1600200"/>
            <a:ext cx="3502152" cy="1965960"/>
          </a:xfrm>
          <a:prstGeom prst="roundRect">
            <a:avLst>
              <a:gd name="adj" fmla="val 5581"/>
            </a:avLst>
          </a:prstGeom>
          <a:solidFill>
            <a:srgbClr val="FFFFFF"/>
          </a:solidFill>
          <a:ln w="12700">
            <a:solidFill>
              <a:srgbClr val="E2E8F0"/>
            </a:solidFill>
            <a:prstDash val="solid"/>
          </a:ln>
          <a:effectLst>
            <a:outerShdw blurRad="101600" dist="25400" dir="5400000" algn="bl" rotWithShape="0">
              <a:srgbClr val="0F172A">
                <a:alpha val="10000"/>
              </a:srgbClr>
            </a:outerShdw>
          </a:effectLst>
        </p:spPr>
      </p:sp>
      <p:sp>
        <p:nvSpPr>
          <p:cNvPr id="15" name="Shape 11"/>
          <p:cNvSpPr/>
          <p:nvPr/>
        </p:nvSpPr>
        <p:spPr>
          <a:xfrm>
            <a:off x="8375904" y="1874520"/>
            <a:ext cx="530352" cy="530352"/>
          </a:xfrm>
          <a:prstGeom prst="roundRect">
            <a:avLst>
              <a:gd name="adj" fmla="val 22000"/>
            </a:avLst>
          </a:prstGeom>
          <a:solidFill>
            <a:srgbClr val="E3F6EC"/>
          </a:solidFill>
          <a:ln w="12700">
            <a:solidFill>
              <a:srgbClr val="E3F6EC"/>
            </a:solidFill>
            <a:prstDash val="solid"/>
          </a:ln>
        </p:spPr>
      </p:sp>
      <p:pic>
        <p:nvPicPr>
          <p:cNvPr id="16" name="Image 2" descr="preencoded.png"/>
          <p:cNvPicPr>
            <a:picLocks noChangeAspect="1"/>
          </p:cNvPicPr>
          <p:nvPr/>
        </p:nvPicPr>
        <p:blipFill>
          <a:blip r:embed="rId5"/>
          <a:stretch>
            <a:fillRect/>
          </a:stretch>
        </p:blipFill>
        <p:spPr>
          <a:xfrm>
            <a:off x="8503188" y="2001804"/>
            <a:ext cx="275783" cy="275783"/>
          </a:xfrm>
          <a:prstGeom prst="rect">
            <a:avLst/>
          </a:prstGeom>
        </p:spPr>
      </p:pic>
      <p:sp>
        <p:nvSpPr>
          <p:cNvPr id="17" name="Text 12"/>
          <p:cNvSpPr txBox="1"/>
          <p:nvPr/>
        </p:nvSpPr>
        <p:spPr>
          <a:xfrm>
            <a:off x="9061704" y="1874520"/>
            <a:ext cx="2313432" cy="530352"/>
          </a:xfrm>
          <a:prstGeom prst="rect">
            <a:avLst/>
          </a:prstGeom>
          <a:noFill/>
          <a:ln/>
        </p:spPr>
        <p:txBody>
          <a:bodyPr wrap="square" lIns="0" tIns="0" rIns="0" bIns="0" rtlCol="0" anchor="ctr"/>
          <a:lstStyle/>
          <a:p>
            <a:pPr marL="0" indent="0">
              <a:buNone/>
            </a:pPr>
            <a:r>
              <a:rPr lang="en-US" sz="1900" b="1" dirty="0">
                <a:solidFill>
                  <a:srgbClr val="0F172A"/>
                </a:solidFill>
              </a:rPr>
              <a:t>Risk and priority</a:t>
            </a:r>
            <a:endParaRPr lang="en-US" sz="1900" dirty="0"/>
          </a:p>
        </p:txBody>
      </p:sp>
      <p:sp>
        <p:nvSpPr>
          <p:cNvPr id="18" name="Text 13"/>
          <p:cNvSpPr txBox="1"/>
          <p:nvPr/>
        </p:nvSpPr>
        <p:spPr>
          <a:xfrm>
            <a:off x="8375904" y="2560320"/>
            <a:ext cx="2953512" cy="868680"/>
          </a:xfrm>
          <a:prstGeom prst="rect">
            <a:avLst/>
          </a:prstGeom>
          <a:noFill/>
          <a:ln/>
        </p:spPr>
        <p:txBody>
          <a:bodyPr wrap="square" lIns="0" tIns="0" rIns="0" bIns="0" rtlCol="0" anchor="t"/>
          <a:lstStyle/>
          <a:p>
            <a:pPr marL="0" indent="0">
              <a:buNone/>
            </a:pPr>
            <a:r>
              <a:rPr lang="en-US" sz="1500" dirty="0">
                <a:solidFill>
                  <a:srgbClr val="475569"/>
                </a:solidFill>
              </a:rPr>
              <a:t>ML fault risk, P1–P4 priority with reasons, impact level</a:t>
            </a:r>
            <a:endParaRPr lang="en-US" sz="1500" dirty="0"/>
          </a:p>
        </p:txBody>
      </p:sp>
      <p:sp>
        <p:nvSpPr>
          <p:cNvPr id="19" name="Shape 14"/>
          <p:cNvSpPr/>
          <p:nvPr/>
        </p:nvSpPr>
        <p:spPr>
          <a:xfrm>
            <a:off x="548640" y="3840480"/>
            <a:ext cx="3502152" cy="1965960"/>
          </a:xfrm>
          <a:prstGeom prst="roundRect">
            <a:avLst>
              <a:gd name="adj" fmla="val 5581"/>
            </a:avLst>
          </a:prstGeom>
          <a:solidFill>
            <a:srgbClr val="FFFFFF"/>
          </a:solidFill>
          <a:ln w="12700">
            <a:solidFill>
              <a:srgbClr val="E2E8F0"/>
            </a:solidFill>
            <a:prstDash val="solid"/>
          </a:ln>
          <a:effectLst>
            <a:outerShdw blurRad="101600" dist="25400" dir="5400000" algn="bl" rotWithShape="0">
              <a:srgbClr val="0F172A">
                <a:alpha val="10000"/>
              </a:srgbClr>
            </a:outerShdw>
          </a:effectLst>
        </p:spPr>
      </p:sp>
      <p:sp>
        <p:nvSpPr>
          <p:cNvPr id="20" name="Shape 15"/>
          <p:cNvSpPr/>
          <p:nvPr/>
        </p:nvSpPr>
        <p:spPr>
          <a:xfrm>
            <a:off x="822960" y="4114800"/>
            <a:ext cx="530352" cy="530352"/>
          </a:xfrm>
          <a:prstGeom prst="roundRect">
            <a:avLst>
              <a:gd name="adj" fmla="val 22000"/>
            </a:avLst>
          </a:prstGeom>
          <a:solidFill>
            <a:srgbClr val="FFEFE3"/>
          </a:solidFill>
          <a:ln w="12700">
            <a:solidFill>
              <a:srgbClr val="FFEFE3"/>
            </a:solidFill>
            <a:prstDash val="solid"/>
          </a:ln>
        </p:spPr>
      </p:sp>
      <p:pic>
        <p:nvPicPr>
          <p:cNvPr id="21" name="Image 3" descr="preencoded.png"/>
          <p:cNvPicPr>
            <a:picLocks noChangeAspect="1"/>
          </p:cNvPicPr>
          <p:nvPr/>
        </p:nvPicPr>
        <p:blipFill>
          <a:blip r:embed="rId6"/>
          <a:stretch>
            <a:fillRect/>
          </a:stretch>
        </p:blipFill>
        <p:spPr>
          <a:xfrm>
            <a:off x="950244" y="4242084"/>
            <a:ext cx="275783" cy="275783"/>
          </a:xfrm>
          <a:prstGeom prst="rect">
            <a:avLst/>
          </a:prstGeom>
        </p:spPr>
      </p:pic>
      <p:sp>
        <p:nvSpPr>
          <p:cNvPr id="22" name="Text 16"/>
          <p:cNvSpPr txBox="1"/>
          <p:nvPr/>
        </p:nvSpPr>
        <p:spPr>
          <a:xfrm>
            <a:off x="1508760" y="4114800"/>
            <a:ext cx="2313432" cy="530352"/>
          </a:xfrm>
          <a:prstGeom prst="rect">
            <a:avLst/>
          </a:prstGeom>
          <a:noFill/>
          <a:ln/>
        </p:spPr>
        <p:txBody>
          <a:bodyPr wrap="square" lIns="0" tIns="0" rIns="0" bIns="0" rtlCol="0" anchor="ctr"/>
          <a:lstStyle/>
          <a:p>
            <a:pPr marL="0" indent="0">
              <a:buNone/>
            </a:pPr>
            <a:r>
              <a:rPr lang="en-US" sz="1900" b="1" dirty="0">
                <a:solidFill>
                  <a:srgbClr val="0F172A"/>
                </a:solidFill>
              </a:rPr>
              <a:t>Root causes</a:t>
            </a:r>
            <a:endParaRPr lang="en-US" sz="1900" dirty="0"/>
          </a:p>
        </p:txBody>
      </p:sp>
      <p:sp>
        <p:nvSpPr>
          <p:cNvPr id="23" name="Text 17"/>
          <p:cNvSpPr txBox="1"/>
          <p:nvPr/>
        </p:nvSpPr>
        <p:spPr>
          <a:xfrm>
            <a:off x="822960" y="4800600"/>
            <a:ext cx="2953512" cy="868680"/>
          </a:xfrm>
          <a:prstGeom prst="rect">
            <a:avLst/>
          </a:prstGeom>
          <a:noFill/>
          <a:ln/>
        </p:spPr>
        <p:txBody>
          <a:bodyPr wrap="square" lIns="0" tIns="0" rIns="0" bIns="0" rtlCol="0" anchor="t"/>
          <a:lstStyle/>
          <a:p>
            <a:pPr marL="0" indent="0">
              <a:buNone/>
            </a:pPr>
            <a:r>
              <a:rPr lang="en-US" sz="1500" dirty="0">
                <a:solidFill>
                  <a:srgbClr val="475569"/>
                </a:solidFill>
              </a:rPr>
              <a:t>Ranked hypotheses, each with evidence type and citations</a:t>
            </a:r>
            <a:endParaRPr lang="en-US" sz="1500" dirty="0"/>
          </a:p>
        </p:txBody>
      </p:sp>
      <p:sp>
        <p:nvSpPr>
          <p:cNvPr id="24" name="Shape 18"/>
          <p:cNvSpPr/>
          <p:nvPr/>
        </p:nvSpPr>
        <p:spPr>
          <a:xfrm>
            <a:off x="4325112" y="3840480"/>
            <a:ext cx="3502152" cy="1965960"/>
          </a:xfrm>
          <a:prstGeom prst="roundRect">
            <a:avLst>
              <a:gd name="adj" fmla="val 5581"/>
            </a:avLst>
          </a:prstGeom>
          <a:solidFill>
            <a:srgbClr val="FFFFFF"/>
          </a:solidFill>
          <a:ln w="12700">
            <a:solidFill>
              <a:srgbClr val="E2E8F0"/>
            </a:solidFill>
            <a:prstDash val="solid"/>
          </a:ln>
          <a:effectLst>
            <a:outerShdw blurRad="101600" dist="25400" dir="5400000" algn="bl" rotWithShape="0">
              <a:srgbClr val="0F172A">
                <a:alpha val="10000"/>
              </a:srgbClr>
            </a:outerShdw>
          </a:effectLst>
        </p:spPr>
      </p:sp>
      <p:sp>
        <p:nvSpPr>
          <p:cNvPr id="25" name="Shape 19"/>
          <p:cNvSpPr/>
          <p:nvPr/>
        </p:nvSpPr>
        <p:spPr>
          <a:xfrm>
            <a:off x="4599432" y="4114800"/>
            <a:ext cx="530352" cy="530352"/>
          </a:xfrm>
          <a:prstGeom prst="roundRect">
            <a:avLst>
              <a:gd name="adj" fmla="val 22000"/>
            </a:avLst>
          </a:prstGeom>
          <a:solidFill>
            <a:srgbClr val="FFEFE3"/>
          </a:solidFill>
          <a:ln w="12700">
            <a:solidFill>
              <a:srgbClr val="FFEFE3"/>
            </a:solidFill>
            <a:prstDash val="solid"/>
          </a:ln>
        </p:spPr>
      </p:sp>
      <p:pic>
        <p:nvPicPr>
          <p:cNvPr id="26" name="Image 4" descr="preencoded.png"/>
          <p:cNvPicPr>
            <a:picLocks noChangeAspect="1"/>
          </p:cNvPicPr>
          <p:nvPr/>
        </p:nvPicPr>
        <p:blipFill>
          <a:blip r:embed="rId7"/>
          <a:stretch>
            <a:fillRect/>
          </a:stretch>
        </p:blipFill>
        <p:spPr>
          <a:xfrm>
            <a:off x="4726716" y="4242084"/>
            <a:ext cx="275783" cy="275783"/>
          </a:xfrm>
          <a:prstGeom prst="rect">
            <a:avLst/>
          </a:prstGeom>
        </p:spPr>
      </p:pic>
      <p:sp>
        <p:nvSpPr>
          <p:cNvPr id="27" name="Text 20"/>
          <p:cNvSpPr txBox="1"/>
          <p:nvPr/>
        </p:nvSpPr>
        <p:spPr>
          <a:xfrm>
            <a:off x="5285232" y="4114800"/>
            <a:ext cx="2313432" cy="530352"/>
          </a:xfrm>
          <a:prstGeom prst="rect">
            <a:avLst/>
          </a:prstGeom>
          <a:noFill/>
          <a:ln/>
        </p:spPr>
        <p:txBody>
          <a:bodyPr wrap="square" lIns="0" tIns="0" rIns="0" bIns="0" rtlCol="0" anchor="ctr"/>
          <a:lstStyle/>
          <a:p>
            <a:pPr marL="0" indent="0">
              <a:buNone/>
            </a:pPr>
            <a:r>
              <a:rPr lang="en-US" sz="1900" b="1" dirty="0">
                <a:solidFill>
                  <a:srgbClr val="0F172A"/>
                </a:solidFill>
              </a:rPr>
              <a:t>Actions</a:t>
            </a:r>
            <a:endParaRPr lang="en-US" sz="1900" dirty="0"/>
          </a:p>
        </p:txBody>
      </p:sp>
      <p:sp>
        <p:nvSpPr>
          <p:cNvPr id="28" name="Text 21"/>
          <p:cNvSpPr txBox="1"/>
          <p:nvPr/>
        </p:nvSpPr>
        <p:spPr>
          <a:xfrm>
            <a:off x="4599432" y="4800600"/>
            <a:ext cx="2953512" cy="868680"/>
          </a:xfrm>
          <a:prstGeom prst="rect">
            <a:avLst/>
          </a:prstGeom>
          <a:noFill/>
          <a:ln/>
        </p:spPr>
        <p:txBody>
          <a:bodyPr wrap="square" lIns="0" tIns="0" rIns="0" bIns="0" rtlCol="0" anchor="t"/>
          <a:lstStyle/>
          <a:p>
            <a:pPr marL="0" indent="0">
              <a:buNone/>
            </a:pPr>
            <a:r>
              <a:rPr lang="en-US" sz="1500" dirty="0">
                <a:solidFill>
                  <a:srgbClr val="475569"/>
                </a:solidFill>
              </a:rPr>
              <a:t>Ordered, phased, with verification and change-approval flags</a:t>
            </a:r>
            <a:endParaRPr lang="en-US" sz="1500" dirty="0"/>
          </a:p>
        </p:txBody>
      </p:sp>
      <p:sp>
        <p:nvSpPr>
          <p:cNvPr id="29" name="Shape 22"/>
          <p:cNvSpPr/>
          <p:nvPr/>
        </p:nvSpPr>
        <p:spPr>
          <a:xfrm>
            <a:off x="8101584" y="3840480"/>
            <a:ext cx="3502152" cy="1965960"/>
          </a:xfrm>
          <a:prstGeom prst="roundRect">
            <a:avLst>
              <a:gd name="adj" fmla="val 5581"/>
            </a:avLst>
          </a:prstGeom>
          <a:solidFill>
            <a:srgbClr val="FFFFFF"/>
          </a:solidFill>
          <a:ln w="12700">
            <a:solidFill>
              <a:srgbClr val="E2E8F0"/>
            </a:solidFill>
            <a:prstDash val="solid"/>
          </a:ln>
          <a:effectLst>
            <a:outerShdw blurRad="101600" dist="25400" dir="5400000" algn="bl" rotWithShape="0">
              <a:srgbClr val="0F172A">
                <a:alpha val="10000"/>
              </a:srgbClr>
            </a:outerShdw>
          </a:effectLst>
        </p:spPr>
      </p:sp>
      <p:sp>
        <p:nvSpPr>
          <p:cNvPr id="30" name="Shape 23"/>
          <p:cNvSpPr/>
          <p:nvPr/>
        </p:nvSpPr>
        <p:spPr>
          <a:xfrm>
            <a:off x="8375904" y="4114800"/>
            <a:ext cx="530352" cy="530352"/>
          </a:xfrm>
          <a:prstGeom prst="roundRect">
            <a:avLst>
              <a:gd name="adj" fmla="val 22000"/>
            </a:avLst>
          </a:prstGeom>
          <a:solidFill>
            <a:srgbClr val="FFEFE3"/>
          </a:solidFill>
          <a:ln w="12700">
            <a:solidFill>
              <a:srgbClr val="FFEFE3"/>
            </a:solidFill>
            <a:prstDash val="solid"/>
          </a:ln>
        </p:spPr>
      </p:sp>
      <p:pic>
        <p:nvPicPr>
          <p:cNvPr id="31" name="Image 5" descr="preencoded.png"/>
          <p:cNvPicPr>
            <a:picLocks noChangeAspect="1"/>
          </p:cNvPicPr>
          <p:nvPr/>
        </p:nvPicPr>
        <p:blipFill>
          <a:blip r:embed="rId8"/>
          <a:stretch>
            <a:fillRect/>
          </a:stretch>
        </p:blipFill>
        <p:spPr>
          <a:xfrm>
            <a:off x="8503188" y="4242084"/>
            <a:ext cx="275783" cy="275783"/>
          </a:xfrm>
          <a:prstGeom prst="rect">
            <a:avLst/>
          </a:prstGeom>
        </p:spPr>
      </p:pic>
      <p:sp>
        <p:nvSpPr>
          <p:cNvPr id="32" name="Text 24"/>
          <p:cNvSpPr txBox="1"/>
          <p:nvPr/>
        </p:nvSpPr>
        <p:spPr>
          <a:xfrm>
            <a:off x="9061704" y="4114800"/>
            <a:ext cx="2313432" cy="530352"/>
          </a:xfrm>
          <a:prstGeom prst="rect">
            <a:avLst/>
          </a:prstGeom>
          <a:noFill/>
          <a:ln/>
        </p:spPr>
        <p:txBody>
          <a:bodyPr wrap="square" lIns="0" tIns="0" rIns="0" bIns="0" rtlCol="0" anchor="ctr"/>
          <a:lstStyle/>
          <a:p>
            <a:pPr marL="0" indent="0">
              <a:buNone/>
            </a:pPr>
            <a:r>
              <a:rPr lang="en-US" sz="1900" b="1" dirty="0">
                <a:solidFill>
                  <a:srgbClr val="0F172A"/>
                </a:solidFill>
              </a:rPr>
              <a:t>Validation</a:t>
            </a:r>
            <a:endParaRPr lang="en-US" sz="1900" dirty="0"/>
          </a:p>
        </p:txBody>
      </p:sp>
      <p:sp>
        <p:nvSpPr>
          <p:cNvPr id="33" name="Text 25"/>
          <p:cNvSpPr txBox="1"/>
          <p:nvPr/>
        </p:nvSpPr>
        <p:spPr>
          <a:xfrm>
            <a:off x="8375904" y="4800600"/>
            <a:ext cx="2953512" cy="868680"/>
          </a:xfrm>
          <a:prstGeom prst="rect">
            <a:avLst/>
          </a:prstGeom>
          <a:noFill/>
          <a:ln/>
        </p:spPr>
        <p:txBody>
          <a:bodyPr wrap="square" lIns="0" tIns="0" rIns="0" bIns="0" rtlCol="0" anchor="t"/>
          <a:lstStyle/>
          <a:p>
            <a:pPr marL="0" indent="0">
              <a:buNone/>
            </a:pPr>
            <a:r>
              <a:rPr lang="en-US" sz="1500" dirty="0">
                <a:solidFill>
                  <a:srgbClr val="475569"/>
                </a:solidFill>
              </a:rPr>
              <a:t>An LLM judge + rule checks; one revision; low-confidence flag</a:t>
            </a:r>
            <a:endParaRPr lang="en-US" sz="1500" dirty="0"/>
          </a:p>
        </p:txBody>
      </p:sp>
      <p:sp>
        <p:nvSpPr>
          <p:cNvPr id="34" name="Shape 26"/>
          <p:cNvSpPr/>
          <p:nvPr/>
        </p:nvSpPr>
        <p:spPr>
          <a:xfrm>
            <a:off x="548640" y="6053328"/>
            <a:ext cx="201168" cy="201168"/>
          </a:xfrm>
          <a:prstGeom prst="roundRect">
            <a:avLst>
              <a:gd name="adj" fmla="val 22727"/>
            </a:avLst>
          </a:prstGeom>
          <a:solidFill>
            <a:srgbClr val="E3F6EC"/>
          </a:solidFill>
          <a:ln w="15875">
            <a:solidFill>
              <a:srgbClr val="0E9F6E"/>
            </a:solidFill>
            <a:prstDash val="solid"/>
          </a:ln>
        </p:spPr>
      </p:sp>
      <p:sp>
        <p:nvSpPr>
          <p:cNvPr id="35" name="Text 27"/>
          <p:cNvSpPr txBox="1"/>
          <p:nvPr/>
        </p:nvSpPr>
        <p:spPr>
          <a:xfrm>
            <a:off x="841248" y="6007608"/>
            <a:ext cx="2011680" cy="292608"/>
          </a:xfrm>
          <a:prstGeom prst="rect">
            <a:avLst/>
          </a:prstGeom>
          <a:noFill/>
          <a:ln/>
        </p:spPr>
        <p:txBody>
          <a:bodyPr wrap="square" lIns="0" tIns="0" rIns="0" bIns="0" rtlCol="0" anchor="ctr"/>
          <a:lstStyle/>
          <a:p>
            <a:pPr marL="0" indent="0">
              <a:buNone/>
            </a:pPr>
            <a:r>
              <a:rPr lang="en-US" sz="1200" dirty="0">
                <a:solidFill>
                  <a:srgbClr val="64748B"/>
                </a:solidFill>
              </a:rPr>
              <a:t>Deterministic (no LLM)</a:t>
            </a:r>
            <a:endParaRPr lang="en-US" sz="1200" dirty="0"/>
          </a:p>
        </p:txBody>
      </p:sp>
      <p:sp>
        <p:nvSpPr>
          <p:cNvPr id="36" name="Shape 28"/>
          <p:cNvSpPr/>
          <p:nvPr/>
        </p:nvSpPr>
        <p:spPr>
          <a:xfrm>
            <a:off x="2651760" y="6053328"/>
            <a:ext cx="201168" cy="201168"/>
          </a:xfrm>
          <a:prstGeom prst="roundRect">
            <a:avLst>
              <a:gd name="adj" fmla="val 22727"/>
            </a:avLst>
          </a:prstGeom>
          <a:solidFill>
            <a:srgbClr val="FFEFE3"/>
          </a:solidFill>
          <a:ln w="15875">
            <a:solidFill>
              <a:srgbClr val="EA580C"/>
            </a:solidFill>
            <a:prstDash val="solid"/>
          </a:ln>
        </p:spPr>
      </p:sp>
      <p:sp>
        <p:nvSpPr>
          <p:cNvPr id="37" name="Text 29"/>
          <p:cNvSpPr txBox="1"/>
          <p:nvPr/>
        </p:nvSpPr>
        <p:spPr>
          <a:xfrm>
            <a:off x="2944368" y="6007608"/>
            <a:ext cx="2011680" cy="292608"/>
          </a:xfrm>
          <a:prstGeom prst="rect">
            <a:avLst/>
          </a:prstGeom>
          <a:noFill/>
          <a:ln/>
        </p:spPr>
        <p:txBody>
          <a:bodyPr wrap="square" lIns="0" tIns="0" rIns="0" bIns="0" rtlCol="0" anchor="ctr"/>
          <a:lstStyle/>
          <a:p>
            <a:pPr marL="0" indent="0">
              <a:buNone/>
            </a:pPr>
            <a:r>
              <a:rPr lang="en-US" sz="1200" dirty="0">
                <a:solidFill>
                  <a:srgbClr val="64748B"/>
                </a:solidFill>
              </a:rPr>
              <a:t>LLM component</a:t>
            </a:r>
            <a:endParaRPr lang="en-US" sz="1200" dirty="0"/>
          </a:p>
        </p:txBody>
      </p:sp>
      <p:sp>
        <p:nvSpPr>
          <p:cNvPr id="38"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64748B"/>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229600" cy="274320"/>
          </a:xfrm>
          <a:prstGeom prst="rect">
            <a:avLst/>
          </a:prstGeom>
          <a:noFill/>
          <a:ln/>
        </p:spPr>
        <p:txBody>
          <a:bodyPr wrap="square" lIns="0" tIns="0" rIns="0" bIns="0" rtlCol="0" anchor="ctr"/>
          <a:lstStyle/>
          <a:p>
            <a:pPr marL="0" indent="0">
              <a:buNone/>
            </a:pPr>
            <a:r>
              <a:rPr lang="en-US" sz="1200" b="1" kern="0" spc="200" dirty="0">
                <a:solidFill>
                  <a:srgbClr val="EA580C"/>
                </a:solidFill>
              </a:rPr>
              <a:t>ARCHITECTURE</a:t>
            </a:r>
            <a:endParaRPr lang="en-US" sz="1200" dirty="0"/>
          </a:p>
        </p:txBody>
      </p:sp>
      <p:grpSp>
        <p:nvGrpSpPr>
          <p:cNvPr id="15" name="Group 14">
            <a:extLst>
              <a:ext uri="{FF2B5EF4-FFF2-40B4-BE49-F238E27FC236}">
                <a16:creationId xmlns:a16="http://schemas.microsoft.com/office/drawing/2014/main" id="{FBBDB601-F876-27B8-D523-F9AA2D57D6EA}"/>
              </a:ext>
            </a:extLst>
          </p:cNvPr>
          <p:cNvGrpSpPr/>
          <p:nvPr/>
        </p:nvGrpSpPr>
        <p:grpSpPr>
          <a:xfrm>
            <a:off x="7121652" y="347472"/>
            <a:ext cx="5070348" cy="274320"/>
            <a:chOff x="7086600" y="795528"/>
            <a:chExt cx="5070348" cy="274320"/>
          </a:xfrm>
        </p:grpSpPr>
        <p:grpSp>
          <p:nvGrpSpPr>
            <p:cNvPr id="14" name="Group 13">
              <a:extLst>
                <a:ext uri="{FF2B5EF4-FFF2-40B4-BE49-F238E27FC236}">
                  <a16:creationId xmlns:a16="http://schemas.microsoft.com/office/drawing/2014/main" id="{53E1399B-EE7D-938A-5DD6-0E9FE9189734}"/>
                </a:ext>
              </a:extLst>
            </p:cNvPr>
            <p:cNvGrpSpPr/>
            <p:nvPr/>
          </p:nvGrpSpPr>
          <p:grpSpPr>
            <a:xfrm>
              <a:off x="7086600" y="795528"/>
              <a:ext cx="4288536" cy="274320"/>
              <a:chOff x="7086600" y="795528"/>
              <a:chExt cx="4288536" cy="274320"/>
            </a:xfrm>
          </p:grpSpPr>
          <p:sp>
            <p:nvSpPr>
              <p:cNvPr id="4" name="Shape 2"/>
              <p:cNvSpPr/>
              <p:nvPr/>
            </p:nvSpPr>
            <p:spPr>
              <a:xfrm>
                <a:off x="7086600" y="841248"/>
                <a:ext cx="182880" cy="182880"/>
              </a:xfrm>
              <a:prstGeom prst="roundRect">
                <a:avLst>
                  <a:gd name="adj" fmla="val 25000"/>
                </a:avLst>
              </a:prstGeom>
              <a:solidFill>
                <a:srgbClr val="EAF1FF"/>
              </a:solidFill>
              <a:ln w="15875">
                <a:solidFill>
                  <a:srgbClr val="2563EB"/>
                </a:solidFill>
                <a:prstDash val="solid"/>
              </a:ln>
            </p:spPr>
          </p:sp>
          <p:sp>
            <p:nvSpPr>
              <p:cNvPr id="5" name="Text 3"/>
              <p:cNvSpPr txBox="1"/>
              <p:nvPr/>
            </p:nvSpPr>
            <p:spPr>
              <a:xfrm>
                <a:off x="7342632" y="795528"/>
                <a:ext cx="1097280" cy="274320"/>
              </a:xfrm>
              <a:prstGeom prst="rect">
                <a:avLst/>
              </a:prstGeom>
              <a:noFill/>
              <a:ln/>
            </p:spPr>
            <p:txBody>
              <a:bodyPr wrap="square" lIns="0" tIns="0" rIns="0" bIns="0" rtlCol="0" anchor="ctr"/>
              <a:lstStyle/>
              <a:p>
                <a:pPr marL="0" indent="0">
                  <a:buNone/>
                </a:pPr>
                <a:r>
                  <a:rPr lang="en-US" sz="1200" dirty="0">
                    <a:solidFill>
                      <a:srgbClr val="64748B"/>
                    </a:solidFill>
                  </a:rPr>
                  <a:t>Offline build</a:t>
                </a:r>
                <a:endParaRPr lang="en-US" sz="1200" dirty="0"/>
              </a:p>
            </p:txBody>
          </p:sp>
          <p:sp>
            <p:nvSpPr>
              <p:cNvPr id="6" name="Shape 4"/>
              <p:cNvSpPr/>
              <p:nvPr/>
            </p:nvSpPr>
            <p:spPr>
              <a:xfrm>
                <a:off x="8554212" y="841248"/>
                <a:ext cx="182880" cy="182880"/>
              </a:xfrm>
              <a:prstGeom prst="roundRect">
                <a:avLst>
                  <a:gd name="adj" fmla="val 25000"/>
                </a:avLst>
              </a:prstGeom>
              <a:solidFill>
                <a:srgbClr val="E3F6EC"/>
              </a:solidFill>
              <a:ln w="15875">
                <a:solidFill>
                  <a:srgbClr val="0E9F6E"/>
                </a:solidFill>
                <a:prstDash val="solid"/>
              </a:ln>
            </p:spPr>
          </p:sp>
          <p:sp>
            <p:nvSpPr>
              <p:cNvPr id="7" name="Text 5"/>
              <p:cNvSpPr txBox="1"/>
              <p:nvPr/>
            </p:nvSpPr>
            <p:spPr>
              <a:xfrm>
                <a:off x="8810244" y="795528"/>
                <a:ext cx="1097280" cy="274320"/>
              </a:xfrm>
              <a:prstGeom prst="rect">
                <a:avLst/>
              </a:prstGeom>
              <a:noFill/>
              <a:ln/>
            </p:spPr>
            <p:txBody>
              <a:bodyPr wrap="square" lIns="0" tIns="0" rIns="0" bIns="0" rtlCol="0" anchor="ctr"/>
              <a:lstStyle/>
              <a:p>
                <a:pPr marL="0" indent="0">
                  <a:buNone/>
                </a:pPr>
                <a:r>
                  <a:rPr lang="en-US" sz="1200" dirty="0">
                    <a:solidFill>
                      <a:srgbClr val="64748B"/>
                    </a:solidFill>
                  </a:rPr>
                  <a:t>Deterministic</a:t>
                </a:r>
                <a:endParaRPr lang="en-US" sz="1200" dirty="0"/>
              </a:p>
            </p:txBody>
          </p:sp>
          <p:sp>
            <p:nvSpPr>
              <p:cNvPr id="8" name="Shape 6"/>
              <p:cNvSpPr/>
              <p:nvPr/>
            </p:nvSpPr>
            <p:spPr>
              <a:xfrm>
                <a:off x="10021824" y="841248"/>
                <a:ext cx="182880" cy="182880"/>
              </a:xfrm>
              <a:prstGeom prst="roundRect">
                <a:avLst>
                  <a:gd name="adj" fmla="val 25000"/>
                </a:avLst>
              </a:prstGeom>
              <a:solidFill>
                <a:srgbClr val="FFEFE3"/>
              </a:solidFill>
              <a:ln w="15875">
                <a:solidFill>
                  <a:srgbClr val="EA580C"/>
                </a:solidFill>
                <a:prstDash val="solid"/>
              </a:ln>
            </p:spPr>
          </p:sp>
          <p:sp>
            <p:nvSpPr>
              <p:cNvPr id="9" name="Text 7"/>
              <p:cNvSpPr txBox="1"/>
              <p:nvPr/>
            </p:nvSpPr>
            <p:spPr>
              <a:xfrm>
                <a:off x="10277856" y="795528"/>
                <a:ext cx="1097280" cy="274320"/>
              </a:xfrm>
              <a:prstGeom prst="rect">
                <a:avLst/>
              </a:prstGeom>
              <a:noFill/>
              <a:ln/>
            </p:spPr>
            <p:txBody>
              <a:bodyPr wrap="square" lIns="0" tIns="0" rIns="0" bIns="0" rtlCol="0" anchor="ctr"/>
              <a:lstStyle/>
              <a:p>
                <a:pPr marL="0" indent="0">
                  <a:buNone/>
                </a:pPr>
                <a:r>
                  <a:rPr lang="en-US" sz="1200" dirty="0">
                    <a:solidFill>
                      <a:srgbClr val="64748B"/>
                    </a:solidFill>
                  </a:rPr>
                  <a:t>LLM</a:t>
                </a:r>
                <a:endParaRPr lang="en-US" sz="1200" dirty="0"/>
              </a:p>
            </p:txBody>
          </p:sp>
          <p:sp>
            <p:nvSpPr>
              <p:cNvPr id="10" name="Shape 8"/>
              <p:cNvSpPr/>
              <p:nvPr/>
            </p:nvSpPr>
            <p:spPr>
              <a:xfrm>
                <a:off x="10803636" y="841248"/>
                <a:ext cx="182880" cy="182880"/>
              </a:xfrm>
              <a:prstGeom prst="roundRect">
                <a:avLst>
                  <a:gd name="adj" fmla="val 25000"/>
                </a:avLst>
              </a:prstGeom>
              <a:solidFill>
                <a:srgbClr val="EEF2F6"/>
              </a:solidFill>
              <a:ln w="15875">
                <a:solidFill>
                  <a:srgbClr val="64748B"/>
                </a:solidFill>
                <a:prstDash val="solid"/>
              </a:ln>
            </p:spPr>
          </p:sp>
        </p:grpSp>
        <p:sp>
          <p:nvSpPr>
            <p:cNvPr id="11" name="Text 9"/>
            <p:cNvSpPr txBox="1"/>
            <p:nvPr/>
          </p:nvSpPr>
          <p:spPr>
            <a:xfrm>
              <a:off x="11059668" y="795528"/>
              <a:ext cx="1097280" cy="274320"/>
            </a:xfrm>
            <a:prstGeom prst="rect">
              <a:avLst/>
            </a:prstGeom>
            <a:noFill/>
            <a:ln/>
          </p:spPr>
          <p:txBody>
            <a:bodyPr wrap="square" lIns="0" tIns="0" rIns="0" bIns="0" rtlCol="0" anchor="ctr"/>
            <a:lstStyle/>
            <a:p>
              <a:pPr marL="0" indent="0">
                <a:buNone/>
              </a:pPr>
              <a:r>
                <a:rPr lang="en-US" sz="1200" dirty="0">
                  <a:solidFill>
                    <a:srgbClr val="64748B"/>
                  </a:solidFill>
                </a:rPr>
                <a:t>Storage</a:t>
              </a:r>
              <a:endParaRPr lang="en-US" sz="1200" dirty="0"/>
            </a:p>
          </p:txBody>
        </p:sp>
      </p:grpSp>
      <p:pic>
        <p:nvPicPr>
          <p:cNvPr id="12" name="Image 0" descr="/tmp/claude-0/-home-claude/3aa52c2f-86aa-5806-a7df-445b60452e3d/scratchpad/deck/arch_slide.png"/>
          <p:cNvPicPr>
            <a:picLocks noChangeAspect="1"/>
          </p:cNvPicPr>
          <p:nvPr/>
        </p:nvPicPr>
        <p:blipFill>
          <a:blip r:embed="rId3"/>
          <a:stretch>
            <a:fillRect/>
          </a:stretch>
        </p:blipFill>
        <p:spPr>
          <a:xfrm>
            <a:off x="1208019" y="782782"/>
            <a:ext cx="9775961" cy="5572298"/>
          </a:xfrm>
          <a:prstGeom prst="rect">
            <a:avLst/>
          </a:prstGeom>
        </p:spPr>
      </p:pic>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64748B"/>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229600" cy="274320"/>
          </a:xfrm>
          <a:prstGeom prst="rect">
            <a:avLst/>
          </a:prstGeom>
          <a:noFill/>
          <a:ln/>
        </p:spPr>
        <p:txBody>
          <a:bodyPr wrap="square" lIns="0" tIns="0" rIns="0" bIns="0" rtlCol="0" anchor="ctr"/>
          <a:lstStyle/>
          <a:p>
            <a:pPr marL="0" indent="0">
              <a:buNone/>
            </a:pPr>
            <a:r>
              <a:rPr lang="en-US" sz="1200" b="1" kern="0" spc="200" dirty="0">
                <a:solidFill>
                  <a:srgbClr val="EA580C"/>
                </a:solidFill>
              </a:rPr>
              <a:t>DATA FLOW</a:t>
            </a:r>
            <a:endParaRPr lang="en-US" sz="1200" dirty="0"/>
          </a:p>
        </p:txBody>
      </p:sp>
      <p:sp>
        <p:nvSpPr>
          <p:cNvPr id="3" name="Text 0"/>
          <p:cNvSpPr>
            <a:spLocks noGrp="1"/>
          </p:cNvSpPr>
          <p:nvPr>
            <p:ph type="title" idx="101" hasCustomPrompt="1"/>
          </p:nvPr>
        </p:nvSpPr>
        <p:spPr>
          <a:xfrm>
            <a:off x="548640" y="621792"/>
            <a:ext cx="11064240" cy="640080"/>
          </a:xfrm>
          <a:prstGeom prst="rect">
            <a:avLst/>
          </a:prstGeom>
          <a:noFill/>
          <a:ln/>
        </p:spPr>
        <p:txBody>
          <a:bodyPr wrap="square" lIns="0" tIns="0" rIns="0" bIns="0" rtlCol="0" anchor="ctr"/>
          <a:lstStyle/>
          <a:p>
            <a:pPr marL="0" indent="0" algn="l">
              <a:buNone/>
            </a:pPr>
            <a:r>
              <a:rPr lang="en-US" sz="3200" b="1" dirty="0">
                <a:solidFill>
                  <a:srgbClr val="0B2545"/>
                </a:solidFill>
              </a:rPr>
              <a:t>Data flow: built once, used on every request</a:t>
            </a:r>
            <a:endParaRPr lang="en-US" sz="3200" dirty="0"/>
          </a:p>
        </p:txBody>
      </p:sp>
      <p:sp>
        <p:nvSpPr>
          <p:cNvPr id="4" name="Shape 2"/>
          <p:cNvSpPr/>
          <p:nvPr/>
        </p:nvSpPr>
        <p:spPr>
          <a:xfrm>
            <a:off x="548640" y="1508760"/>
            <a:ext cx="1600200" cy="1600200"/>
          </a:xfrm>
          <a:prstGeom prst="roundRect">
            <a:avLst>
              <a:gd name="adj" fmla="val 6857"/>
            </a:avLst>
          </a:prstGeom>
          <a:solidFill>
            <a:srgbClr val="EAF1FF"/>
          </a:solidFill>
          <a:ln w="12700">
            <a:solidFill>
              <a:srgbClr val="EAF1FF"/>
            </a:solidFill>
            <a:prstDash val="solid"/>
          </a:ln>
        </p:spPr>
      </p:sp>
      <p:sp>
        <p:nvSpPr>
          <p:cNvPr id="5" name="Text 3"/>
          <p:cNvSpPr txBox="1"/>
          <p:nvPr/>
        </p:nvSpPr>
        <p:spPr>
          <a:xfrm>
            <a:off x="685800" y="1737360"/>
            <a:ext cx="1371600" cy="320040"/>
          </a:xfrm>
          <a:prstGeom prst="rect">
            <a:avLst/>
          </a:prstGeom>
          <a:noFill/>
          <a:ln/>
        </p:spPr>
        <p:txBody>
          <a:bodyPr wrap="square" lIns="0" tIns="0" rIns="0" bIns="0" rtlCol="0" anchor="t"/>
          <a:lstStyle/>
          <a:p>
            <a:pPr marL="0" indent="0">
              <a:buNone/>
            </a:pPr>
            <a:r>
              <a:rPr lang="en-US" sz="1500" b="1" dirty="0">
                <a:solidFill>
                  <a:srgbClr val="2563EB"/>
                </a:solidFill>
              </a:rPr>
              <a:t>Offline</a:t>
            </a:r>
            <a:endParaRPr lang="en-US" sz="1500" dirty="0"/>
          </a:p>
        </p:txBody>
      </p:sp>
      <p:sp>
        <p:nvSpPr>
          <p:cNvPr id="6" name="Text 4"/>
          <p:cNvSpPr txBox="1"/>
          <p:nvPr/>
        </p:nvSpPr>
        <p:spPr>
          <a:xfrm>
            <a:off x="685800" y="2057400"/>
            <a:ext cx="1371600" cy="548640"/>
          </a:xfrm>
          <a:prstGeom prst="rect">
            <a:avLst/>
          </a:prstGeom>
          <a:noFill/>
          <a:ln/>
        </p:spPr>
        <p:txBody>
          <a:bodyPr wrap="square" lIns="0" tIns="0" rIns="0" bIns="0" rtlCol="0" anchor="t"/>
          <a:lstStyle/>
          <a:p>
            <a:pPr marL="0" indent="0">
              <a:buNone/>
            </a:pPr>
            <a:r>
              <a:rPr lang="en-US" sz="1200" dirty="0">
                <a:solidFill>
                  <a:srgbClr val="475569"/>
                </a:solidFill>
              </a:rPr>
              <a:t>once, no LLM</a:t>
            </a:r>
            <a:endParaRPr lang="en-US" sz="1200" dirty="0"/>
          </a:p>
          <a:p>
            <a:pPr marL="0" indent="0">
              <a:buNone/>
            </a:pPr>
            <a:r>
              <a:rPr lang="en-US" sz="1200" dirty="0">
                <a:solidFill>
                  <a:srgbClr val="475569"/>
                </a:solidFill>
              </a:rPr>
              <a:t>scripts.bootstrap</a:t>
            </a:r>
            <a:endParaRPr lang="en-US" sz="1200" dirty="0"/>
          </a:p>
        </p:txBody>
      </p:sp>
      <p:sp>
        <p:nvSpPr>
          <p:cNvPr id="7" name="Shape 5"/>
          <p:cNvSpPr/>
          <p:nvPr/>
        </p:nvSpPr>
        <p:spPr>
          <a:xfrm>
            <a:off x="2377440" y="1508760"/>
            <a:ext cx="1642262" cy="1600200"/>
          </a:xfrm>
          <a:prstGeom prst="roundRect">
            <a:avLst>
              <a:gd name="adj" fmla="val 6857"/>
            </a:avLst>
          </a:prstGeom>
          <a:solidFill>
            <a:srgbClr val="FFFFFF"/>
          </a:solidFill>
          <a:ln w="12700">
            <a:solidFill>
              <a:srgbClr val="E2E8F0"/>
            </a:solidFill>
            <a:prstDash val="solid"/>
          </a:ln>
          <a:effectLst>
            <a:outerShdw blurRad="101600" dist="25400" dir="5400000" algn="bl" rotWithShape="0">
              <a:srgbClr val="0F172A">
                <a:alpha val="10000"/>
              </a:srgbClr>
            </a:outerShdw>
          </a:effectLst>
        </p:spPr>
      </p:sp>
      <p:sp>
        <p:nvSpPr>
          <p:cNvPr id="8" name="Shape 6"/>
          <p:cNvSpPr/>
          <p:nvPr/>
        </p:nvSpPr>
        <p:spPr>
          <a:xfrm>
            <a:off x="2542032" y="1691640"/>
            <a:ext cx="420624" cy="420624"/>
          </a:xfrm>
          <a:prstGeom prst="roundRect">
            <a:avLst>
              <a:gd name="adj" fmla="val 22000"/>
            </a:avLst>
          </a:prstGeom>
          <a:solidFill>
            <a:srgbClr val="EAF1FF"/>
          </a:solidFill>
          <a:ln w="12700">
            <a:solidFill>
              <a:srgbClr val="EAF1FF"/>
            </a:solidFill>
            <a:prstDash val="solid"/>
          </a:ln>
        </p:spPr>
      </p:sp>
      <p:pic>
        <p:nvPicPr>
          <p:cNvPr id="9" name="Image 0" descr="preencoded.png"/>
          <p:cNvPicPr>
            <a:picLocks noChangeAspect="1"/>
          </p:cNvPicPr>
          <p:nvPr/>
        </p:nvPicPr>
        <p:blipFill>
          <a:blip r:embed="rId3"/>
          <a:stretch>
            <a:fillRect/>
          </a:stretch>
        </p:blipFill>
        <p:spPr>
          <a:xfrm>
            <a:off x="2642982" y="1792590"/>
            <a:ext cx="218724" cy="218724"/>
          </a:xfrm>
          <a:prstGeom prst="rect">
            <a:avLst/>
          </a:prstGeom>
        </p:spPr>
      </p:pic>
      <p:sp>
        <p:nvSpPr>
          <p:cNvPr id="10" name="Text 7"/>
          <p:cNvSpPr txBox="1"/>
          <p:nvPr/>
        </p:nvSpPr>
        <p:spPr>
          <a:xfrm>
            <a:off x="2542032" y="2221992"/>
            <a:ext cx="1367942" cy="292608"/>
          </a:xfrm>
          <a:prstGeom prst="rect">
            <a:avLst/>
          </a:prstGeom>
          <a:noFill/>
          <a:ln/>
        </p:spPr>
        <p:txBody>
          <a:bodyPr wrap="square" lIns="0" tIns="0" rIns="0" bIns="0" rtlCol="0" anchor="t"/>
          <a:lstStyle/>
          <a:p>
            <a:pPr marL="0" indent="0">
              <a:buNone/>
            </a:pPr>
            <a:r>
              <a:rPr lang="en-US" sz="1400" b="1" dirty="0">
                <a:solidFill>
                  <a:srgbClr val="0F172A"/>
                </a:solidFill>
              </a:rPr>
              <a:t>Dataset</a:t>
            </a:r>
            <a:endParaRPr lang="en-US" sz="1400" dirty="0"/>
          </a:p>
        </p:txBody>
      </p:sp>
      <p:sp>
        <p:nvSpPr>
          <p:cNvPr id="11" name="Text 8"/>
          <p:cNvSpPr txBox="1"/>
          <p:nvPr/>
        </p:nvSpPr>
        <p:spPr>
          <a:xfrm>
            <a:off x="2542032" y="2514600"/>
            <a:ext cx="1367942" cy="502920"/>
          </a:xfrm>
          <a:prstGeom prst="rect">
            <a:avLst/>
          </a:prstGeom>
          <a:noFill/>
          <a:ln/>
        </p:spPr>
        <p:txBody>
          <a:bodyPr wrap="square" lIns="0" tIns="0" rIns="0" bIns="0" rtlCol="0" anchor="t"/>
          <a:lstStyle/>
          <a:p>
            <a:pPr marL="0" indent="0">
              <a:buNone/>
            </a:pPr>
            <a:r>
              <a:rPr lang="en-US" sz="1150" dirty="0">
                <a:solidFill>
                  <a:srgbClr val="475569"/>
                </a:solidFill>
              </a:rPr>
              <a:t>5G NetOps · 100k rows × 27 KPIs</a:t>
            </a:r>
            <a:endParaRPr lang="en-US" sz="1150" dirty="0"/>
          </a:p>
        </p:txBody>
      </p:sp>
      <p:sp>
        <p:nvSpPr>
          <p:cNvPr id="12" name="Shape 9"/>
          <p:cNvSpPr/>
          <p:nvPr/>
        </p:nvSpPr>
        <p:spPr>
          <a:xfrm>
            <a:off x="4047134" y="2308860"/>
            <a:ext cx="201168" cy="0"/>
          </a:xfrm>
          <a:prstGeom prst="line">
            <a:avLst/>
          </a:prstGeom>
          <a:noFill/>
          <a:ln w="19050">
            <a:solidFill>
              <a:srgbClr val="64748B"/>
            </a:solidFill>
            <a:prstDash val="solid"/>
            <a:tailEnd type="triangle"/>
          </a:ln>
        </p:spPr>
      </p:sp>
      <p:sp>
        <p:nvSpPr>
          <p:cNvPr id="13" name="Shape 10"/>
          <p:cNvSpPr/>
          <p:nvPr/>
        </p:nvSpPr>
        <p:spPr>
          <a:xfrm>
            <a:off x="4275734" y="1508760"/>
            <a:ext cx="1642262" cy="1600200"/>
          </a:xfrm>
          <a:prstGeom prst="roundRect">
            <a:avLst>
              <a:gd name="adj" fmla="val 6857"/>
            </a:avLst>
          </a:prstGeom>
          <a:solidFill>
            <a:srgbClr val="FFFFFF"/>
          </a:solidFill>
          <a:ln w="12700">
            <a:solidFill>
              <a:srgbClr val="E2E8F0"/>
            </a:solidFill>
            <a:prstDash val="solid"/>
          </a:ln>
          <a:effectLst>
            <a:outerShdw blurRad="101600" dist="25400" dir="5400000" algn="bl" rotWithShape="0">
              <a:srgbClr val="0F172A">
                <a:alpha val="10000"/>
              </a:srgbClr>
            </a:outerShdw>
          </a:effectLst>
        </p:spPr>
      </p:sp>
      <p:sp>
        <p:nvSpPr>
          <p:cNvPr id="14" name="Shape 11"/>
          <p:cNvSpPr/>
          <p:nvPr/>
        </p:nvSpPr>
        <p:spPr>
          <a:xfrm>
            <a:off x="4440326" y="1691640"/>
            <a:ext cx="420624" cy="420624"/>
          </a:xfrm>
          <a:prstGeom prst="roundRect">
            <a:avLst>
              <a:gd name="adj" fmla="val 22000"/>
            </a:avLst>
          </a:prstGeom>
          <a:solidFill>
            <a:srgbClr val="EAF1FF"/>
          </a:solidFill>
          <a:ln w="12700">
            <a:solidFill>
              <a:srgbClr val="EAF1FF"/>
            </a:solidFill>
            <a:prstDash val="solid"/>
          </a:ln>
        </p:spPr>
      </p:sp>
      <p:pic>
        <p:nvPicPr>
          <p:cNvPr id="15" name="Image 1" descr="preencoded.png"/>
          <p:cNvPicPr>
            <a:picLocks noChangeAspect="1"/>
          </p:cNvPicPr>
          <p:nvPr/>
        </p:nvPicPr>
        <p:blipFill>
          <a:blip r:embed="rId4"/>
          <a:stretch>
            <a:fillRect/>
          </a:stretch>
        </p:blipFill>
        <p:spPr>
          <a:xfrm>
            <a:off x="4541276" y="1792590"/>
            <a:ext cx="218724" cy="218724"/>
          </a:xfrm>
          <a:prstGeom prst="rect">
            <a:avLst/>
          </a:prstGeom>
        </p:spPr>
      </p:pic>
      <p:sp>
        <p:nvSpPr>
          <p:cNvPr id="16" name="Text 12"/>
          <p:cNvSpPr txBox="1"/>
          <p:nvPr/>
        </p:nvSpPr>
        <p:spPr>
          <a:xfrm>
            <a:off x="4440326" y="2221992"/>
            <a:ext cx="1367942" cy="292608"/>
          </a:xfrm>
          <a:prstGeom prst="rect">
            <a:avLst/>
          </a:prstGeom>
          <a:noFill/>
          <a:ln/>
        </p:spPr>
        <p:txBody>
          <a:bodyPr wrap="square" lIns="0" tIns="0" rIns="0" bIns="0" rtlCol="0" anchor="t"/>
          <a:lstStyle/>
          <a:p>
            <a:pPr marL="0" indent="0">
              <a:buNone/>
            </a:pPr>
            <a:r>
              <a:rPr lang="en-US" sz="1400" b="1" dirty="0">
                <a:solidFill>
                  <a:srgbClr val="0F172A"/>
                </a:solidFill>
              </a:rPr>
              <a:t>Preprocess</a:t>
            </a:r>
            <a:endParaRPr lang="en-US" sz="1400" dirty="0"/>
          </a:p>
        </p:txBody>
      </p:sp>
      <p:sp>
        <p:nvSpPr>
          <p:cNvPr id="17" name="Text 13"/>
          <p:cNvSpPr txBox="1"/>
          <p:nvPr/>
        </p:nvSpPr>
        <p:spPr>
          <a:xfrm>
            <a:off x="4440326" y="2514600"/>
            <a:ext cx="1367942" cy="502920"/>
          </a:xfrm>
          <a:prstGeom prst="rect">
            <a:avLst/>
          </a:prstGeom>
          <a:noFill/>
          <a:ln/>
        </p:spPr>
        <p:txBody>
          <a:bodyPr wrap="square" lIns="0" tIns="0" rIns="0" bIns="0" rtlCol="0" anchor="t"/>
          <a:lstStyle/>
          <a:p>
            <a:pPr marL="0" indent="0">
              <a:buNone/>
            </a:pPr>
            <a:r>
              <a:rPr lang="en-US" sz="1150" dirty="0">
                <a:solidFill>
                  <a:srgbClr val="475569"/>
                </a:solidFill>
              </a:rPr>
              <a:t>Baselines (p75/p90), symptoms, priority</a:t>
            </a:r>
            <a:endParaRPr lang="en-US" sz="1150" dirty="0"/>
          </a:p>
        </p:txBody>
      </p:sp>
      <p:sp>
        <p:nvSpPr>
          <p:cNvPr id="18" name="Shape 14"/>
          <p:cNvSpPr/>
          <p:nvPr/>
        </p:nvSpPr>
        <p:spPr>
          <a:xfrm>
            <a:off x="5945429" y="2308860"/>
            <a:ext cx="201168" cy="0"/>
          </a:xfrm>
          <a:prstGeom prst="line">
            <a:avLst/>
          </a:prstGeom>
          <a:noFill/>
          <a:ln w="19050">
            <a:solidFill>
              <a:srgbClr val="64748B"/>
            </a:solidFill>
            <a:prstDash val="solid"/>
            <a:tailEnd type="triangle"/>
          </a:ln>
        </p:spPr>
      </p:sp>
      <p:sp>
        <p:nvSpPr>
          <p:cNvPr id="19" name="Shape 15"/>
          <p:cNvSpPr/>
          <p:nvPr/>
        </p:nvSpPr>
        <p:spPr>
          <a:xfrm>
            <a:off x="6174029" y="1508760"/>
            <a:ext cx="1642262" cy="1600200"/>
          </a:xfrm>
          <a:prstGeom prst="roundRect">
            <a:avLst>
              <a:gd name="adj" fmla="val 6857"/>
            </a:avLst>
          </a:prstGeom>
          <a:solidFill>
            <a:srgbClr val="FFFFFF"/>
          </a:solidFill>
          <a:ln w="12700">
            <a:solidFill>
              <a:srgbClr val="E2E8F0"/>
            </a:solidFill>
            <a:prstDash val="solid"/>
          </a:ln>
          <a:effectLst>
            <a:outerShdw blurRad="101600" dist="25400" dir="5400000" algn="bl" rotWithShape="0">
              <a:srgbClr val="0F172A">
                <a:alpha val="10000"/>
              </a:srgbClr>
            </a:outerShdw>
          </a:effectLst>
        </p:spPr>
      </p:sp>
      <p:sp>
        <p:nvSpPr>
          <p:cNvPr id="20" name="Shape 16"/>
          <p:cNvSpPr/>
          <p:nvPr/>
        </p:nvSpPr>
        <p:spPr>
          <a:xfrm>
            <a:off x="6338621" y="1691640"/>
            <a:ext cx="420624" cy="420624"/>
          </a:xfrm>
          <a:prstGeom prst="roundRect">
            <a:avLst>
              <a:gd name="adj" fmla="val 22000"/>
            </a:avLst>
          </a:prstGeom>
          <a:solidFill>
            <a:srgbClr val="EAF1FF"/>
          </a:solidFill>
          <a:ln w="12700">
            <a:solidFill>
              <a:srgbClr val="EAF1FF"/>
            </a:solidFill>
            <a:prstDash val="solid"/>
          </a:ln>
        </p:spPr>
      </p:sp>
      <p:pic>
        <p:nvPicPr>
          <p:cNvPr id="21" name="Image 2" descr="preencoded.png"/>
          <p:cNvPicPr>
            <a:picLocks noChangeAspect="1"/>
          </p:cNvPicPr>
          <p:nvPr/>
        </p:nvPicPr>
        <p:blipFill>
          <a:blip r:embed="rId5"/>
          <a:stretch>
            <a:fillRect/>
          </a:stretch>
        </p:blipFill>
        <p:spPr>
          <a:xfrm>
            <a:off x="6439571" y="1792590"/>
            <a:ext cx="218724" cy="218724"/>
          </a:xfrm>
          <a:prstGeom prst="rect">
            <a:avLst/>
          </a:prstGeom>
        </p:spPr>
      </p:pic>
      <p:sp>
        <p:nvSpPr>
          <p:cNvPr id="22" name="Text 17"/>
          <p:cNvSpPr txBox="1"/>
          <p:nvPr/>
        </p:nvSpPr>
        <p:spPr>
          <a:xfrm>
            <a:off x="6338621" y="2221992"/>
            <a:ext cx="1367942" cy="292608"/>
          </a:xfrm>
          <a:prstGeom prst="rect">
            <a:avLst/>
          </a:prstGeom>
          <a:noFill/>
          <a:ln/>
        </p:spPr>
        <p:txBody>
          <a:bodyPr wrap="square" lIns="0" tIns="0" rIns="0" bIns="0" rtlCol="0" anchor="t"/>
          <a:lstStyle/>
          <a:p>
            <a:pPr marL="0" indent="0">
              <a:buNone/>
            </a:pPr>
            <a:r>
              <a:rPr lang="en-US" sz="1400" b="1" dirty="0">
                <a:solidFill>
                  <a:srgbClr val="0F172A"/>
                </a:solidFill>
              </a:rPr>
              <a:t>Chunk</a:t>
            </a:r>
            <a:endParaRPr lang="en-US" sz="1400" dirty="0"/>
          </a:p>
        </p:txBody>
      </p:sp>
      <p:sp>
        <p:nvSpPr>
          <p:cNvPr id="23" name="Text 18"/>
          <p:cNvSpPr txBox="1"/>
          <p:nvPr/>
        </p:nvSpPr>
        <p:spPr>
          <a:xfrm>
            <a:off x="6338621" y="2514600"/>
            <a:ext cx="1367942" cy="502920"/>
          </a:xfrm>
          <a:prstGeom prst="rect">
            <a:avLst/>
          </a:prstGeom>
          <a:noFill/>
          <a:ln/>
        </p:spPr>
        <p:txBody>
          <a:bodyPr wrap="square" lIns="0" tIns="0" rIns="0" bIns="0" rtlCol="0" anchor="t"/>
          <a:lstStyle/>
          <a:p>
            <a:pPr marL="0" indent="0">
              <a:buNone/>
            </a:pPr>
            <a:r>
              <a:rPr lang="en-US" sz="1150" dirty="0">
                <a:solidFill>
                  <a:srgbClr val="475569"/>
                </a:solidFill>
              </a:rPr>
              <a:t>Case narratives + runbook sections</a:t>
            </a:r>
            <a:endParaRPr lang="en-US" sz="1150" dirty="0"/>
          </a:p>
        </p:txBody>
      </p:sp>
      <p:sp>
        <p:nvSpPr>
          <p:cNvPr id="24" name="Shape 19"/>
          <p:cNvSpPr/>
          <p:nvPr/>
        </p:nvSpPr>
        <p:spPr>
          <a:xfrm>
            <a:off x="7843723" y="2308860"/>
            <a:ext cx="201168" cy="0"/>
          </a:xfrm>
          <a:prstGeom prst="line">
            <a:avLst/>
          </a:prstGeom>
          <a:noFill/>
          <a:ln w="19050">
            <a:solidFill>
              <a:srgbClr val="64748B"/>
            </a:solidFill>
            <a:prstDash val="solid"/>
            <a:tailEnd type="triangle"/>
          </a:ln>
        </p:spPr>
      </p:sp>
      <p:sp>
        <p:nvSpPr>
          <p:cNvPr id="25" name="Shape 20"/>
          <p:cNvSpPr/>
          <p:nvPr/>
        </p:nvSpPr>
        <p:spPr>
          <a:xfrm>
            <a:off x="8072323" y="1508760"/>
            <a:ext cx="1642262" cy="1600200"/>
          </a:xfrm>
          <a:prstGeom prst="roundRect">
            <a:avLst>
              <a:gd name="adj" fmla="val 6857"/>
            </a:avLst>
          </a:prstGeom>
          <a:solidFill>
            <a:srgbClr val="FFFFFF"/>
          </a:solidFill>
          <a:ln w="12700">
            <a:solidFill>
              <a:srgbClr val="E2E8F0"/>
            </a:solidFill>
            <a:prstDash val="solid"/>
          </a:ln>
          <a:effectLst>
            <a:outerShdw blurRad="101600" dist="25400" dir="5400000" algn="bl" rotWithShape="0">
              <a:srgbClr val="0F172A">
                <a:alpha val="10000"/>
              </a:srgbClr>
            </a:outerShdw>
          </a:effectLst>
        </p:spPr>
      </p:sp>
      <p:sp>
        <p:nvSpPr>
          <p:cNvPr id="26" name="Shape 21"/>
          <p:cNvSpPr/>
          <p:nvPr/>
        </p:nvSpPr>
        <p:spPr>
          <a:xfrm>
            <a:off x="8236915" y="1691640"/>
            <a:ext cx="420624" cy="420624"/>
          </a:xfrm>
          <a:prstGeom prst="roundRect">
            <a:avLst>
              <a:gd name="adj" fmla="val 22000"/>
            </a:avLst>
          </a:prstGeom>
          <a:solidFill>
            <a:srgbClr val="EAF1FF"/>
          </a:solidFill>
          <a:ln w="12700">
            <a:solidFill>
              <a:srgbClr val="EAF1FF"/>
            </a:solidFill>
            <a:prstDash val="solid"/>
          </a:ln>
        </p:spPr>
      </p:sp>
      <p:pic>
        <p:nvPicPr>
          <p:cNvPr id="27" name="Image 3" descr="preencoded.png"/>
          <p:cNvPicPr>
            <a:picLocks noChangeAspect="1"/>
          </p:cNvPicPr>
          <p:nvPr/>
        </p:nvPicPr>
        <p:blipFill>
          <a:blip r:embed="rId6"/>
          <a:stretch>
            <a:fillRect/>
          </a:stretch>
        </p:blipFill>
        <p:spPr>
          <a:xfrm>
            <a:off x="8337865" y="1792590"/>
            <a:ext cx="218724" cy="218724"/>
          </a:xfrm>
          <a:prstGeom prst="rect">
            <a:avLst/>
          </a:prstGeom>
        </p:spPr>
      </p:pic>
      <p:sp>
        <p:nvSpPr>
          <p:cNvPr id="28" name="Text 22"/>
          <p:cNvSpPr txBox="1"/>
          <p:nvPr/>
        </p:nvSpPr>
        <p:spPr>
          <a:xfrm>
            <a:off x="8236915" y="2221992"/>
            <a:ext cx="1367942" cy="292608"/>
          </a:xfrm>
          <a:prstGeom prst="rect">
            <a:avLst/>
          </a:prstGeom>
          <a:noFill/>
          <a:ln/>
        </p:spPr>
        <p:txBody>
          <a:bodyPr wrap="square" lIns="0" tIns="0" rIns="0" bIns="0" rtlCol="0" anchor="t"/>
          <a:lstStyle/>
          <a:p>
            <a:pPr marL="0" indent="0">
              <a:buNone/>
            </a:pPr>
            <a:r>
              <a:rPr lang="en-US" sz="1400" b="1" dirty="0">
                <a:solidFill>
                  <a:srgbClr val="0F172A"/>
                </a:solidFill>
              </a:rPr>
              <a:t>Embed</a:t>
            </a:r>
            <a:endParaRPr lang="en-US" sz="1400" dirty="0"/>
          </a:p>
        </p:txBody>
      </p:sp>
      <p:sp>
        <p:nvSpPr>
          <p:cNvPr id="29" name="Text 23"/>
          <p:cNvSpPr txBox="1"/>
          <p:nvPr/>
        </p:nvSpPr>
        <p:spPr>
          <a:xfrm>
            <a:off x="8236915" y="2514600"/>
            <a:ext cx="1367942" cy="502920"/>
          </a:xfrm>
          <a:prstGeom prst="rect">
            <a:avLst/>
          </a:prstGeom>
          <a:noFill/>
          <a:ln/>
        </p:spPr>
        <p:txBody>
          <a:bodyPr wrap="square" lIns="0" tIns="0" rIns="0" bIns="0" rtlCol="0" anchor="t"/>
          <a:lstStyle/>
          <a:p>
            <a:pPr marL="0" indent="0">
              <a:buNone/>
            </a:pPr>
            <a:r>
              <a:rPr lang="en-US" sz="1150" dirty="0">
                <a:solidFill>
                  <a:srgbClr val="475569"/>
                </a:solidFill>
              </a:rPr>
              <a:t>bge-small · 384-d</a:t>
            </a:r>
            <a:endParaRPr lang="en-US" sz="1150" dirty="0"/>
          </a:p>
        </p:txBody>
      </p:sp>
      <p:sp>
        <p:nvSpPr>
          <p:cNvPr id="30" name="Shape 24"/>
          <p:cNvSpPr/>
          <p:nvPr/>
        </p:nvSpPr>
        <p:spPr>
          <a:xfrm>
            <a:off x="9742018" y="2308860"/>
            <a:ext cx="201168" cy="0"/>
          </a:xfrm>
          <a:prstGeom prst="line">
            <a:avLst/>
          </a:prstGeom>
          <a:noFill/>
          <a:ln w="19050">
            <a:solidFill>
              <a:srgbClr val="64748B"/>
            </a:solidFill>
            <a:prstDash val="solid"/>
            <a:tailEnd type="triangle"/>
          </a:ln>
        </p:spPr>
      </p:sp>
      <p:sp>
        <p:nvSpPr>
          <p:cNvPr id="31" name="Shape 25"/>
          <p:cNvSpPr/>
          <p:nvPr/>
        </p:nvSpPr>
        <p:spPr>
          <a:xfrm>
            <a:off x="9970618" y="1508760"/>
            <a:ext cx="1642262" cy="1600200"/>
          </a:xfrm>
          <a:prstGeom prst="roundRect">
            <a:avLst>
              <a:gd name="adj" fmla="val 6857"/>
            </a:avLst>
          </a:prstGeom>
          <a:solidFill>
            <a:srgbClr val="FFFFFF"/>
          </a:solidFill>
          <a:ln w="12700">
            <a:solidFill>
              <a:srgbClr val="E2E8F0"/>
            </a:solidFill>
            <a:prstDash val="solid"/>
          </a:ln>
          <a:effectLst>
            <a:outerShdw blurRad="101600" dist="25400" dir="5400000" algn="bl" rotWithShape="0">
              <a:srgbClr val="0F172A">
                <a:alpha val="10000"/>
              </a:srgbClr>
            </a:outerShdw>
          </a:effectLst>
        </p:spPr>
      </p:sp>
      <p:sp>
        <p:nvSpPr>
          <p:cNvPr id="32" name="Shape 26"/>
          <p:cNvSpPr/>
          <p:nvPr/>
        </p:nvSpPr>
        <p:spPr>
          <a:xfrm>
            <a:off x="10135210" y="1691640"/>
            <a:ext cx="420624" cy="420624"/>
          </a:xfrm>
          <a:prstGeom prst="roundRect">
            <a:avLst>
              <a:gd name="adj" fmla="val 22000"/>
            </a:avLst>
          </a:prstGeom>
          <a:solidFill>
            <a:srgbClr val="EEF2F6"/>
          </a:solidFill>
          <a:ln w="12700">
            <a:solidFill>
              <a:srgbClr val="EEF2F6"/>
            </a:solidFill>
            <a:prstDash val="solid"/>
          </a:ln>
        </p:spPr>
      </p:sp>
      <p:pic>
        <p:nvPicPr>
          <p:cNvPr id="33" name="Image 4" descr="preencoded.png"/>
          <p:cNvPicPr>
            <a:picLocks noChangeAspect="1"/>
          </p:cNvPicPr>
          <p:nvPr/>
        </p:nvPicPr>
        <p:blipFill>
          <a:blip r:embed="rId7"/>
          <a:stretch>
            <a:fillRect/>
          </a:stretch>
        </p:blipFill>
        <p:spPr>
          <a:xfrm>
            <a:off x="10236159" y="1792590"/>
            <a:ext cx="218724" cy="218724"/>
          </a:xfrm>
          <a:prstGeom prst="rect">
            <a:avLst/>
          </a:prstGeom>
        </p:spPr>
      </p:pic>
      <p:sp>
        <p:nvSpPr>
          <p:cNvPr id="34" name="Text 27"/>
          <p:cNvSpPr txBox="1"/>
          <p:nvPr/>
        </p:nvSpPr>
        <p:spPr>
          <a:xfrm>
            <a:off x="10135210" y="2221992"/>
            <a:ext cx="1367942" cy="292608"/>
          </a:xfrm>
          <a:prstGeom prst="rect">
            <a:avLst/>
          </a:prstGeom>
          <a:noFill/>
          <a:ln/>
        </p:spPr>
        <p:txBody>
          <a:bodyPr wrap="square" lIns="0" tIns="0" rIns="0" bIns="0" rtlCol="0" anchor="t"/>
          <a:lstStyle/>
          <a:p>
            <a:pPr marL="0" indent="0">
              <a:buNone/>
            </a:pPr>
            <a:r>
              <a:rPr lang="en-US" sz="1400" b="1" dirty="0">
                <a:solidFill>
                  <a:srgbClr val="0F172A"/>
                </a:solidFill>
              </a:rPr>
              <a:t>Index + models</a:t>
            </a:r>
            <a:endParaRPr lang="en-US" sz="1400" dirty="0"/>
          </a:p>
        </p:txBody>
      </p:sp>
      <p:sp>
        <p:nvSpPr>
          <p:cNvPr id="35" name="Text 28"/>
          <p:cNvSpPr txBox="1"/>
          <p:nvPr/>
        </p:nvSpPr>
        <p:spPr>
          <a:xfrm>
            <a:off x="10135210" y="2514600"/>
            <a:ext cx="1367942" cy="502920"/>
          </a:xfrm>
          <a:prstGeom prst="rect">
            <a:avLst/>
          </a:prstGeom>
          <a:noFill/>
          <a:ln/>
        </p:spPr>
        <p:txBody>
          <a:bodyPr wrap="square" lIns="0" tIns="0" rIns="0" bIns="0" rtlCol="0" anchor="t"/>
          <a:lstStyle/>
          <a:p>
            <a:pPr marL="0" indent="0">
              <a:buNone/>
            </a:pPr>
            <a:r>
              <a:rPr lang="en-US" sz="1150" dirty="0">
                <a:solidFill>
                  <a:srgbClr val="475569"/>
                </a:solidFill>
              </a:rPr>
              <a:t>ChromaDB + BM25 · ML models</a:t>
            </a:r>
            <a:endParaRPr lang="en-US" sz="1150" dirty="0"/>
          </a:p>
        </p:txBody>
      </p:sp>
      <p:sp>
        <p:nvSpPr>
          <p:cNvPr id="36" name="Shape 29"/>
          <p:cNvSpPr/>
          <p:nvPr/>
        </p:nvSpPr>
        <p:spPr>
          <a:xfrm>
            <a:off x="548640" y="3794760"/>
            <a:ext cx="1600200" cy="1600200"/>
          </a:xfrm>
          <a:prstGeom prst="roundRect">
            <a:avLst>
              <a:gd name="adj" fmla="val 6857"/>
            </a:avLst>
          </a:prstGeom>
          <a:solidFill>
            <a:srgbClr val="F1EBFE"/>
          </a:solidFill>
          <a:ln w="12700">
            <a:solidFill>
              <a:srgbClr val="F1EBFE"/>
            </a:solidFill>
            <a:prstDash val="solid"/>
          </a:ln>
        </p:spPr>
      </p:sp>
      <p:sp>
        <p:nvSpPr>
          <p:cNvPr id="37" name="Text 30"/>
          <p:cNvSpPr txBox="1"/>
          <p:nvPr/>
        </p:nvSpPr>
        <p:spPr>
          <a:xfrm>
            <a:off x="685800" y="4023360"/>
            <a:ext cx="1371600" cy="320040"/>
          </a:xfrm>
          <a:prstGeom prst="rect">
            <a:avLst/>
          </a:prstGeom>
          <a:noFill/>
          <a:ln/>
        </p:spPr>
        <p:txBody>
          <a:bodyPr wrap="square" lIns="0" tIns="0" rIns="0" bIns="0" rtlCol="0" anchor="t"/>
          <a:lstStyle/>
          <a:p>
            <a:pPr marL="0" indent="0">
              <a:buNone/>
            </a:pPr>
            <a:r>
              <a:rPr lang="en-US" sz="1500" b="1" dirty="0">
                <a:solidFill>
                  <a:srgbClr val="7C3AED"/>
                </a:solidFill>
              </a:rPr>
              <a:t>Online</a:t>
            </a:r>
            <a:endParaRPr lang="en-US" sz="1500" dirty="0"/>
          </a:p>
        </p:txBody>
      </p:sp>
      <p:sp>
        <p:nvSpPr>
          <p:cNvPr id="38" name="Text 31"/>
          <p:cNvSpPr txBox="1"/>
          <p:nvPr/>
        </p:nvSpPr>
        <p:spPr>
          <a:xfrm>
            <a:off x="685800" y="4343400"/>
            <a:ext cx="1371600" cy="548640"/>
          </a:xfrm>
          <a:prstGeom prst="rect">
            <a:avLst/>
          </a:prstGeom>
          <a:noFill/>
          <a:ln/>
        </p:spPr>
        <p:txBody>
          <a:bodyPr wrap="square" lIns="0" tIns="0" rIns="0" bIns="0" rtlCol="0" anchor="t"/>
          <a:lstStyle/>
          <a:p>
            <a:pPr marL="0" indent="0">
              <a:buNone/>
            </a:pPr>
            <a:r>
              <a:rPr lang="en-US" sz="1200" dirty="0">
                <a:solidFill>
                  <a:srgbClr val="475569"/>
                </a:solidFill>
              </a:rPr>
              <a:t>per request</a:t>
            </a:r>
            <a:endParaRPr lang="en-US" sz="1200" dirty="0"/>
          </a:p>
          <a:p>
            <a:pPr marL="0" indent="0">
              <a:buNone/>
            </a:pPr>
            <a:r>
              <a:rPr lang="en-US" sz="1200" dirty="0">
                <a:solidFill>
                  <a:srgbClr val="475569"/>
                </a:solidFill>
              </a:rPr>
              <a:t>FastAPI + React</a:t>
            </a:r>
            <a:endParaRPr lang="en-US" sz="1200" dirty="0"/>
          </a:p>
        </p:txBody>
      </p:sp>
      <p:sp>
        <p:nvSpPr>
          <p:cNvPr id="39" name="Shape 32"/>
          <p:cNvSpPr/>
          <p:nvPr/>
        </p:nvSpPr>
        <p:spPr>
          <a:xfrm>
            <a:off x="2377440" y="3794760"/>
            <a:ext cx="1325880" cy="1600200"/>
          </a:xfrm>
          <a:prstGeom prst="roundRect">
            <a:avLst>
              <a:gd name="adj" fmla="val 8276"/>
            </a:avLst>
          </a:prstGeom>
          <a:solidFill>
            <a:srgbClr val="FFFFFF"/>
          </a:solidFill>
          <a:ln w="12700">
            <a:solidFill>
              <a:srgbClr val="E2E8F0"/>
            </a:solidFill>
            <a:prstDash val="solid"/>
          </a:ln>
          <a:effectLst>
            <a:outerShdw blurRad="101600" dist="25400" dir="5400000" algn="bl" rotWithShape="0">
              <a:srgbClr val="0F172A">
                <a:alpha val="10000"/>
              </a:srgbClr>
            </a:outerShdw>
          </a:effectLst>
        </p:spPr>
      </p:sp>
      <p:sp>
        <p:nvSpPr>
          <p:cNvPr id="40" name="Shape 33"/>
          <p:cNvSpPr/>
          <p:nvPr/>
        </p:nvSpPr>
        <p:spPr>
          <a:xfrm>
            <a:off x="2542032" y="3977640"/>
            <a:ext cx="420624" cy="420624"/>
          </a:xfrm>
          <a:prstGeom prst="roundRect">
            <a:avLst>
              <a:gd name="adj" fmla="val 22000"/>
            </a:avLst>
          </a:prstGeom>
          <a:solidFill>
            <a:srgbClr val="E3F6EC"/>
          </a:solidFill>
          <a:ln w="12700">
            <a:solidFill>
              <a:srgbClr val="E3F6EC"/>
            </a:solidFill>
            <a:prstDash val="solid"/>
          </a:ln>
        </p:spPr>
      </p:sp>
      <p:pic>
        <p:nvPicPr>
          <p:cNvPr id="41" name="Image 5" descr="preencoded.png"/>
          <p:cNvPicPr>
            <a:picLocks noChangeAspect="1"/>
          </p:cNvPicPr>
          <p:nvPr/>
        </p:nvPicPr>
        <p:blipFill>
          <a:blip r:embed="rId8"/>
          <a:stretch>
            <a:fillRect/>
          </a:stretch>
        </p:blipFill>
        <p:spPr>
          <a:xfrm>
            <a:off x="2642982" y="4078590"/>
            <a:ext cx="218724" cy="218724"/>
          </a:xfrm>
          <a:prstGeom prst="rect">
            <a:avLst/>
          </a:prstGeom>
        </p:spPr>
      </p:pic>
      <p:sp>
        <p:nvSpPr>
          <p:cNvPr id="42" name="Text 34"/>
          <p:cNvSpPr txBox="1"/>
          <p:nvPr/>
        </p:nvSpPr>
        <p:spPr>
          <a:xfrm>
            <a:off x="2542032" y="4507992"/>
            <a:ext cx="1051560" cy="292608"/>
          </a:xfrm>
          <a:prstGeom prst="rect">
            <a:avLst/>
          </a:prstGeom>
          <a:noFill/>
          <a:ln/>
        </p:spPr>
        <p:txBody>
          <a:bodyPr wrap="square" lIns="0" tIns="0" rIns="0" bIns="0" rtlCol="0" anchor="t"/>
          <a:lstStyle/>
          <a:p>
            <a:pPr marL="0" indent="0">
              <a:buNone/>
            </a:pPr>
            <a:r>
              <a:rPr lang="en-US" sz="1400" b="1" dirty="0">
                <a:solidFill>
                  <a:srgbClr val="0F172A"/>
                </a:solidFill>
              </a:rPr>
              <a:t>Ask</a:t>
            </a:r>
            <a:endParaRPr lang="en-US" sz="1400" dirty="0"/>
          </a:p>
        </p:txBody>
      </p:sp>
      <p:sp>
        <p:nvSpPr>
          <p:cNvPr id="43" name="Text 35"/>
          <p:cNvSpPr txBox="1"/>
          <p:nvPr/>
        </p:nvSpPr>
        <p:spPr>
          <a:xfrm>
            <a:off x="2542032" y="4800600"/>
            <a:ext cx="1051560" cy="502920"/>
          </a:xfrm>
          <a:prstGeom prst="rect">
            <a:avLst/>
          </a:prstGeom>
          <a:noFill/>
          <a:ln/>
        </p:spPr>
        <p:txBody>
          <a:bodyPr wrap="square" lIns="0" tIns="0" rIns="0" bIns="0" rtlCol="0" anchor="t"/>
          <a:lstStyle/>
          <a:p>
            <a:pPr marL="0" indent="0">
              <a:buNone/>
            </a:pPr>
            <a:r>
              <a:rPr lang="en-US" sz="1150" dirty="0">
                <a:solidFill>
                  <a:srgbClr val="475569"/>
                </a:solidFill>
              </a:rPr>
              <a:t>UI → API, guardrails first</a:t>
            </a:r>
            <a:endParaRPr lang="en-US" sz="1150" dirty="0"/>
          </a:p>
        </p:txBody>
      </p:sp>
      <p:sp>
        <p:nvSpPr>
          <p:cNvPr id="44" name="Shape 36"/>
          <p:cNvSpPr/>
          <p:nvPr/>
        </p:nvSpPr>
        <p:spPr>
          <a:xfrm>
            <a:off x="3730752" y="4594860"/>
            <a:ext cx="201168" cy="0"/>
          </a:xfrm>
          <a:prstGeom prst="line">
            <a:avLst/>
          </a:prstGeom>
          <a:noFill/>
          <a:ln w="19050">
            <a:solidFill>
              <a:srgbClr val="64748B"/>
            </a:solidFill>
            <a:prstDash val="solid"/>
            <a:tailEnd type="triangle"/>
          </a:ln>
        </p:spPr>
      </p:sp>
      <p:sp>
        <p:nvSpPr>
          <p:cNvPr id="45" name="Shape 37"/>
          <p:cNvSpPr/>
          <p:nvPr/>
        </p:nvSpPr>
        <p:spPr>
          <a:xfrm>
            <a:off x="3959352" y="3794760"/>
            <a:ext cx="1325880" cy="1600200"/>
          </a:xfrm>
          <a:prstGeom prst="roundRect">
            <a:avLst>
              <a:gd name="adj" fmla="val 8276"/>
            </a:avLst>
          </a:prstGeom>
          <a:solidFill>
            <a:srgbClr val="FFFFFF"/>
          </a:solidFill>
          <a:ln w="12700">
            <a:solidFill>
              <a:srgbClr val="E2E8F0"/>
            </a:solidFill>
            <a:prstDash val="solid"/>
          </a:ln>
          <a:effectLst>
            <a:outerShdw blurRad="101600" dist="25400" dir="5400000" algn="bl" rotWithShape="0">
              <a:srgbClr val="0F172A">
                <a:alpha val="10000"/>
              </a:srgbClr>
            </a:outerShdw>
          </a:effectLst>
        </p:spPr>
      </p:sp>
      <p:sp>
        <p:nvSpPr>
          <p:cNvPr id="46" name="Shape 38"/>
          <p:cNvSpPr/>
          <p:nvPr/>
        </p:nvSpPr>
        <p:spPr>
          <a:xfrm>
            <a:off x="4123944" y="3977640"/>
            <a:ext cx="420624" cy="420624"/>
          </a:xfrm>
          <a:prstGeom prst="roundRect">
            <a:avLst>
              <a:gd name="adj" fmla="val 22000"/>
            </a:avLst>
          </a:prstGeom>
          <a:solidFill>
            <a:srgbClr val="E3F6EC"/>
          </a:solidFill>
          <a:ln w="12700">
            <a:solidFill>
              <a:srgbClr val="E3F6EC"/>
            </a:solidFill>
            <a:prstDash val="solid"/>
          </a:ln>
        </p:spPr>
      </p:sp>
      <p:pic>
        <p:nvPicPr>
          <p:cNvPr id="47" name="Image 6" descr="preencoded.png"/>
          <p:cNvPicPr>
            <a:picLocks noChangeAspect="1"/>
          </p:cNvPicPr>
          <p:nvPr/>
        </p:nvPicPr>
        <p:blipFill>
          <a:blip r:embed="rId9"/>
          <a:stretch>
            <a:fillRect/>
          </a:stretch>
        </p:blipFill>
        <p:spPr>
          <a:xfrm>
            <a:off x="4224894" y="4078590"/>
            <a:ext cx="218724" cy="218724"/>
          </a:xfrm>
          <a:prstGeom prst="rect">
            <a:avLst/>
          </a:prstGeom>
        </p:spPr>
      </p:pic>
      <p:sp>
        <p:nvSpPr>
          <p:cNvPr id="48" name="Text 39"/>
          <p:cNvSpPr txBox="1"/>
          <p:nvPr/>
        </p:nvSpPr>
        <p:spPr>
          <a:xfrm>
            <a:off x="4123944" y="4507992"/>
            <a:ext cx="1051560" cy="292608"/>
          </a:xfrm>
          <a:prstGeom prst="rect">
            <a:avLst/>
          </a:prstGeom>
          <a:noFill/>
          <a:ln/>
        </p:spPr>
        <p:txBody>
          <a:bodyPr wrap="square" lIns="0" tIns="0" rIns="0" bIns="0" rtlCol="0" anchor="t"/>
          <a:lstStyle/>
          <a:p>
            <a:pPr marL="0" indent="0">
              <a:buNone/>
            </a:pPr>
            <a:r>
              <a:rPr lang="en-US" sz="1400" b="1" dirty="0">
                <a:solidFill>
                  <a:srgbClr val="0F172A"/>
                </a:solidFill>
              </a:rPr>
              <a:t>Retrieve</a:t>
            </a:r>
            <a:endParaRPr lang="en-US" sz="1400" dirty="0"/>
          </a:p>
        </p:txBody>
      </p:sp>
      <p:sp>
        <p:nvSpPr>
          <p:cNvPr id="49" name="Text 40"/>
          <p:cNvSpPr txBox="1"/>
          <p:nvPr/>
        </p:nvSpPr>
        <p:spPr>
          <a:xfrm>
            <a:off x="4123944" y="4800600"/>
            <a:ext cx="1051560" cy="502920"/>
          </a:xfrm>
          <a:prstGeom prst="rect">
            <a:avLst/>
          </a:prstGeom>
          <a:noFill/>
          <a:ln/>
        </p:spPr>
        <p:txBody>
          <a:bodyPr wrap="square" lIns="0" tIns="0" rIns="0" bIns="0" rtlCol="0" anchor="t"/>
          <a:lstStyle/>
          <a:p>
            <a:pPr marL="0" indent="0">
              <a:buNone/>
            </a:pPr>
            <a:r>
              <a:rPr lang="en-US" sz="1150" dirty="0">
                <a:solidFill>
                  <a:srgbClr val="475569"/>
                </a:solidFill>
              </a:rPr>
              <a:t>Dense + BM25, RRF, rerank</a:t>
            </a:r>
            <a:endParaRPr lang="en-US" sz="1150" dirty="0"/>
          </a:p>
        </p:txBody>
      </p:sp>
      <p:sp>
        <p:nvSpPr>
          <p:cNvPr id="50" name="Shape 41"/>
          <p:cNvSpPr/>
          <p:nvPr/>
        </p:nvSpPr>
        <p:spPr>
          <a:xfrm>
            <a:off x="5312664" y="4594860"/>
            <a:ext cx="201168" cy="0"/>
          </a:xfrm>
          <a:prstGeom prst="line">
            <a:avLst/>
          </a:prstGeom>
          <a:noFill/>
          <a:ln w="19050">
            <a:solidFill>
              <a:srgbClr val="64748B"/>
            </a:solidFill>
            <a:prstDash val="solid"/>
            <a:tailEnd type="triangle"/>
          </a:ln>
        </p:spPr>
      </p:sp>
      <p:sp>
        <p:nvSpPr>
          <p:cNvPr id="51" name="Shape 42"/>
          <p:cNvSpPr/>
          <p:nvPr/>
        </p:nvSpPr>
        <p:spPr>
          <a:xfrm>
            <a:off x="5541264" y="3794760"/>
            <a:ext cx="1325880" cy="1600200"/>
          </a:xfrm>
          <a:prstGeom prst="roundRect">
            <a:avLst>
              <a:gd name="adj" fmla="val 8276"/>
            </a:avLst>
          </a:prstGeom>
          <a:solidFill>
            <a:srgbClr val="FFFFFF"/>
          </a:solidFill>
          <a:ln w="12700">
            <a:solidFill>
              <a:srgbClr val="E2E8F0"/>
            </a:solidFill>
            <a:prstDash val="solid"/>
          </a:ln>
          <a:effectLst>
            <a:outerShdw blurRad="101600" dist="25400" dir="5400000" algn="bl" rotWithShape="0">
              <a:srgbClr val="0F172A">
                <a:alpha val="10000"/>
              </a:srgbClr>
            </a:outerShdw>
          </a:effectLst>
        </p:spPr>
      </p:sp>
      <p:sp>
        <p:nvSpPr>
          <p:cNvPr id="52" name="Shape 43"/>
          <p:cNvSpPr/>
          <p:nvPr/>
        </p:nvSpPr>
        <p:spPr>
          <a:xfrm>
            <a:off x="5705856" y="3977640"/>
            <a:ext cx="420624" cy="420624"/>
          </a:xfrm>
          <a:prstGeom prst="roundRect">
            <a:avLst>
              <a:gd name="adj" fmla="val 22000"/>
            </a:avLst>
          </a:prstGeom>
          <a:solidFill>
            <a:srgbClr val="FFEFE3"/>
          </a:solidFill>
          <a:ln w="12700">
            <a:solidFill>
              <a:srgbClr val="FFEFE3"/>
            </a:solidFill>
            <a:prstDash val="solid"/>
          </a:ln>
        </p:spPr>
      </p:sp>
      <p:pic>
        <p:nvPicPr>
          <p:cNvPr id="53" name="Image 7" descr="preencoded.png"/>
          <p:cNvPicPr>
            <a:picLocks noChangeAspect="1"/>
          </p:cNvPicPr>
          <p:nvPr/>
        </p:nvPicPr>
        <p:blipFill>
          <a:blip r:embed="rId10"/>
          <a:stretch>
            <a:fillRect/>
          </a:stretch>
        </p:blipFill>
        <p:spPr>
          <a:xfrm>
            <a:off x="5806806" y="4078590"/>
            <a:ext cx="218724" cy="218724"/>
          </a:xfrm>
          <a:prstGeom prst="rect">
            <a:avLst/>
          </a:prstGeom>
        </p:spPr>
      </p:pic>
      <p:sp>
        <p:nvSpPr>
          <p:cNvPr id="54" name="Text 44"/>
          <p:cNvSpPr txBox="1"/>
          <p:nvPr/>
        </p:nvSpPr>
        <p:spPr>
          <a:xfrm>
            <a:off x="5705856" y="4507992"/>
            <a:ext cx="1051560" cy="292608"/>
          </a:xfrm>
          <a:prstGeom prst="rect">
            <a:avLst/>
          </a:prstGeom>
          <a:noFill/>
          <a:ln/>
        </p:spPr>
        <p:txBody>
          <a:bodyPr wrap="square" lIns="0" tIns="0" rIns="0" bIns="0" rtlCol="0" anchor="t"/>
          <a:lstStyle/>
          <a:p>
            <a:pPr marL="0" indent="0">
              <a:buNone/>
            </a:pPr>
            <a:r>
              <a:rPr lang="en-US" sz="1400" b="1" dirty="0">
                <a:solidFill>
                  <a:srgbClr val="0F172A"/>
                </a:solidFill>
              </a:rPr>
              <a:t>Evidence</a:t>
            </a:r>
            <a:endParaRPr lang="en-US" sz="1400" dirty="0"/>
          </a:p>
        </p:txBody>
      </p:sp>
      <p:sp>
        <p:nvSpPr>
          <p:cNvPr id="55" name="Text 45"/>
          <p:cNvSpPr txBox="1"/>
          <p:nvPr/>
        </p:nvSpPr>
        <p:spPr>
          <a:xfrm>
            <a:off x="5705856" y="4800600"/>
            <a:ext cx="1051560" cy="502920"/>
          </a:xfrm>
          <a:prstGeom prst="rect">
            <a:avLst/>
          </a:prstGeom>
          <a:noFill/>
          <a:ln/>
        </p:spPr>
        <p:txBody>
          <a:bodyPr wrap="square" lIns="0" tIns="0" rIns="0" bIns="0" rtlCol="0" anchor="t"/>
          <a:lstStyle/>
          <a:p>
            <a:pPr marL="0" indent="0">
              <a:buNone/>
            </a:pPr>
            <a:r>
              <a:rPr lang="en-US" sz="1150" dirty="0">
                <a:solidFill>
                  <a:srgbClr val="475569"/>
                </a:solidFill>
              </a:rPr>
              <a:t>Evidence pack, citable IDs</a:t>
            </a:r>
            <a:endParaRPr lang="en-US" sz="1150" dirty="0"/>
          </a:p>
        </p:txBody>
      </p:sp>
      <p:sp>
        <p:nvSpPr>
          <p:cNvPr id="56" name="Shape 46"/>
          <p:cNvSpPr/>
          <p:nvPr/>
        </p:nvSpPr>
        <p:spPr>
          <a:xfrm>
            <a:off x="6894576" y="4594860"/>
            <a:ext cx="201168" cy="0"/>
          </a:xfrm>
          <a:prstGeom prst="line">
            <a:avLst/>
          </a:prstGeom>
          <a:noFill/>
          <a:ln w="19050">
            <a:solidFill>
              <a:srgbClr val="64748B"/>
            </a:solidFill>
            <a:prstDash val="solid"/>
            <a:tailEnd type="triangle"/>
          </a:ln>
        </p:spPr>
      </p:sp>
      <p:sp>
        <p:nvSpPr>
          <p:cNvPr id="57" name="Shape 47"/>
          <p:cNvSpPr/>
          <p:nvPr/>
        </p:nvSpPr>
        <p:spPr>
          <a:xfrm>
            <a:off x="7123176" y="3794760"/>
            <a:ext cx="1325880" cy="1600200"/>
          </a:xfrm>
          <a:prstGeom prst="roundRect">
            <a:avLst>
              <a:gd name="adj" fmla="val 8276"/>
            </a:avLst>
          </a:prstGeom>
          <a:solidFill>
            <a:srgbClr val="FFFFFF"/>
          </a:solidFill>
          <a:ln w="12700">
            <a:solidFill>
              <a:srgbClr val="E2E8F0"/>
            </a:solidFill>
            <a:prstDash val="solid"/>
          </a:ln>
          <a:effectLst>
            <a:outerShdw blurRad="101600" dist="25400" dir="5400000" algn="bl" rotWithShape="0">
              <a:srgbClr val="0F172A">
                <a:alpha val="10000"/>
              </a:srgbClr>
            </a:outerShdw>
          </a:effectLst>
        </p:spPr>
      </p:sp>
      <p:sp>
        <p:nvSpPr>
          <p:cNvPr id="58" name="Shape 48"/>
          <p:cNvSpPr/>
          <p:nvPr/>
        </p:nvSpPr>
        <p:spPr>
          <a:xfrm>
            <a:off x="7287768" y="3977640"/>
            <a:ext cx="420624" cy="420624"/>
          </a:xfrm>
          <a:prstGeom prst="roundRect">
            <a:avLst>
              <a:gd name="adj" fmla="val 22000"/>
            </a:avLst>
          </a:prstGeom>
          <a:solidFill>
            <a:srgbClr val="FFEFE3"/>
          </a:solidFill>
          <a:ln w="12700">
            <a:solidFill>
              <a:srgbClr val="FFEFE3"/>
            </a:solidFill>
            <a:prstDash val="solid"/>
          </a:ln>
        </p:spPr>
      </p:sp>
      <p:pic>
        <p:nvPicPr>
          <p:cNvPr id="59" name="Image 8" descr="preencoded.png"/>
          <p:cNvPicPr>
            <a:picLocks noChangeAspect="1"/>
          </p:cNvPicPr>
          <p:nvPr/>
        </p:nvPicPr>
        <p:blipFill>
          <a:blip r:embed="rId11"/>
          <a:stretch>
            <a:fillRect/>
          </a:stretch>
        </p:blipFill>
        <p:spPr>
          <a:xfrm>
            <a:off x="7388718" y="4078590"/>
            <a:ext cx="218724" cy="218724"/>
          </a:xfrm>
          <a:prstGeom prst="rect">
            <a:avLst/>
          </a:prstGeom>
        </p:spPr>
      </p:pic>
      <p:sp>
        <p:nvSpPr>
          <p:cNvPr id="60" name="Text 49"/>
          <p:cNvSpPr txBox="1"/>
          <p:nvPr/>
        </p:nvSpPr>
        <p:spPr>
          <a:xfrm>
            <a:off x="7287768" y="4507992"/>
            <a:ext cx="1051560" cy="292608"/>
          </a:xfrm>
          <a:prstGeom prst="rect">
            <a:avLst/>
          </a:prstGeom>
          <a:noFill/>
          <a:ln/>
        </p:spPr>
        <p:txBody>
          <a:bodyPr wrap="square" lIns="0" tIns="0" rIns="0" bIns="0" rtlCol="0" anchor="t"/>
          <a:lstStyle/>
          <a:p>
            <a:pPr marL="0" indent="0">
              <a:buNone/>
            </a:pPr>
            <a:r>
              <a:rPr lang="en-US" sz="1400" b="1" dirty="0">
                <a:solidFill>
                  <a:srgbClr val="0F172A"/>
                </a:solidFill>
              </a:rPr>
              <a:t>Agents</a:t>
            </a:r>
            <a:endParaRPr lang="en-US" sz="1400" dirty="0"/>
          </a:p>
        </p:txBody>
      </p:sp>
      <p:sp>
        <p:nvSpPr>
          <p:cNvPr id="61" name="Text 50"/>
          <p:cNvSpPr txBox="1"/>
          <p:nvPr/>
        </p:nvSpPr>
        <p:spPr>
          <a:xfrm>
            <a:off x="7287768" y="4800600"/>
            <a:ext cx="1051560" cy="502920"/>
          </a:xfrm>
          <a:prstGeom prst="rect">
            <a:avLst/>
          </a:prstGeom>
          <a:noFill/>
          <a:ln/>
        </p:spPr>
        <p:txBody>
          <a:bodyPr wrap="square" lIns="0" tIns="0" rIns="0" bIns="0" rtlCol="0" anchor="t"/>
          <a:lstStyle/>
          <a:p>
            <a:pPr marL="0" indent="0">
              <a:buNone/>
            </a:pPr>
            <a:r>
              <a:rPr lang="en-US" sz="1150" dirty="0">
                <a:solidFill>
                  <a:srgbClr val="475569"/>
                </a:solidFill>
              </a:rPr>
              <a:t>Classify → analyse → recommend</a:t>
            </a:r>
            <a:endParaRPr lang="en-US" sz="1150" dirty="0"/>
          </a:p>
        </p:txBody>
      </p:sp>
      <p:sp>
        <p:nvSpPr>
          <p:cNvPr id="62" name="Shape 51"/>
          <p:cNvSpPr/>
          <p:nvPr/>
        </p:nvSpPr>
        <p:spPr>
          <a:xfrm>
            <a:off x="8476488" y="4594860"/>
            <a:ext cx="201168" cy="0"/>
          </a:xfrm>
          <a:prstGeom prst="line">
            <a:avLst/>
          </a:prstGeom>
          <a:noFill/>
          <a:ln w="19050">
            <a:solidFill>
              <a:srgbClr val="64748B"/>
            </a:solidFill>
            <a:prstDash val="solid"/>
            <a:tailEnd type="triangle"/>
          </a:ln>
        </p:spPr>
      </p:sp>
      <p:sp>
        <p:nvSpPr>
          <p:cNvPr id="63" name="Shape 52"/>
          <p:cNvSpPr/>
          <p:nvPr/>
        </p:nvSpPr>
        <p:spPr>
          <a:xfrm>
            <a:off x="8705088" y="3794760"/>
            <a:ext cx="1325880" cy="1600200"/>
          </a:xfrm>
          <a:prstGeom prst="roundRect">
            <a:avLst>
              <a:gd name="adj" fmla="val 8276"/>
            </a:avLst>
          </a:prstGeom>
          <a:solidFill>
            <a:srgbClr val="FFFFFF"/>
          </a:solidFill>
          <a:ln w="12700">
            <a:solidFill>
              <a:srgbClr val="E2E8F0"/>
            </a:solidFill>
            <a:prstDash val="solid"/>
          </a:ln>
          <a:effectLst>
            <a:outerShdw blurRad="101600" dist="25400" dir="5400000" algn="bl" rotWithShape="0">
              <a:srgbClr val="0F172A">
                <a:alpha val="10000"/>
              </a:srgbClr>
            </a:outerShdw>
          </a:effectLst>
        </p:spPr>
      </p:sp>
      <p:sp>
        <p:nvSpPr>
          <p:cNvPr id="64" name="Shape 53"/>
          <p:cNvSpPr/>
          <p:nvPr/>
        </p:nvSpPr>
        <p:spPr>
          <a:xfrm>
            <a:off x="8869680" y="3977640"/>
            <a:ext cx="420624" cy="420624"/>
          </a:xfrm>
          <a:prstGeom prst="roundRect">
            <a:avLst>
              <a:gd name="adj" fmla="val 22000"/>
            </a:avLst>
          </a:prstGeom>
          <a:solidFill>
            <a:srgbClr val="FFEFE3"/>
          </a:solidFill>
          <a:ln w="12700">
            <a:solidFill>
              <a:srgbClr val="FFEFE3"/>
            </a:solidFill>
            <a:prstDash val="solid"/>
          </a:ln>
        </p:spPr>
      </p:sp>
      <p:pic>
        <p:nvPicPr>
          <p:cNvPr id="65" name="Image 9" descr="preencoded.png"/>
          <p:cNvPicPr>
            <a:picLocks noChangeAspect="1"/>
          </p:cNvPicPr>
          <p:nvPr/>
        </p:nvPicPr>
        <p:blipFill>
          <a:blip r:embed="rId12"/>
          <a:stretch>
            <a:fillRect/>
          </a:stretch>
        </p:blipFill>
        <p:spPr>
          <a:xfrm>
            <a:off x="8970630" y="4078590"/>
            <a:ext cx="218724" cy="218724"/>
          </a:xfrm>
          <a:prstGeom prst="rect">
            <a:avLst/>
          </a:prstGeom>
        </p:spPr>
      </p:pic>
      <p:sp>
        <p:nvSpPr>
          <p:cNvPr id="66" name="Text 54"/>
          <p:cNvSpPr txBox="1"/>
          <p:nvPr/>
        </p:nvSpPr>
        <p:spPr>
          <a:xfrm>
            <a:off x="8869680" y="4507992"/>
            <a:ext cx="1051560" cy="292608"/>
          </a:xfrm>
          <a:prstGeom prst="rect">
            <a:avLst/>
          </a:prstGeom>
          <a:noFill/>
          <a:ln/>
        </p:spPr>
        <p:txBody>
          <a:bodyPr wrap="square" lIns="0" tIns="0" rIns="0" bIns="0" rtlCol="0" anchor="t"/>
          <a:lstStyle/>
          <a:p>
            <a:pPr marL="0" indent="0">
              <a:buNone/>
            </a:pPr>
            <a:r>
              <a:rPr lang="en-US" sz="1400" b="1" dirty="0">
                <a:solidFill>
                  <a:srgbClr val="0F172A"/>
                </a:solidFill>
              </a:rPr>
              <a:t>Judge</a:t>
            </a:r>
            <a:endParaRPr lang="en-US" sz="1400" dirty="0"/>
          </a:p>
        </p:txBody>
      </p:sp>
      <p:sp>
        <p:nvSpPr>
          <p:cNvPr id="67" name="Text 55"/>
          <p:cNvSpPr txBox="1"/>
          <p:nvPr/>
        </p:nvSpPr>
        <p:spPr>
          <a:xfrm>
            <a:off x="8869680" y="4800600"/>
            <a:ext cx="1051560" cy="502920"/>
          </a:xfrm>
          <a:prstGeom prst="rect">
            <a:avLst/>
          </a:prstGeom>
          <a:noFill/>
          <a:ln/>
        </p:spPr>
        <p:txBody>
          <a:bodyPr wrap="square" lIns="0" tIns="0" rIns="0" bIns="0" rtlCol="0" anchor="t"/>
          <a:lstStyle/>
          <a:p>
            <a:pPr marL="0" indent="0">
              <a:buNone/>
            </a:pPr>
            <a:r>
              <a:rPr lang="en-US" sz="1150" dirty="0">
                <a:solidFill>
                  <a:srgbClr val="475569"/>
                </a:solidFill>
              </a:rPr>
              <a:t>Scores + rule checks, 1 revision</a:t>
            </a:r>
            <a:endParaRPr lang="en-US" sz="1150" dirty="0"/>
          </a:p>
        </p:txBody>
      </p:sp>
      <p:sp>
        <p:nvSpPr>
          <p:cNvPr id="68" name="Shape 56"/>
          <p:cNvSpPr/>
          <p:nvPr/>
        </p:nvSpPr>
        <p:spPr>
          <a:xfrm>
            <a:off x="10058400" y="4594860"/>
            <a:ext cx="201168" cy="0"/>
          </a:xfrm>
          <a:prstGeom prst="line">
            <a:avLst/>
          </a:prstGeom>
          <a:noFill/>
          <a:ln w="19050">
            <a:solidFill>
              <a:srgbClr val="64748B"/>
            </a:solidFill>
            <a:prstDash val="solid"/>
            <a:tailEnd type="triangle"/>
          </a:ln>
        </p:spPr>
      </p:sp>
      <p:sp>
        <p:nvSpPr>
          <p:cNvPr id="69" name="Shape 57"/>
          <p:cNvSpPr/>
          <p:nvPr/>
        </p:nvSpPr>
        <p:spPr>
          <a:xfrm>
            <a:off x="10287000" y="3794760"/>
            <a:ext cx="1325880" cy="1600200"/>
          </a:xfrm>
          <a:prstGeom prst="roundRect">
            <a:avLst>
              <a:gd name="adj" fmla="val 8276"/>
            </a:avLst>
          </a:prstGeom>
          <a:solidFill>
            <a:srgbClr val="FFFFFF"/>
          </a:solidFill>
          <a:ln w="12700">
            <a:solidFill>
              <a:srgbClr val="E2E8F0"/>
            </a:solidFill>
            <a:prstDash val="solid"/>
          </a:ln>
          <a:effectLst>
            <a:outerShdw blurRad="101600" dist="25400" dir="5400000" algn="bl" rotWithShape="0">
              <a:srgbClr val="0F172A">
                <a:alpha val="10000"/>
              </a:srgbClr>
            </a:outerShdw>
          </a:effectLst>
        </p:spPr>
      </p:sp>
      <p:sp>
        <p:nvSpPr>
          <p:cNvPr id="70" name="Shape 58"/>
          <p:cNvSpPr/>
          <p:nvPr/>
        </p:nvSpPr>
        <p:spPr>
          <a:xfrm>
            <a:off x="10451592" y="3977640"/>
            <a:ext cx="420624" cy="420624"/>
          </a:xfrm>
          <a:prstGeom prst="roundRect">
            <a:avLst>
              <a:gd name="adj" fmla="val 22000"/>
            </a:avLst>
          </a:prstGeom>
          <a:solidFill>
            <a:srgbClr val="E3F6EC"/>
          </a:solidFill>
          <a:ln w="12700">
            <a:solidFill>
              <a:srgbClr val="E3F6EC"/>
            </a:solidFill>
            <a:prstDash val="solid"/>
          </a:ln>
        </p:spPr>
      </p:sp>
      <p:pic>
        <p:nvPicPr>
          <p:cNvPr id="71" name="Image 10" descr="preencoded.png"/>
          <p:cNvPicPr>
            <a:picLocks noChangeAspect="1"/>
          </p:cNvPicPr>
          <p:nvPr/>
        </p:nvPicPr>
        <p:blipFill>
          <a:blip r:embed="rId13"/>
          <a:stretch>
            <a:fillRect/>
          </a:stretch>
        </p:blipFill>
        <p:spPr>
          <a:xfrm>
            <a:off x="10552542" y="4078590"/>
            <a:ext cx="218724" cy="218724"/>
          </a:xfrm>
          <a:prstGeom prst="rect">
            <a:avLst/>
          </a:prstGeom>
        </p:spPr>
      </p:pic>
      <p:sp>
        <p:nvSpPr>
          <p:cNvPr id="72" name="Text 59"/>
          <p:cNvSpPr txBox="1"/>
          <p:nvPr/>
        </p:nvSpPr>
        <p:spPr>
          <a:xfrm>
            <a:off x="10451592" y="4507992"/>
            <a:ext cx="1051560" cy="292608"/>
          </a:xfrm>
          <a:prstGeom prst="rect">
            <a:avLst/>
          </a:prstGeom>
          <a:noFill/>
          <a:ln/>
        </p:spPr>
        <p:txBody>
          <a:bodyPr wrap="square" lIns="0" tIns="0" rIns="0" bIns="0" rtlCol="0" anchor="t"/>
          <a:lstStyle/>
          <a:p>
            <a:pPr marL="0" indent="0">
              <a:buNone/>
            </a:pPr>
            <a:r>
              <a:rPr lang="en-US" sz="1400" b="1" dirty="0">
                <a:solidFill>
                  <a:srgbClr val="0F172A"/>
                </a:solidFill>
              </a:rPr>
              <a:t>Report</a:t>
            </a:r>
            <a:endParaRPr lang="en-US" sz="1400" dirty="0"/>
          </a:p>
        </p:txBody>
      </p:sp>
      <p:sp>
        <p:nvSpPr>
          <p:cNvPr id="73" name="Text 60"/>
          <p:cNvSpPr txBox="1"/>
          <p:nvPr/>
        </p:nvSpPr>
        <p:spPr>
          <a:xfrm>
            <a:off x="10451592" y="4800600"/>
            <a:ext cx="1051560" cy="502920"/>
          </a:xfrm>
          <a:prstGeom prst="rect">
            <a:avLst/>
          </a:prstGeom>
          <a:noFill/>
          <a:ln/>
        </p:spPr>
        <p:txBody>
          <a:bodyPr wrap="square" lIns="0" tIns="0" rIns="0" bIns="0" rtlCol="0" anchor="t"/>
          <a:lstStyle/>
          <a:p>
            <a:pPr marL="0" indent="0">
              <a:buNone/>
            </a:pPr>
            <a:r>
              <a:rPr lang="en-US" sz="1150" dirty="0">
                <a:solidFill>
                  <a:srgbClr val="475569"/>
                </a:solidFill>
              </a:rPr>
              <a:t>Summary-first, detail in tabs</a:t>
            </a:r>
            <a:endParaRPr lang="en-US" sz="1150" dirty="0"/>
          </a:p>
        </p:txBody>
      </p:sp>
      <p:sp>
        <p:nvSpPr>
          <p:cNvPr id="74" name="Shape 61"/>
          <p:cNvSpPr/>
          <p:nvPr/>
        </p:nvSpPr>
        <p:spPr>
          <a:xfrm>
            <a:off x="10791749" y="3108960"/>
            <a:ext cx="0" cy="347472"/>
          </a:xfrm>
          <a:prstGeom prst="line">
            <a:avLst/>
          </a:prstGeom>
          <a:noFill/>
          <a:ln w="22225">
            <a:solidFill>
              <a:srgbClr val="2563EB"/>
            </a:solidFill>
            <a:prstDash val="solid"/>
          </a:ln>
        </p:spPr>
      </p:sp>
      <p:sp>
        <p:nvSpPr>
          <p:cNvPr id="75" name="Shape 62"/>
          <p:cNvSpPr/>
          <p:nvPr/>
        </p:nvSpPr>
        <p:spPr>
          <a:xfrm flipH="1">
            <a:off x="4622292" y="3456432"/>
            <a:ext cx="6169457" cy="0"/>
          </a:xfrm>
          <a:prstGeom prst="line">
            <a:avLst/>
          </a:prstGeom>
          <a:noFill/>
          <a:ln w="22225">
            <a:solidFill>
              <a:srgbClr val="2563EB"/>
            </a:solidFill>
            <a:prstDash val="solid"/>
          </a:ln>
        </p:spPr>
      </p:sp>
      <p:sp>
        <p:nvSpPr>
          <p:cNvPr id="76" name="Shape 63"/>
          <p:cNvSpPr/>
          <p:nvPr/>
        </p:nvSpPr>
        <p:spPr>
          <a:xfrm>
            <a:off x="4622292" y="3456432"/>
            <a:ext cx="0" cy="310896"/>
          </a:xfrm>
          <a:prstGeom prst="line">
            <a:avLst/>
          </a:prstGeom>
          <a:noFill/>
          <a:ln w="22225">
            <a:solidFill>
              <a:srgbClr val="2563EB"/>
            </a:solidFill>
            <a:prstDash val="solid"/>
            <a:tailEnd type="triangle"/>
          </a:ln>
        </p:spPr>
      </p:sp>
      <p:sp>
        <p:nvSpPr>
          <p:cNvPr id="77" name="Text 64"/>
          <p:cNvSpPr txBox="1"/>
          <p:nvPr/>
        </p:nvSpPr>
        <p:spPr>
          <a:xfrm>
            <a:off x="6400800" y="3182112"/>
            <a:ext cx="2011680" cy="237744"/>
          </a:xfrm>
          <a:prstGeom prst="rect">
            <a:avLst/>
          </a:prstGeom>
          <a:noFill/>
          <a:ln/>
        </p:spPr>
        <p:txBody>
          <a:bodyPr wrap="square" lIns="0" tIns="0" rIns="0" bIns="0" rtlCol="0" anchor="t"/>
          <a:lstStyle/>
          <a:p>
            <a:pPr marL="0" indent="0" algn="ctr">
              <a:buNone/>
            </a:pPr>
            <a:r>
              <a:rPr lang="en-US" sz="1100" i="1" dirty="0">
                <a:solidFill>
                  <a:srgbClr val="2563EB"/>
                </a:solidFill>
              </a:rPr>
              <a:t>indexes + models</a:t>
            </a:r>
            <a:endParaRPr lang="en-US" sz="1100" dirty="0"/>
          </a:p>
        </p:txBody>
      </p:sp>
      <p:sp>
        <p:nvSpPr>
          <p:cNvPr id="78" name="Shape 65"/>
          <p:cNvSpPr/>
          <p:nvPr/>
        </p:nvSpPr>
        <p:spPr>
          <a:xfrm>
            <a:off x="10949940" y="5394960"/>
            <a:ext cx="0" cy="320040"/>
          </a:xfrm>
          <a:prstGeom prst="line">
            <a:avLst/>
          </a:prstGeom>
          <a:noFill/>
          <a:ln w="22225">
            <a:solidFill>
              <a:srgbClr val="0E9F6E"/>
            </a:solidFill>
            <a:prstDash val="dash"/>
          </a:ln>
        </p:spPr>
      </p:sp>
      <p:sp>
        <p:nvSpPr>
          <p:cNvPr id="79" name="Shape 66"/>
          <p:cNvSpPr/>
          <p:nvPr/>
        </p:nvSpPr>
        <p:spPr>
          <a:xfrm flipH="1">
            <a:off x="4622292" y="5715000"/>
            <a:ext cx="6327648" cy="0"/>
          </a:xfrm>
          <a:prstGeom prst="line">
            <a:avLst/>
          </a:prstGeom>
          <a:noFill/>
          <a:ln w="22225">
            <a:solidFill>
              <a:srgbClr val="0E9F6E"/>
            </a:solidFill>
            <a:prstDash val="dash"/>
          </a:ln>
        </p:spPr>
      </p:sp>
      <p:sp>
        <p:nvSpPr>
          <p:cNvPr id="80" name="Shape 67"/>
          <p:cNvSpPr/>
          <p:nvPr/>
        </p:nvSpPr>
        <p:spPr>
          <a:xfrm flipV="1">
            <a:off x="4622292" y="5422392"/>
            <a:ext cx="0" cy="292608"/>
          </a:xfrm>
          <a:prstGeom prst="line">
            <a:avLst/>
          </a:prstGeom>
          <a:noFill/>
          <a:ln w="22225">
            <a:solidFill>
              <a:srgbClr val="0E9F6E"/>
            </a:solidFill>
            <a:prstDash val="dash"/>
            <a:tailEnd type="triangle"/>
          </a:ln>
        </p:spPr>
      </p:sp>
      <p:sp>
        <p:nvSpPr>
          <p:cNvPr id="81" name="Text 68"/>
          <p:cNvSpPr txBox="1"/>
          <p:nvPr/>
        </p:nvSpPr>
        <p:spPr>
          <a:xfrm>
            <a:off x="4572000" y="5769864"/>
            <a:ext cx="5486400" cy="256032"/>
          </a:xfrm>
          <a:prstGeom prst="rect">
            <a:avLst/>
          </a:prstGeom>
          <a:noFill/>
          <a:ln/>
        </p:spPr>
        <p:txBody>
          <a:bodyPr wrap="square" lIns="0" tIns="0" rIns="0" bIns="0" rtlCol="0" anchor="t"/>
          <a:lstStyle/>
          <a:p>
            <a:pPr marL="0" indent="0" algn="ctr">
              <a:buNone/>
            </a:pPr>
            <a:r>
              <a:rPr lang="en-US" sz="1150" i="1" dirty="0">
                <a:solidFill>
                  <a:srgbClr val="0E9F6E"/>
                </a:solidFill>
              </a:rPr>
              <a:t>feedback: ratings + case relevance votes → Beta-smoothed prior in the rerank</a:t>
            </a:r>
            <a:endParaRPr lang="en-US" sz="1150" dirty="0"/>
          </a:p>
        </p:txBody>
      </p:sp>
      <p:sp>
        <p:nvSpPr>
          <p:cNvPr id="82" name="Text 69"/>
          <p:cNvSpPr txBox="1"/>
          <p:nvPr/>
        </p:nvSpPr>
        <p:spPr>
          <a:xfrm>
            <a:off x="548640" y="6053328"/>
            <a:ext cx="11064240" cy="274320"/>
          </a:xfrm>
          <a:prstGeom prst="rect">
            <a:avLst/>
          </a:prstGeom>
          <a:noFill/>
          <a:ln/>
        </p:spPr>
        <p:txBody>
          <a:bodyPr wrap="square" lIns="0" tIns="0" rIns="0" bIns="0" rtlCol="0" anchor="t"/>
          <a:lstStyle/>
          <a:p>
            <a:pPr marL="0" indent="0">
              <a:buNone/>
            </a:pPr>
            <a:r>
              <a:rPr lang="en-US" sz="1150" b="1" dirty="0">
                <a:solidFill>
                  <a:srgbClr val="EA580C"/>
                </a:solidFill>
              </a:rPr>
              <a:t>Reduced mode </a:t>
            </a:r>
            <a:r>
              <a:rPr lang="en-US" sz="1150" dirty="0">
                <a:solidFill>
                  <a:srgbClr val="475569"/>
                </a:solidFill>
              </a:rPr>
              <a:t>(no key / circuit open / spend cap): rules → retrieve → evidence → deterministic answer</a:t>
            </a:r>
            <a:endParaRPr lang="en-US" sz="1150" dirty="0"/>
          </a:p>
        </p:txBody>
      </p:sp>
      <p:sp>
        <p:nvSpPr>
          <p:cNvPr id="83"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64748B"/>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229600" cy="274320"/>
          </a:xfrm>
          <a:prstGeom prst="rect">
            <a:avLst/>
          </a:prstGeom>
          <a:noFill/>
          <a:ln/>
        </p:spPr>
        <p:txBody>
          <a:bodyPr wrap="square" lIns="0" tIns="0" rIns="0" bIns="0" rtlCol="0" anchor="ctr"/>
          <a:lstStyle/>
          <a:p>
            <a:pPr marL="0" indent="0">
              <a:buNone/>
            </a:pPr>
            <a:r>
              <a:rPr lang="en-US" sz="1200" b="1" kern="0" spc="200" dirty="0">
                <a:solidFill>
                  <a:srgbClr val="EA580C"/>
                </a:solidFill>
              </a:rPr>
              <a:t>THE DATA</a:t>
            </a:r>
            <a:endParaRPr lang="en-US" sz="1200" dirty="0"/>
          </a:p>
        </p:txBody>
      </p:sp>
      <p:sp>
        <p:nvSpPr>
          <p:cNvPr id="3" name="Text 0"/>
          <p:cNvSpPr>
            <a:spLocks noGrp="1"/>
          </p:cNvSpPr>
          <p:nvPr>
            <p:ph type="title" idx="101" hasCustomPrompt="1"/>
          </p:nvPr>
        </p:nvSpPr>
        <p:spPr>
          <a:xfrm>
            <a:off x="548640" y="621792"/>
            <a:ext cx="11064240" cy="640080"/>
          </a:xfrm>
          <a:prstGeom prst="rect">
            <a:avLst/>
          </a:prstGeom>
          <a:noFill/>
          <a:ln/>
        </p:spPr>
        <p:txBody>
          <a:bodyPr wrap="square" lIns="0" tIns="0" rIns="0" bIns="0" rtlCol="0" anchor="ctr"/>
          <a:lstStyle/>
          <a:p>
            <a:pPr marL="0" indent="0" algn="l">
              <a:buNone/>
            </a:pPr>
            <a:r>
              <a:rPr lang="en-US" sz="3200" b="1" dirty="0">
                <a:solidFill>
                  <a:srgbClr val="0B2545"/>
                </a:solidFill>
              </a:rPr>
              <a:t>The dataset: three surprising findings</a:t>
            </a:r>
            <a:endParaRPr lang="en-US" sz="3200" dirty="0"/>
          </a:p>
        </p:txBody>
      </p:sp>
      <p:sp>
        <p:nvSpPr>
          <p:cNvPr id="4" name="Text 2"/>
          <p:cNvSpPr txBox="1"/>
          <p:nvPr/>
        </p:nvSpPr>
        <p:spPr>
          <a:xfrm>
            <a:off x="548640" y="1353312"/>
            <a:ext cx="11064240" cy="274320"/>
          </a:xfrm>
          <a:prstGeom prst="rect">
            <a:avLst/>
          </a:prstGeom>
          <a:noFill/>
          <a:ln/>
        </p:spPr>
        <p:txBody>
          <a:bodyPr wrap="square" lIns="0" tIns="0" rIns="0" bIns="0" rtlCol="0" anchor="t"/>
          <a:lstStyle/>
          <a:p>
            <a:pPr marL="0" indent="0">
              <a:buNone/>
            </a:pPr>
            <a:r>
              <a:rPr lang="en-US" sz="1300" i="1" dirty="0">
                <a:solidFill>
                  <a:srgbClr val="64748B"/>
                </a:solidFill>
              </a:rPr>
              <a:t>5G NetOps dataset (Hugging Face fenar/5g_netops): 100,000 rows × 27 KPI columns, Apache-2.0</a:t>
            </a:r>
            <a:endParaRPr lang="en-US" sz="1300" dirty="0"/>
          </a:p>
        </p:txBody>
      </p:sp>
      <p:grpSp>
        <p:nvGrpSpPr>
          <p:cNvPr id="32" name="Group 31">
            <a:extLst>
              <a:ext uri="{FF2B5EF4-FFF2-40B4-BE49-F238E27FC236}">
                <a16:creationId xmlns:a16="http://schemas.microsoft.com/office/drawing/2014/main" id="{DD89B48B-5037-FBA3-6F18-F8FD7F742A32}"/>
              </a:ext>
            </a:extLst>
          </p:cNvPr>
          <p:cNvGrpSpPr/>
          <p:nvPr/>
        </p:nvGrpSpPr>
        <p:grpSpPr>
          <a:xfrm>
            <a:off x="1366192" y="2124869"/>
            <a:ext cx="4320000" cy="3780000"/>
            <a:chOff x="1449324" y="1805940"/>
            <a:chExt cx="3502152" cy="4343400"/>
          </a:xfrm>
        </p:grpSpPr>
        <p:sp>
          <p:nvSpPr>
            <p:cNvPr id="5" name="Shape 3"/>
            <p:cNvSpPr/>
            <p:nvPr/>
          </p:nvSpPr>
          <p:spPr>
            <a:xfrm>
              <a:off x="1449324" y="1805940"/>
              <a:ext cx="3502152" cy="4343400"/>
            </a:xfrm>
            <a:prstGeom prst="roundRect">
              <a:avLst>
                <a:gd name="adj" fmla="val 3133"/>
              </a:avLst>
            </a:prstGeom>
            <a:solidFill>
              <a:srgbClr val="FFFFFF"/>
            </a:solidFill>
            <a:ln w="12700">
              <a:solidFill>
                <a:srgbClr val="E2E8F0"/>
              </a:solidFill>
              <a:prstDash val="solid"/>
            </a:ln>
            <a:effectLst>
              <a:outerShdw blurRad="101600" dist="25400" dir="5400000" algn="bl" rotWithShape="0">
                <a:srgbClr val="0F172A">
                  <a:alpha val="10000"/>
                </a:srgbClr>
              </a:outerShdw>
            </a:effectLst>
          </p:spPr>
        </p:sp>
        <p:sp>
          <p:nvSpPr>
            <p:cNvPr id="6" name="Shape 4"/>
            <p:cNvSpPr/>
            <p:nvPr/>
          </p:nvSpPr>
          <p:spPr>
            <a:xfrm>
              <a:off x="1723644" y="2080260"/>
              <a:ext cx="530352" cy="530352"/>
            </a:xfrm>
            <a:prstGeom prst="roundRect">
              <a:avLst>
                <a:gd name="adj" fmla="val 22000"/>
              </a:avLst>
            </a:prstGeom>
            <a:solidFill>
              <a:srgbClr val="FFEFE3"/>
            </a:solidFill>
            <a:ln w="12700">
              <a:solidFill>
                <a:srgbClr val="FFEFE3"/>
              </a:solidFill>
              <a:prstDash val="solid"/>
            </a:ln>
          </p:spPr>
        </p:sp>
        <p:pic>
          <p:nvPicPr>
            <p:cNvPr id="7" name="Image 0" descr="preencoded.png"/>
            <p:cNvPicPr>
              <a:picLocks noChangeAspect="1"/>
            </p:cNvPicPr>
            <p:nvPr/>
          </p:nvPicPr>
          <p:blipFill>
            <a:blip r:embed="rId3"/>
            <a:stretch>
              <a:fillRect/>
            </a:stretch>
          </p:blipFill>
          <p:spPr>
            <a:xfrm>
              <a:off x="1850928" y="2207544"/>
              <a:ext cx="275783" cy="275783"/>
            </a:xfrm>
            <a:prstGeom prst="rect">
              <a:avLst/>
            </a:prstGeom>
          </p:spPr>
        </p:pic>
        <p:sp>
          <p:nvSpPr>
            <p:cNvPr id="8" name="Text 5"/>
            <p:cNvSpPr txBox="1"/>
            <p:nvPr/>
          </p:nvSpPr>
          <p:spPr>
            <a:xfrm>
              <a:off x="2409444" y="2080260"/>
              <a:ext cx="2313432" cy="530352"/>
            </a:xfrm>
            <a:prstGeom prst="rect">
              <a:avLst/>
            </a:prstGeom>
            <a:noFill/>
            <a:ln/>
          </p:spPr>
          <p:txBody>
            <a:bodyPr wrap="square" lIns="0" tIns="0" rIns="0" bIns="0" rtlCol="0" anchor="ctr"/>
            <a:lstStyle/>
            <a:p>
              <a:pPr marL="0" indent="0">
                <a:buNone/>
              </a:pPr>
              <a:r>
                <a:rPr lang="en-US" sz="1900" b="1" dirty="0">
                  <a:solidFill>
                    <a:srgbClr val="0F172A"/>
                  </a:solidFill>
                </a:rPr>
                <a:t>1. No text at all</a:t>
              </a:r>
              <a:endParaRPr lang="en-US" sz="1900" dirty="0"/>
            </a:p>
          </p:txBody>
        </p:sp>
        <p:sp>
          <p:nvSpPr>
            <p:cNvPr id="9" name="Text 6"/>
            <p:cNvSpPr txBox="1"/>
            <p:nvPr/>
          </p:nvSpPr>
          <p:spPr>
            <a:xfrm>
              <a:off x="1723644" y="2766060"/>
              <a:ext cx="2953512" cy="1325880"/>
            </a:xfrm>
            <a:prstGeom prst="rect">
              <a:avLst/>
            </a:prstGeom>
            <a:noFill/>
            <a:ln/>
          </p:spPr>
          <p:txBody>
            <a:bodyPr wrap="square" lIns="0" tIns="0" rIns="0" bIns="0" rtlCol="0" anchor="t"/>
            <a:lstStyle/>
            <a:p>
              <a:pPr marL="0" indent="0">
                <a:buNone/>
              </a:pPr>
              <a:r>
                <a:rPr lang="en-US" sz="1400" dirty="0">
                  <a:solidFill>
                    <a:srgbClr val="475569"/>
                  </a:solidFill>
                </a:rPr>
                <a:t>No incident descriptions, causes or actions.</a:t>
              </a:r>
              <a:endParaRPr lang="en-US" sz="1400" dirty="0"/>
            </a:p>
          </p:txBody>
        </p:sp>
        <p:sp>
          <p:nvSpPr>
            <p:cNvPr id="10" name="Shape 7"/>
            <p:cNvSpPr/>
            <p:nvPr/>
          </p:nvSpPr>
          <p:spPr>
            <a:xfrm>
              <a:off x="1632204" y="4137660"/>
              <a:ext cx="3136392" cy="1828800"/>
            </a:xfrm>
            <a:prstGeom prst="roundRect">
              <a:avLst>
                <a:gd name="adj" fmla="val 5000"/>
              </a:avLst>
            </a:prstGeom>
            <a:solidFill>
              <a:srgbClr val="E3F6EC"/>
            </a:solidFill>
            <a:ln w="12700">
              <a:solidFill>
                <a:srgbClr val="E3F6EC"/>
              </a:solidFill>
              <a:prstDash val="solid"/>
            </a:ln>
          </p:spPr>
        </p:sp>
        <p:sp>
          <p:nvSpPr>
            <p:cNvPr id="11" name="Text 8"/>
            <p:cNvSpPr txBox="1"/>
            <p:nvPr/>
          </p:nvSpPr>
          <p:spPr>
            <a:xfrm>
              <a:off x="1815084" y="4320540"/>
              <a:ext cx="2286000" cy="228600"/>
            </a:xfrm>
            <a:prstGeom prst="rect">
              <a:avLst/>
            </a:prstGeom>
            <a:noFill/>
            <a:ln/>
          </p:spPr>
          <p:txBody>
            <a:bodyPr wrap="square" lIns="0" tIns="0" rIns="0" bIns="0" rtlCol="0" anchor="t"/>
            <a:lstStyle/>
            <a:p>
              <a:pPr marL="0" indent="0">
                <a:buNone/>
              </a:pPr>
              <a:r>
                <a:rPr lang="en-US" sz="1100" b="1" kern="0" spc="150" dirty="0">
                  <a:solidFill>
                    <a:srgbClr val="0E9F6E"/>
                  </a:solidFill>
                </a:rPr>
                <a:t>WHAT WE DID</a:t>
              </a:r>
              <a:endParaRPr lang="en-US" sz="1100" dirty="0"/>
            </a:p>
          </p:txBody>
        </p:sp>
        <p:sp>
          <p:nvSpPr>
            <p:cNvPr id="12" name="Text 9"/>
            <p:cNvSpPr txBox="1"/>
            <p:nvPr/>
          </p:nvSpPr>
          <p:spPr>
            <a:xfrm>
              <a:off x="1815084" y="4622292"/>
              <a:ext cx="2770632" cy="1280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0F172A"/>
                  </a:solidFill>
                </a:rPr>
                <a:t>Case narratives generated from the KPIs</a:t>
              </a:r>
              <a:endParaRPr lang="en-US" sz="1400" dirty="0"/>
            </a:p>
            <a:p>
              <a:pPr marL="342900" indent="-342900">
                <a:spcAft>
                  <a:spcPts val="600"/>
                </a:spcAft>
                <a:buSzPct val="100000"/>
                <a:buChar char="→"/>
              </a:pPr>
              <a:r>
                <a:rPr lang="en-US" sz="1400" dirty="0">
                  <a:solidFill>
                    <a:srgbClr val="0F172A"/>
                  </a:solidFill>
                </a:rPr>
                <a:t>9 authored runbooks as the knowledge source (81 sections)</a:t>
              </a:r>
              <a:endParaRPr lang="en-US" sz="1400" dirty="0"/>
            </a:p>
          </p:txBody>
        </p:sp>
      </p:grpSp>
      <p:grpSp>
        <p:nvGrpSpPr>
          <p:cNvPr id="33" name="Group 32">
            <a:extLst>
              <a:ext uri="{FF2B5EF4-FFF2-40B4-BE49-F238E27FC236}">
                <a16:creationId xmlns:a16="http://schemas.microsoft.com/office/drawing/2014/main" id="{090F3058-A3BE-1D94-8A83-F826D96B94D9}"/>
              </a:ext>
            </a:extLst>
          </p:cNvPr>
          <p:cNvGrpSpPr/>
          <p:nvPr/>
        </p:nvGrpSpPr>
        <p:grpSpPr>
          <a:xfrm>
            <a:off x="6771964" y="2124869"/>
            <a:ext cx="4320000" cy="3780000"/>
            <a:chOff x="6976872" y="1828800"/>
            <a:chExt cx="3502152" cy="4343400"/>
          </a:xfrm>
        </p:grpSpPr>
        <p:sp>
          <p:nvSpPr>
            <p:cNvPr id="13" name="Shape 10"/>
            <p:cNvSpPr/>
            <p:nvPr/>
          </p:nvSpPr>
          <p:spPr>
            <a:xfrm>
              <a:off x="6976872" y="1828800"/>
              <a:ext cx="3502152" cy="4343400"/>
            </a:xfrm>
            <a:prstGeom prst="roundRect">
              <a:avLst>
                <a:gd name="adj" fmla="val 3133"/>
              </a:avLst>
            </a:prstGeom>
            <a:solidFill>
              <a:srgbClr val="FFFFFF"/>
            </a:solidFill>
            <a:ln w="12700">
              <a:solidFill>
                <a:srgbClr val="E2E8F0"/>
              </a:solidFill>
              <a:prstDash val="solid"/>
            </a:ln>
            <a:effectLst>
              <a:outerShdw blurRad="101600" dist="25400" dir="5400000" algn="bl" rotWithShape="0">
                <a:srgbClr val="0F172A">
                  <a:alpha val="10000"/>
                </a:srgbClr>
              </a:outerShdw>
            </a:effectLst>
          </p:spPr>
        </p:sp>
        <p:sp>
          <p:nvSpPr>
            <p:cNvPr id="14" name="Shape 11"/>
            <p:cNvSpPr/>
            <p:nvPr/>
          </p:nvSpPr>
          <p:spPr>
            <a:xfrm>
              <a:off x="7251192" y="2103120"/>
              <a:ext cx="530352" cy="530352"/>
            </a:xfrm>
            <a:prstGeom prst="roundRect">
              <a:avLst>
                <a:gd name="adj" fmla="val 22000"/>
              </a:avLst>
            </a:prstGeom>
            <a:solidFill>
              <a:srgbClr val="FFEFE3"/>
            </a:solidFill>
            <a:ln w="12700">
              <a:solidFill>
                <a:srgbClr val="FFEFE3"/>
              </a:solidFill>
              <a:prstDash val="solid"/>
            </a:ln>
          </p:spPr>
        </p:sp>
        <p:pic>
          <p:nvPicPr>
            <p:cNvPr id="15" name="Image 1" descr="preencoded.png"/>
            <p:cNvPicPr>
              <a:picLocks noChangeAspect="1"/>
            </p:cNvPicPr>
            <p:nvPr/>
          </p:nvPicPr>
          <p:blipFill>
            <a:blip r:embed="rId4"/>
            <a:stretch>
              <a:fillRect/>
            </a:stretch>
          </p:blipFill>
          <p:spPr>
            <a:xfrm>
              <a:off x="7378476" y="2230404"/>
              <a:ext cx="275783" cy="275783"/>
            </a:xfrm>
            <a:prstGeom prst="rect">
              <a:avLst/>
            </a:prstGeom>
          </p:spPr>
        </p:pic>
        <p:sp>
          <p:nvSpPr>
            <p:cNvPr id="16" name="Text 12"/>
            <p:cNvSpPr txBox="1"/>
            <p:nvPr/>
          </p:nvSpPr>
          <p:spPr>
            <a:xfrm>
              <a:off x="7936992" y="2103120"/>
              <a:ext cx="2313432" cy="530352"/>
            </a:xfrm>
            <a:prstGeom prst="rect">
              <a:avLst/>
            </a:prstGeom>
            <a:noFill/>
            <a:ln/>
          </p:spPr>
          <p:txBody>
            <a:bodyPr wrap="square" lIns="0" tIns="0" rIns="0" bIns="0" rtlCol="0" anchor="ctr"/>
            <a:lstStyle/>
            <a:p>
              <a:pPr marL="0" indent="0">
                <a:buNone/>
              </a:pPr>
              <a:r>
                <a:rPr lang="en-US" sz="1900" b="1" dirty="0">
                  <a:solidFill>
                    <a:srgbClr val="0F172A"/>
                  </a:solidFill>
                </a:rPr>
                <a:t>2. Leaky columns</a:t>
              </a:r>
              <a:endParaRPr lang="en-US" sz="1900" dirty="0"/>
            </a:p>
          </p:txBody>
        </p:sp>
        <p:sp>
          <p:nvSpPr>
            <p:cNvPr id="17" name="Text 13"/>
            <p:cNvSpPr txBox="1"/>
            <p:nvPr/>
          </p:nvSpPr>
          <p:spPr>
            <a:xfrm>
              <a:off x="7251192" y="2788920"/>
              <a:ext cx="2953512" cy="1325880"/>
            </a:xfrm>
            <a:prstGeom prst="rect">
              <a:avLst/>
            </a:prstGeom>
            <a:noFill/>
            <a:ln/>
          </p:spPr>
          <p:txBody>
            <a:bodyPr wrap="square" lIns="0" tIns="0" rIns="0" bIns="0" rtlCol="0" anchor="t"/>
            <a:lstStyle/>
            <a:p>
              <a:pPr marL="0" indent="0">
                <a:buNone/>
              </a:pPr>
              <a:r>
                <a:rPr lang="en-US" sz="1400" dirty="0">
                  <a:solidFill>
                    <a:srgbClr val="475569"/>
                  </a:solidFill>
                </a:rPr>
                <a:t>Fault occurrence rate is an exact formula of other columns (R² = 1.00). 'Issue Reported' is noise (AUC 0.501).</a:t>
              </a:r>
              <a:endParaRPr lang="en-US" sz="1400" dirty="0"/>
            </a:p>
          </p:txBody>
        </p:sp>
        <p:sp>
          <p:nvSpPr>
            <p:cNvPr id="18" name="Shape 14"/>
            <p:cNvSpPr/>
            <p:nvPr/>
          </p:nvSpPr>
          <p:spPr>
            <a:xfrm>
              <a:off x="7159752" y="4160520"/>
              <a:ext cx="3136392" cy="1828800"/>
            </a:xfrm>
            <a:prstGeom prst="roundRect">
              <a:avLst>
                <a:gd name="adj" fmla="val 5000"/>
              </a:avLst>
            </a:prstGeom>
            <a:solidFill>
              <a:srgbClr val="E3F6EC"/>
            </a:solidFill>
            <a:ln w="12700">
              <a:solidFill>
                <a:srgbClr val="E3F6EC"/>
              </a:solidFill>
              <a:prstDash val="solid"/>
            </a:ln>
          </p:spPr>
        </p:sp>
        <p:sp>
          <p:nvSpPr>
            <p:cNvPr id="19" name="Text 15"/>
            <p:cNvSpPr txBox="1"/>
            <p:nvPr/>
          </p:nvSpPr>
          <p:spPr>
            <a:xfrm>
              <a:off x="7342632" y="4343400"/>
              <a:ext cx="2286000" cy="228600"/>
            </a:xfrm>
            <a:prstGeom prst="rect">
              <a:avLst/>
            </a:prstGeom>
            <a:noFill/>
            <a:ln/>
          </p:spPr>
          <p:txBody>
            <a:bodyPr wrap="square" lIns="0" tIns="0" rIns="0" bIns="0" rtlCol="0" anchor="t"/>
            <a:lstStyle/>
            <a:p>
              <a:pPr marL="0" indent="0">
                <a:buNone/>
              </a:pPr>
              <a:r>
                <a:rPr lang="en-US" sz="1100" b="1" kern="0" spc="150" dirty="0">
                  <a:solidFill>
                    <a:srgbClr val="0E9F6E"/>
                  </a:solidFill>
                </a:rPr>
                <a:t>WHAT WE DID</a:t>
              </a:r>
              <a:endParaRPr lang="en-US" sz="1100" dirty="0"/>
            </a:p>
          </p:txBody>
        </p:sp>
        <p:sp>
          <p:nvSpPr>
            <p:cNvPr id="20" name="Text 16"/>
            <p:cNvSpPr txBox="1"/>
            <p:nvPr/>
          </p:nvSpPr>
          <p:spPr>
            <a:xfrm>
              <a:off x="7342632" y="4645152"/>
              <a:ext cx="2770632" cy="1280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0F172A"/>
                  </a:solidFill>
                </a:rPr>
                <a:t>ML on leading indicators only: fault-risk AUC 0.874, honest not perfect</a:t>
              </a:r>
              <a:endParaRPr lang="en-US" sz="1400" dirty="0"/>
            </a:p>
          </p:txBody>
        </p:sp>
      </p:grpSp>
      <p:sp>
        <p:nvSpPr>
          <p:cNvPr id="29"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64748B"/>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229600" cy="274320"/>
          </a:xfrm>
          <a:prstGeom prst="rect">
            <a:avLst/>
          </a:prstGeom>
          <a:noFill/>
          <a:ln/>
        </p:spPr>
        <p:txBody>
          <a:bodyPr wrap="square" lIns="0" tIns="0" rIns="0" bIns="0" rtlCol="0" anchor="ctr"/>
          <a:lstStyle/>
          <a:p>
            <a:pPr marL="0" indent="0">
              <a:buNone/>
            </a:pPr>
            <a:r>
              <a:rPr lang="en-US" sz="1200" b="1" kern="0" spc="200" dirty="0">
                <a:solidFill>
                  <a:srgbClr val="EA580C"/>
                </a:solidFill>
              </a:rPr>
              <a:t>TECHNOLOGY STACK</a:t>
            </a:r>
            <a:endParaRPr lang="en-US" sz="1200" dirty="0"/>
          </a:p>
        </p:txBody>
      </p:sp>
      <p:sp>
        <p:nvSpPr>
          <p:cNvPr id="3" name="Text 0"/>
          <p:cNvSpPr>
            <a:spLocks noGrp="1"/>
          </p:cNvSpPr>
          <p:nvPr>
            <p:ph type="title" idx="101" hasCustomPrompt="1"/>
          </p:nvPr>
        </p:nvSpPr>
        <p:spPr>
          <a:xfrm>
            <a:off x="548640" y="621792"/>
            <a:ext cx="11064240" cy="640080"/>
          </a:xfrm>
          <a:prstGeom prst="rect">
            <a:avLst/>
          </a:prstGeom>
          <a:noFill/>
          <a:ln/>
        </p:spPr>
        <p:txBody>
          <a:bodyPr wrap="square" lIns="0" tIns="0" rIns="0" bIns="0" rtlCol="0" anchor="ctr"/>
          <a:lstStyle/>
          <a:p>
            <a:pPr marL="0" indent="0" algn="l">
              <a:buNone/>
            </a:pPr>
            <a:r>
              <a:rPr lang="en-US" sz="3200" b="1" dirty="0">
                <a:solidFill>
                  <a:srgbClr val="0B2545"/>
                </a:solidFill>
              </a:rPr>
              <a:t>Technology stack</a:t>
            </a:r>
            <a:endParaRPr lang="en-US" sz="3200" dirty="0"/>
          </a:p>
        </p:txBody>
      </p:sp>
      <p:sp>
        <p:nvSpPr>
          <p:cNvPr id="4" name="Shape 2"/>
          <p:cNvSpPr/>
          <p:nvPr/>
        </p:nvSpPr>
        <p:spPr>
          <a:xfrm>
            <a:off x="548640" y="1600200"/>
            <a:ext cx="2606040" cy="2148840"/>
          </a:xfrm>
          <a:prstGeom prst="roundRect">
            <a:avLst>
              <a:gd name="adj" fmla="val 5106"/>
            </a:avLst>
          </a:prstGeom>
          <a:solidFill>
            <a:srgbClr val="FFFFFF"/>
          </a:solidFill>
          <a:ln w="12700">
            <a:solidFill>
              <a:srgbClr val="E2E8F0"/>
            </a:solidFill>
            <a:prstDash val="solid"/>
          </a:ln>
          <a:effectLst>
            <a:outerShdw blurRad="101600" dist="25400" dir="5400000" algn="bl" rotWithShape="0">
              <a:srgbClr val="0F172A">
                <a:alpha val="10000"/>
              </a:srgbClr>
            </a:outerShdw>
          </a:effectLst>
        </p:spPr>
      </p:sp>
      <p:sp>
        <p:nvSpPr>
          <p:cNvPr id="5" name="Shape 3"/>
          <p:cNvSpPr/>
          <p:nvPr/>
        </p:nvSpPr>
        <p:spPr>
          <a:xfrm>
            <a:off x="777240" y="1828800"/>
            <a:ext cx="475488" cy="475488"/>
          </a:xfrm>
          <a:prstGeom prst="roundRect">
            <a:avLst>
              <a:gd name="adj" fmla="val 22000"/>
            </a:avLst>
          </a:prstGeom>
          <a:solidFill>
            <a:srgbClr val="FFEFE3"/>
          </a:solidFill>
          <a:ln w="12700">
            <a:solidFill>
              <a:srgbClr val="FFEFE3"/>
            </a:solidFill>
            <a:prstDash val="solid"/>
          </a:ln>
        </p:spPr>
      </p:sp>
      <p:pic>
        <p:nvPicPr>
          <p:cNvPr id="6" name="Image 0" descr="preencoded.png"/>
          <p:cNvPicPr>
            <a:picLocks noChangeAspect="1"/>
          </p:cNvPicPr>
          <p:nvPr/>
        </p:nvPicPr>
        <p:blipFill>
          <a:blip r:embed="rId3"/>
          <a:stretch>
            <a:fillRect/>
          </a:stretch>
        </p:blipFill>
        <p:spPr>
          <a:xfrm>
            <a:off x="891357" y="1942917"/>
            <a:ext cx="247254" cy="247254"/>
          </a:xfrm>
          <a:prstGeom prst="rect">
            <a:avLst/>
          </a:prstGeom>
        </p:spPr>
      </p:pic>
      <p:sp>
        <p:nvSpPr>
          <p:cNvPr id="7" name="Text 4"/>
          <p:cNvSpPr txBox="1"/>
          <p:nvPr/>
        </p:nvSpPr>
        <p:spPr>
          <a:xfrm>
            <a:off x="1371600" y="1828800"/>
            <a:ext cx="1600200" cy="475488"/>
          </a:xfrm>
          <a:prstGeom prst="rect">
            <a:avLst/>
          </a:prstGeom>
          <a:noFill/>
          <a:ln/>
        </p:spPr>
        <p:txBody>
          <a:bodyPr wrap="square" lIns="0" tIns="0" rIns="0" bIns="0" rtlCol="0" anchor="ctr"/>
          <a:lstStyle/>
          <a:p>
            <a:pPr marL="0" indent="0">
              <a:buNone/>
            </a:pPr>
            <a:r>
              <a:rPr lang="en-US" sz="1300" b="1" kern="0" spc="150" dirty="0">
                <a:solidFill>
                  <a:srgbClr val="EA580C"/>
                </a:solidFill>
              </a:rPr>
              <a:t>LLM</a:t>
            </a:r>
            <a:endParaRPr lang="en-US" sz="1300" dirty="0"/>
          </a:p>
        </p:txBody>
      </p:sp>
      <p:sp>
        <p:nvSpPr>
          <p:cNvPr id="8" name="Text 5"/>
          <p:cNvSpPr txBox="1"/>
          <p:nvPr/>
        </p:nvSpPr>
        <p:spPr>
          <a:xfrm>
            <a:off x="777240" y="2468880"/>
            <a:ext cx="2148840" cy="1143000"/>
          </a:xfrm>
          <a:prstGeom prst="rect">
            <a:avLst/>
          </a:prstGeom>
          <a:noFill/>
          <a:ln/>
        </p:spPr>
        <p:txBody>
          <a:bodyPr wrap="square" lIns="0" tIns="0" rIns="0" bIns="0" rtlCol="0" anchor="t"/>
          <a:lstStyle/>
          <a:p>
            <a:pPr marL="0" indent="0">
              <a:buNone/>
            </a:pPr>
            <a:r>
              <a:rPr lang="en-US" sz="1350" dirty="0">
                <a:solidFill>
                  <a:srgbClr val="0F172A"/>
                </a:solidFill>
              </a:rPr>
              <a:t>Claude Haiku 5.5 via an LLM gateway (≈ ₹0.75 per analysis); Sonnet 5.5 = best measured</a:t>
            </a:r>
            <a:endParaRPr lang="en-US" sz="1350" dirty="0"/>
          </a:p>
        </p:txBody>
      </p:sp>
      <p:sp>
        <p:nvSpPr>
          <p:cNvPr id="9" name="Shape 6"/>
          <p:cNvSpPr/>
          <p:nvPr/>
        </p:nvSpPr>
        <p:spPr>
          <a:xfrm>
            <a:off x="3367735" y="1600200"/>
            <a:ext cx="2606040" cy="2148840"/>
          </a:xfrm>
          <a:prstGeom prst="roundRect">
            <a:avLst>
              <a:gd name="adj" fmla="val 5106"/>
            </a:avLst>
          </a:prstGeom>
          <a:solidFill>
            <a:srgbClr val="FFFFFF"/>
          </a:solidFill>
          <a:ln w="12700">
            <a:solidFill>
              <a:srgbClr val="E2E8F0"/>
            </a:solidFill>
            <a:prstDash val="solid"/>
          </a:ln>
          <a:effectLst>
            <a:outerShdw blurRad="101600" dist="25400" dir="5400000" algn="bl" rotWithShape="0">
              <a:srgbClr val="0F172A">
                <a:alpha val="10000"/>
              </a:srgbClr>
            </a:outerShdw>
          </a:effectLst>
        </p:spPr>
      </p:sp>
      <p:sp>
        <p:nvSpPr>
          <p:cNvPr id="10" name="Shape 7"/>
          <p:cNvSpPr/>
          <p:nvPr/>
        </p:nvSpPr>
        <p:spPr>
          <a:xfrm>
            <a:off x="3596335" y="1828800"/>
            <a:ext cx="475488" cy="475488"/>
          </a:xfrm>
          <a:prstGeom prst="roundRect">
            <a:avLst>
              <a:gd name="adj" fmla="val 22000"/>
            </a:avLst>
          </a:prstGeom>
          <a:solidFill>
            <a:srgbClr val="FFEFE3"/>
          </a:solidFill>
          <a:ln w="12700">
            <a:solidFill>
              <a:srgbClr val="FFEFE3"/>
            </a:solidFill>
            <a:prstDash val="solid"/>
          </a:ln>
        </p:spPr>
      </p:sp>
      <p:pic>
        <p:nvPicPr>
          <p:cNvPr id="11" name="Image 1" descr="preencoded.png"/>
          <p:cNvPicPr>
            <a:picLocks noChangeAspect="1"/>
          </p:cNvPicPr>
          <p:nvPr/>
        </p:nvPicPr>
        <p:blipFill>
          <a:blip r:embed="rId4"/>
          <a:stretch>
            <a:fillRect/>
          </a:stretch>
        </p:blipFill>
        <p:spPr>
          <a:xfrm>
            <a:off x="3710452" y="1942917"/>
            <a:ext cx="247254" cy="247254"/>
          </a:xfrm>
          <a:prstGeom prst="rect">
            <a:avLst/>
          </a:prstGeom>
        </p:spPr>
      </p:pic>
      <p:sp>
        <p:nvSpPr>
          <p:cNvPr id="12" name="Text 8"/>
          <p:cNvSpPr txBox="1"/>
          <p:nvPr/>
        </p:nvSpPr>
        <p:spPr>
          <a:xfrm>
            <a:off x="4190695" y="1828800"/>
            <a:ext cx="1600200" cy="475488"/>
          </a:xfrm>
          <a:prstGeom prst="rect">
            <a:avLst/>
          </a:prstGeom>
          <a:noFill/>
          <a:ln/>
        </p:spPr>
        <p:txBody>
          <a:bodyPr wrap="square" lIns="0" tIns="0" rIns="0" bIns="0" rtlCol="0" anchor="ctr"/>
          <a:lstStyle/>
          <a:p>
            <a:pPr marL="0" indent="0">
              <a:buNone/>
            </a:pPr>
            <a:r>
              <a:rPr lang="en-US" sz="1300" b="1" kern="0" spc="150" dirty="0">
                <a:solidFill>
                  <a:srgbClr val="EA580C"/>
                </a:solidFill>
              </a:rPr>
              <a:t>AGENTS</a:t>
            </a:r>
            <a:endParaRPr lang="en-US" sz="1300" dirty="0"/>
          </a:p>
        </p:txBody>
      </p:sp>
      <p:sp>
        <p:nvSpPr>
          <p:cNvPr id="13" name="Text 9"/>
          <p:cNvSpPr txBox="1"/>
          <p:nvPr/>
        </p:nvSpPr>
        <p:spPr>
          <a:xfrm>
            <a:off x="3596335" y="2468880"/>
            <a:ext cx="2148840" cy="1143000"/>
          </a:xfrm>
          <a:prstGeom prst="rect">
            <a:avLst/>
          </a:prstGeom>
          <a:noFill/>
          <a:ln/>
        </p:spPr>
        <p:txBody>
          <a:bodyPr wrap="square" lIns="0" tIns="0" rIns="0" bIns="0" rtlCol="0" anchor="t"/>
          <a:lstStyle/>
          <a:p>
            <a:pPr marL="0" indent="0">
              <a:buNone/>
            </a:pPr>
            <a:r>
              <a:rPr lang="en-US" sz="1350" dirty="0">
                <a:solidFill>
                  <a:srgbClr val="0F172A"/>
                </a:solidFill>
              </a:rPr>
              <a:t>LangGraph state graph: 4 agents, judge loop, deterministic fallbacks</a:t>
            </a:r>
            <a:endParaRPr lang="en-US" sz="1350" dirty="0"/>
          </a:p>
        </p:txBody>
      </p:sp>
      <p:sp>
        <p:nvSpPr>
          <p:cNvPr id="14" name="Shape 10"/>
          <p:cNvSpPr/>
          <p:nvPr/>
        </p:nvSpPr>
        <p:spPr>
          <a:xfrm>
            <a:off x="6186830" y="1600200"/>
            <a:ext cx="2606040" cy="2148840"/>
          </a:xfrm>
          <a:prstGeom prst="roundRect">
            <a:avLst>
              <a:gd name="adj" fmla="val 5106"/>
            </a:avLst>
          </a:prstGeom>
          <a:solidFill>
            <a:srgbClr val="FFFFFF"/>
          </a:solidFill>
          <a:ln w="12700">
            <a:solidFill>
              <a:srgbClr val="E2E8F0"/>
            </a:solidFill>
            <a:prstDash val="solid"/>
          </a:ln>
          <a:effectLst>
            <a:outerShdw blurRad="101600" dist="25400" dir="5400000" algn="bl" rotWithShape="0">
              <a:srgbClr val="0F172A">
                <a:alpha val="10000"/>
              </a:srgbClr>
            </a:outerShdw>
          </a:effectLst>
        </p:spPr>
      </p:sp>
      <p:sp>
        <p:nvSpPr>
          <p:cNvPr id="15" name="Shape 11"/>
          <p:cNvSpPr/>
          <p:nvPr/>
        </p:nvSpPr>
        <p:spPr>
          <a:xfrm>
            <a:off x="6415430" y="1828800"/>
            <a:ext cx="475488" cy="475488"/>
          </a:xfrm>
          <a:prstGeom prst="roundRect">
            <a:avLst>
              <a:gd name="adj" fmla="val 22000"/>
            </a:avLst>
          </a:prstGeom>
          <a:solidFill>
            <a:srgbClr val="E3F6EC"/>
          </a:solidFill>
          <a:ln w="12700">
            <a:solidFill>
              <a:srgbClr val="E3F6EC"/>
            </a:solidFill>
            <a:prstDash val="solid"/>
          </a:ln>
        </p:spPr>
      </p:sp>
      <p:pic>
        <p:nvPicPr>
          <p:cNvPr id="16" name="Image 2" descr="preencoded.png"/>
          <p:cNvPicPr>
            <a:picLocks noChangeAspect="1"/>
          </p:cNvPicPr>
          <p:nvPr/>
        </p:nvPicPr>
        <p:blipFill>
          <a:blip r:embed="rId5"/>
          <a:stretch>
            <a:fillRect/>
          </a:stretch>
        </p:blipFill>
        <p:spPr>
          <a:xfrm>
            <a:off x="6529548" y="1942917"/>
            <a:ext cx="247254" cy="247254"/>
          </a:xfrm>
          <a:prstGeom prst="rect">
            <a:avLst/>
          </a:prstGeom>
        </p:spPr>
      </p:pic>
      <p:sp>
        <p:nvSpPr>
          <p:cNvPr id="17" name="Text 12"/>
          <p:cNvSpPr txBox="1"/>
          <p:nvPr/>
        </p:nvSpPr>
        <p:spPr>
          <a:xfrm>
            <a:off x="7009790" y="1828800"/>
            <a:ext cx="1600200" cy="475488"/>
          </a:xfrm>
          <a:prstGeom prst="rect">
            <a:avLst/>
          </a:prstGeom>
          <a:noFill/>
          <a:ln/>
        </p:spPr>
        <p:txBody>
          <a:bodyPr wrap="square" lIns="0" tIns="0" rIns="0" bIns="0" rtlCol="0" anchor="ctr"/>
          <a:lstStyle/>
          <a:p>
            <a:pPr marL="0" indent="0">
              <a:buNone/>
            </a:pPr>
            <a:r>
              <a:rPr lang="en-US" sz="1300" b="1" kern="0" spc="150" dirty="0">
                <a:solidFill>
                  <a:srgbClr val="0E9F6E"/>
                </a:solidFill>
              </a:rPr>
              <a:t>RETRIEVAL</a:t>
            </a:r>
            <a:endParaRPr lang="en-US" sz="1300" dirty="0"/>
          </a:p>
        </p:txBody>
      </p:sp>
      <p:sp>
        <p:nvSpPr>
          <p:cNvPr id="18" name="Text 13"/>
          <p:cNvSpPr txBox="1"/>
          <p:nvPr/>
        </p:nvSpPr>
        <p:spPr>
          <a:xfrm>
            <a:off x="6415430" y="2468880"/>
            <a:ext cx="2148840" cy="1143000"/>
          </a:xfrm>
          <a:prstGeom prst="rect">
            <a:avLst/>
          </a:prstGeom>
          <a:noFill/>
          <a:ln/>
        </p:spPr>
        <p:txBody>
          <a:bodyPr wrap="square" lIns="0" tIns="0" rIns="0" bIns="0" rtlCol="0" anchor="t"/>
          <a:lstStyle/>
          <a:p>
            <a:pPr marL="0" indent="0">
              <a:buNone/>
            </a:pPr>
            <a:r>
              <a:rPr lang="en-US" sz="1350" dirty="0">
                <a:solidFill>
                  <a:srgbClr val="0F172A"/>
                </a:solidFill>
              </a:rPr>
              <a:t>ChromaDB (dense, bge-small-en-v1.5) + bm25s, reciprocal-rank fusion + rerank</a:t>
            </a:r>
            <a:endParaRPr lang="en-US" sz="1350" dirty="0"/>
          </a:p>
        </p:txBody>
      </p:sp>
      <p:sp>
        <p:nvSpPr>
          <p:cNvPr id="19" name="Shape 14"/>
          <p:cNvSpPr/>
          <p:nvPr/>
        </p:nvSpPr>
        <p:spPr>
          <a:xfrm>
            <a:off x="9005926" y="1600200"/>
            <a:ext cx="2606040" cy="2148840"/>
          </a:xfrm>
          <a:prstGeom prst="roundRect">
            <a:avLst>
              <a:gd name="adj" fmla="val 5106"/>
            </a:avLst>
          </a:prstGeom>
          <a:solidFill>
            <a:srgbClr val="FFFFFF"/>
          </a:solidFill>
          <a:ln w="12700">
            <a:solidFill>
              <a:srgbClr val="E2E8F0"/>
            </a:solidFill>
            <a:prstDash val="solid"/>
          </a:ln>
          <a:effectLst>
            <a:outerShdw blurRad="101600" dist="25400" dir="5400000" algn="bl" rotWithShape="0">
              <a:srgbClr val="0F172A">
                <a:alpha val="10000"/>
              </a:srgbClr>
            </a:outerShdw>
          </a:effectLst>
        </p:spPr>
      </p:sp>
      <p:sp>
        <p:nvSpPr>
          <p:cNvPr id="20" name="Shape 15"/>
          <p:cNvSpPr/>
          <p:nvPr/>
        </p:nvSpPr>
        <p:spPr>
          <a:xfrm>
            <a:off x="9234526" y="1828800"/>
            <a:ext cx="475488" cy="475488"/>
          </a:xfrm>
          <a:prstGeom prst="roundRect">
            <a:avLst>
              <a:gd name="adj" fmla="val 22000"/>
            </a:avLst>
          </a:prstGeom>
          <a:solidFill>
            <a:srgbClr val="E3F6EC"/>
          </a:solidFill>
          <a:ln w="12700">
            <a:solidFill>
              <a:srgbClr val="E3F6EC"/>
            </a:solidFill>
            <a:prstDash val="solid"/>
          </a:ln>
        </p:spPr>
      </p:sp>
      <p:pic>
        <p:nvPicPr>
          <p:cNvPr id="21" name="Image 3" descr="preencoded.png"/>
          <p:cNvPicPr>
            <a:picLocks noChangeAspect="1"/>
          </p:cNvPicPr>
          <p:nvPr/>
        </p:nvPicPr>
        <p:blipFill>
          <a:blip r:embed="rId6"/>
          <a:stretch>
            <a:fillRect/>
          </a:stretch>
        </p:blipFill>
        <p:spPr>
          <a:xfrm>
            <a:off x="9348643" y="1942917"/>
            <a:ext cx="247254" cy="247254"/>
          </a:xfrm>
          <a:prstGeom prst="rect">
            <a:avLst/>
          </a:prstGeom>
        </p:spPr>
      </p:pic>
      <p:sp>
        <p:nvSpPr>
          <p:cNvPr id="22" name="Text 16"/>
          <p:cNvSpPr txBox="1"/>
          <p:nvPr/>
        </p:nvSpPr>
        <p:spPr>
          <a:xfrm>
            <a:off x="9828886" y="1828800"/>
            <a:ext cx="1600200" cy="475488"/>
          </a:xfrm>
          <a:prstGeom prst="rect">
            <a:avLst/>
          </a:prstGeom>
          <a:noFill/>
          <a:ln/>
        </p:spPr>
        <p:txBody>
          <a:bodyPr wrap="square" lIns="0" tIns="0" rIns="0" bIns="0" rtlCol="0" anchor="ctr"/>
          <a:lstStyle/>
          <a:p>
            <a:pPr marL="0" indent="0">
              <a:buNone/>
            </a:pPr>
            <a:r>
              <a:rPr lang="en-US" sz="1300" b="1" kern="0" spc="150" dirty="0">
                <a:solidFill>
                  <a:srgbClr val="0E9F6E"/>
                </a:solidFill>
              </a:rPr>
              <a:t>ML</a:t>
            </a:r>
            <a:endParaRPr lang="en-US" sz="1300" dirty="0"/>
          </a:p>
        </p:txBody>
      </p:sp>
      <p:sp>
        <p:nvSpPr>
          <p:cNvPr id="23" name="Text 17"/>
          <p:cNvSpPr txBox="1"/>
          <p:nvPr/>
        </p:nvSpPr>
        <p:spPr>
          <a:xfrm>
            <a:off x="9234526" y="2468880"/>
            <a:ext cx="2148840" cy="1143000"/>
          </a:xfrm>
          <a:prstGeom prst="rect">
            <a:avLst/>
          </a:prstGeom>
          <a:noFill/>
          <a:ln/>
        </p:spPr>
        <p:txBody>
          <a:bodyPr wrap="square" lIns="0" tIns="0" rIns="0" bIns="0" rtlCol="0" anchor="t"/>
          <a:lstStyle/>
          <a:p>
            <a:pPr marL="0" indent="0">
              <a:buNone/>
            </a:pPr>
            <a:r>
              <a:rPr lang="en-US" sz="1350" dirty="0">
                <a:solidFill>
                  <a:srgbClr val="0F172A"/>
                </a:solidFill>
              </a:rPr>
              <a:t>scikit-learn HistGradientBoosting: fault risk, throughput</a:t>
            </a:r>
            <a:endParaRPr lang="en-US" sz="1350" dirty="0"/>
          </a:p>
        </p:txBody>
      </p:sp>
      <p:sp>
        <p:nvSpPr>
          <p:cNvPr id="24" name="Shape 18"/>
          <p:cNvSpPr/>
          <p:nvPr/>
        </p:nvSpPr>
        <p:spPr>
          <a:xfrm>
            <a:off x="548640" y="4023360"/>
            <a:ext cx="2606040" cy="2148840"/>
          </a:xfrm>
          <a:prstGeom prst="roundRect">
            <a:avLst>
              <a:gd name="adj" fmla="val 5106"/>
            </a:avLst>
          </a:prstGeom>
          <a:solidFill>
            <a:srgbClr val="FFFFFF"/>
          </a:solidFill>
          <a:ln w="12700">
            <a:solidFill>
              <a:srgbClr val="E2E8F0"/>
            </a:solidFill>
            <a:prstDash val="solid"/>
          </a:ln>
          <a:effectLst>
            <a:outerShdw blurRad="101600" dist="25400" dir="5400000" algn="bl" rotWithShape="0">
              <a:srgbClr val="0F172A">
                <a:alpha val="10000"/>
              </a:srgbClr>
            </a:outerShdw>
          </a:effectLst>
        </p:spPr>
      </p:sp>
      <p:sp>
        <p:nvSpPr>
          <p:cNvPr id="25" name="Shape 19"/>
          <p:cNvSpPr/>
          <p:nvPr/>
        </p:nvSpPr>
        <p:spPr>
          <a:xfrm>
            <a:off x="777240" y="4251960"/>
            <a:ext cx="475488" cy="475488"/>
          </a:xfrm>
          <a:prstGeom prst="roundRect">
            <a:avLst>
              <a:gd name="adj" fmla="val 22000"/>
            </a:avLst>
          </a:prstGeom>
          <a:solidFill>
            <a:srgbClr val="E3F6EC"/>
          </a:solidFill>
          <a:ln w="12700">
            <a:solidFill>
              <a:srgbClr val="E3F6EC"/>
            </a:solidFill>
            <a:prstDash val="solid"/>
          </a:ln>
        </p:spPr>
      </p:sp>
      <p:pic>
        <p:nvPicPr>
          <p:cNvPr id="26" name="Image 4" descr="preencoded.png"/>
          <p:cNvPicPr>
            <a:picLocks noChangeAspect="1"/>
          </p:cNvPicPr>
          <p:nvPr/>
        </p:nvPicPr>
        <p:blipFill>
          <a:blip r:embed="rId7"/>
          <a:stretch>
            <a:fillRect/>
          </a:stretch>
        </p:blipFill>
        <p:spPr>
          <a:xfrm>
            <a:off x="891357" y="4366077"/>
            <a:ext cx="247254" cy="247254"/>
          </a:xfrm>
          <a:prstGeom prst="rect">
            <a:avLst/>
          </a:prstGeom>
        </p:spPr>
      </p:pic>
      <p:sp>
        <p:nvSpPr>
          <p:cNvPr id="27" name="Text 20"/>
          <p:cNvSpPr txBox="1"/>
          <p:nvPr/>
        </p:nvSpPr>
        <p:spPr>
          <a:xfrm>
            <a:off x="1371600" y="4251960"/>
            <a:ext cx="1600200" cy="475488"/>
          </a:xfrm>
          <a:prstGeom prst="rect">
            <a:avLst/>
          </a:prstGeom>
          <a:noFill/>
          <a:ln/>
        </p:spPr>
        <p:txBody>
          <a:bodyPr wrap="square" lIns="0" tIns="0" rIns="0" bIns="0" rtlCol="0" anchor="ctr"/>
          <a:lstStyle/>
          <a:p>
            <a:pPr marL="0" indent="0">
              <a:buNone/>
            </a:pPr>
            <a:r>
              <a:rPr lang="en-US" sz="1300" b="1" kern="0" spc="150" dirty="0">
                <a:solidFill>
                  <a:srgbClr val="0E9F6E"/>
                </a:solidFill>
              </a:rPr>
              <a:t>API</a:t>
            </a:r>
            <a:endParaRPr lang="en-US" sz="1300" dirty="0"/>
          </a:p>
        </p:txBody>
      </p:sp>
      <p:sp>
        <p:nvSpPr>
          <p:cNvPr id="28" name="Text 21"/>
          <p:cNvSpPr txBox="1"/>
          <p:nvPr/>
        </p:nvSpPr>
        <p:spPr>
          <a:xfrm>
            <a:off x="777240" y="4892040"/>
            <a:ext cx="2148840" cy="1143000"/>
          </a:xfrm>
          <a:prstGeom prst="rect">
            <a:avLst/>
          </a:prstGeom>
          <a:noFill/>
          <a:ln/>
        </p:spPr>
        <p:txBody>
          <a:bodyPr wrap="square" lIns="0" tIns="0" rIns="0" bIns="0" rtlCol="0" anchor="t"/>
          <a:lstStyle/>
          <a:p>
            <a:pPr marL="0" indent="0">
              <a:buNone/>
            </a:pPr>
            <a:r>
              <a:rPr lang="en-US" sz="1350" dirty="0">
                <a:solidFill>
                  <a:srgbClr val="0F172A"/>
                </a:solidFill>
              </a:rPr>
              <a:t>FastAPI + Uvicorn: 13 endpoints, guardrails first, one error envelope</a:t>
            </a:r>
            <a:endParaRPr lang="en-US" sz="1350" dirty="0"/>
          </a:p>
        </p:txBody>
      </p:sp>
      <p:sp>
        <p:nvSpPr>
          <p:cNvPr id="29" name="Shape 22"/>
          <p:cNvSpPr/>
          <p:nvPr/>
        </p:nvSpPr>
        <p:spPr>
          <a:xfrm>
            <a:off x="3367735" y="4023360"/>
            <a:ext cx="2606040" cy="2148840"/>
          </a:xfrm>
          <a:prstGeom prst="roundRect">
            <a:avLst>
              <a:gd name="adj" fmla="val 5106"/>
            </a:avLst>
          </a:prstGeom>
          <a:solidFill>
            <a:srgbClr val="FFFFFF"/>
          </a:solidFill>
          <a:ln w="12700">
            <a:solidFill>
              <a:srgbClr val="E2E8F0"/>
            </a:solidFill>
            <a:prstDash val="solid"/>
          </a:ln>
          <a:effectLst>
            <a:outerShdw blurRad="101600" dist="25400" dir="5400000" algn="bl" rotWithShape="0">
              <a:srgbClr val="0F172A">
                <a:alpha val="10000"/>
              </a:srgbClr>
            </a:outerShdw>
          </a:effectLst>
        </p:spPr>
      </p:sp>
      <p:sp>
        <p:nvSpPr>
          <p:cNvPr id="30" name="Shape 23"/>
          <p:cNvSpPr/>
          <p:nvPr/>
        </p:nvSpPr>
        <p:spPr>
          <a:xfrm>
            <a:off x="3596335" y="4251960"/>
            <a:ext cx="475488" cy="475488"/>
          </a:xfrm>
          <a:prstGeom prst="roundRect">
            <a:avLst>
              <a:gd name="adj" fmla="val 22000"/>
            </a:avLst>
          </a:prstGeom>
          <a:solidFill>
            <a:srgbClr val="E3F6EC"/>
          </a:solidFill>
          <a:ln w="12700">
            <a:solidFill>
              <a:srgbClr val="E3F6EC"/>
            </a:solidFill>
            <a:prstDash val="solid"/>
          </a:ln>
        </p:spPr>
      </p:sp>
      <p:pic>
        <p:nvPicPr>
          <p:cNvPr id="31" name="Image 5" descr="preencoded.png"/>
          <p:cNvPicPr>
            <a:picLocks noChangeAspect="1"/>
          </p:cNvPicPr>
          <p:nvPr/>
        </p:nvPicPr>
        <p:blipFill>
          <a:blip r:embed="rId8"/>
          <a:stretch>
            <a:fillRect/>
          </a:stretch>
        </p:blipFill>
        <p:spPr>
          <a:xfrm>
            <a:off x="3710452" y="4366077"/>
            <a:ext cx="247254" cy="247254"/>
          </a:xfrm>
          <a:prstGeom prst="rect">
            <a:avLst/>
          </a:prstGeom>
        </p:spPr>
      </p:pic>
      <p:sp>
        <p:nvSpPr>
          <p:cNvPr id="32" name="Text 24"/>
          <p:cNvSpPr txBox="1"/>
          <p:nvPr/>
        </p:nvSpPr>
        <p:spPr>
          <a:xfrm>
            <a:off x="4190695" y="4251960"/>
            <a:ext cx="1600200" cy="475488"/>
          </a:xfrm>
          <a:prstGeom prst="rect">
            <a:avLst/>
          </a:prstGeom>
          <a:noFill/>
          <a:ln/>
        </p:spPr>
        <p:txBody>
          <a:bodyPr wrap="square" lIns="0" tIns="0" rIns="0" bIns="0" rtlCol="0" anchor="ctr"/>
          <a:lstStyle/>
          <a:p>
            <a:pPr marL="0" indent="0">
              <a:buNone/>
            </a:pPr>
            <a:r>
              <a:rPr lang="en-US" sz="1300" b="1" kern="0" spc="150" dirty="0">
                <a:solidFill>
                  <a:srgbClr val="0E9F6E"/>
                </a:solidFill>
              </a:rPr>
              <a:t>FRONTEND</a:t>
            </a:r>
            <a:endParaRPr lang="en-US" sz="1300" dirty="0"/>
          </a:p>
        </p:txBody>
      </p:sp>
      <p:sp>
        <p:nvSpPr>
          <p:cNvPr id="33" name="Text 25"/>
          <p:cNvSpPr txBox="1"/>
          <p:nvPr/>
        </p:nvSpPr>
        <p:spPr>
          <a:xfrm>
            <a:off x="3596335" y="4892040"/>
            <a:ext cx="2148840" cy="1143000"/>
          </a:xfrm>
          <a:prstGeom prst="rect">
            <a:avLst/>
          </a:prstGeom>
          <a:noFill/>
          <a:ln/>
        </p:spPr>
        <p:txBody>
          <a:bodyPr wrap="square" lIns="0" tIns="0" rIns="0" bIns="0" rtlCol="0" anchor="t"/>
          <a:lstStyle/>
          <a:p>
            <a:pPr marL="0" indent="0">
              <a:buNone/>
            </a:pPr>
            <a:r>
              <a:rPr lang="en-US" sz="1350" dirty="0">
                <a:solidFill>
                  <a:srgbClr val="0F172A"/>
                </a:solidFill>
              </a:rPr>
              <a:t>React 19 + TypeScript (Vite, TanStack Query): live agent progress, summary-first report</a:t>
            </a:r>
            <a:endParaRPr lang="en-US" sz="1350" dirty="0"/>
          </a:p>
        </p:txBody>
      </p:sp>
      <p:sp>
        <p:nvSpPr>
          <p:cNvPr id="34" name="Shape 26"/>
          <p:cNvSpPr/>
          <p:nvPr/>
        </p:nvSpPr>
        <p:spPr>
          <a:xfrm>
            <a:off x="6186830" y="4023360"/>
            <a:ext cx="2606040" cy="2148840"/>
          </a:xfrm>
          <a:prstGeom prst="roundRect">
            <a:avLst>
              <a:gd name="adj" fmla="val 5106"/>
            </a:avLst>
          </a:prstGeom>
          <a:solidFill>
            <a:srgbClr val="FFFFFF"/>
          </a:solidFill>
          <a:ln w="12700">
            <a:solidFill>
              <a:srgbClr val="E2E8F0"/>
            </a:solidFill>
            <a:prstDash val="solid"/>
          </a:ln>
          <a:effectLst>
            <a:outerShdw blurRad="101600" dist="25400" dir="5400000" algn="bl" rotWithShape="0">
              <a:srgbClr val="0F172A">
                <a:alpha val="10000"/>
              </a:srgbClr>
            </a:outerShdw>
          </a:effectLst>
        </p:spPr>
      </p:sp>
      <p:sp>
        <p:nvSpPr>
          <p:cNvPr id="35" name="Shape 27"/>
          <p:cNvSpPr/>
          <p:nvPr/>
        </p:nvSpPr>
        <p:spPr>
          <a:xfrm>
            <a:off x="6415430" y="4251960"/>
            <a:ext cx="475488" cy="475488"/>
          </a:xfrm>
          <a:prstGeom prst="roundRect">
            <a:avLst>
              <a:gd name="adj" fmla="val 22000"/>
            </a:avLst>
          </a:prstGeom>
          <a:solidFill>
            <a:srgbClr val="EEF2F6"/>
          </a:solidFill>
          <a:ln w="12700">
            <a:solidFill>
              <a:srgbClr val="EEF2F6"/>
            </a:solidFill>
            <a:prstDash val="solid"/>
          </a:ln>
        </p:spPr>
      </p:sp>
      <p:pic>
        <p:nvPicPr>
          <p:cNvPr id="36" name="Image 6" descr="preencoded.png"/>
          <p:cNvPicPr>
            <a:picLocks noChangeAspect="1"/>
          </p:cNvPicPr>
          <p:nvPr/>
        </p:nvPicPr>
        <p:blipFill>
          <a:blip r:embed="rId9"/>
          <a:stretch>
            <a:fillRect/>
          </a:stretch>
        </p:blipFill>
        <p:spPr>
          <a:xfrm>
            <a:off x="6529548" y="4366077"/>
            <a:ext cx="247254" cy="247254"/>
          </a:xfrm>
          <a:prstGeom prst="rect">
            <a:avLst/>
          </a:prstGeom>
        </p:spPr>
      </p:pic>
      <p:sp>
        <p:nvSpPr>
          <p:cNvPr id="37" name="Text 28"/>
          <p:cNvSpPr txBox="1"/>
          <p:nvPr/>
        </p:nvSpPr>
        <p:spPr>
          <a:xfrm>
            <a:off x="7009790" y="4251960"/>
            <a:ext cx="1600200" cy="475488"/>
          </a:xfrm>
          <a:prstGeom prst="rect">
            <a:avLst/>
          </a:prstGeom>
          <a:noFill/>
          <a:ln/>
        </p:spPr>
        <p:txBody>
          <a:bodyPr wrap="square" lIns="0" tIns="0" rIns="0" bIns="0" rtlCol="0" anchor="ctr"/>
          <a:lstStyle/>
          <a:p>
            <a:pPr marL="0" indent="0">
              <a:buNone/>
            </a:pPr>
            <a:r>
              <a:rPr lang="en-US" sz="1300" b="1" kern="0" spc="150" dirty="0">
                <a:solidFill>
                  <a:srgbClr val="64748B"/>
                </a:solidFill>
              </a:rPr>
              <a:t>STORAGE</a:t>
            </a:r>
            <a:endParaRPr lang="en-US" sz="1300" dirty="0"/>
          </a:p>
        </p:txBody>
      </p:sp>
      <p:sp>
        <p:nvSpPr>
          <p:cNvPr id="38" name="Text 29"/>
          <p:cNvSpPr txBox="1"/>
          <p:nvPr/>
        </p:nvSpPr>
        <p:spPr>
          <a:xfrm>
            <a:off x="6415430" y="4892040"/>
            <a:ext cx="2148840" cy="1143000"/>
          </a:xfrm>
          <a:prstGeom prst="rect">
            <a:avLst/>
          </a:prstGeom>
          <a:noFill/>
          <a:ln/>
        </p:spPr>
        <p:txBody>
          <a:bodyPr wrap="square" lIns="0" tIns="0" rIns="0" bIns="0" rtlCol="0" anchor="t"/>
          <a:lstStyle/>
          <a:p>
            <a:pPr marL="0" indent="0">
              <a:buNone/>
            </a:pPr>
            <a:r>
              <a:rPr lang="en-US" sz="1350" dirty="0">
                <a:solidFill>
                  <a:srgbClr val="0F172A"/>
                </a:solidFill>
              </a:rPr>
              <a:t>SQLite: runs, feedback, LLM cache, spend ledger</a:t>
            </a:r>
            <a:endParaRPr lang="en-US" sz="1350" dirty="0"/>
          </a:p>
        </p:txBody>
      </p:sp>
      <p:sp>
        <p:nvSpPr>
          <p:cNvPr id="39" name="Shape 30"/>
          <p:cNvSpPr/>
          <p:nvPr/>
        </p:nvSpPr>
        <p:spPr>
          <a:xfrm>
            <a:off x="9005926" y="4023360"/>
            <a:ext cx="2606040" cy="2148840"/>
          </a:xfrm>
          <a:prstGeom prst="roundRect">
            <a:avLst>
              <a:gd name="adj" fmla="val 5106"/>
            </a:avLst>
          </a:prstGeom>
          <a:solidFill>
            <a:srgbClr val="FFFFFF"/>
          </a:solidFill>
          <a:ln w="12700">
            <a:solidFill>
              <a:srgbClr val="E2E8F0"/>
            </a:solidFill>
            <a:prstDash val="solid"/>
          </a:ln>
          <a:effectLst>
            <a:outerShdw blurRad="101600" dist="25400" dir="5400000" algn="bl" rotWithShape="0">
              <a:srgbClr val="0F172A">
                <a:alpha val="10000"/>
              </a:srgbClr>
            </a:outerShdw>
          </a:effectLst>
        </p:spPr>
      </p:sp>
      <p:sp>
        <p:nvSpPr>
          <p:cNvPr id="40" name="Shape 31"/>
          <p:cNvSpPr/>
          <p:nvPr/>
        </p:nvSpPr>
        <p:spPr>
          <a:xfrm>
            <a:off x="9234526" y="4251960"/>
            <a:ext cx="475488" cy="475488"/>
          </a:xfrm>
          <a:prstGeom prst="roundRect">
            <a:avLst>
              <a:gd name="adj" fmla="val 22000"/>
            </a:avLst>
          </a:prstGeom>
          <a:solidFill>
            <a:srgbClr val="F1EBFE"/>
          </a:solidFill>
          <a:ln w="12700">
            <a:solidFill>
              <a:srgbClr val="F1EBFE"/>
            </a:solidFill>
            <a:prstDash val="solid"/>
          </a:ln>
        </p:spPr>
      </p:sp>
      <p:pic>
        <p:nvPicPr>
          <p:cNvPr id="41" name="Image 7" descr="preencoded.png"/>
          <p:cNvPicPr>
            <a:picLocks noChangeAspect="1"/>
          </p:cNvPicPr>
          <p:nvPr/>
        </p:nvPicPr>
        <p:blipFill>
          <a:blip r:embed="rId10"/>
          <a:stretch>
            <a:fillRect/>
          </a:stretch>
        </p:blipFill>
        <p:spPr>
          <a:xfrm>
            <a:off x="9348643" y="4366077"/>
            <a:ext cx="247254" cy="247254"/>
          </a:xfrm>
          <a:prstGeom prst="rect">
            <a:avLst/>
          </a:prstGeom>
        </p:spPr>
      </p:pic>
      <p:sp>
        <p:nvSpPr>
          <p:cNvPr id="42" name="Text 32"/>
          <p:cNvSpPr txBox="1"/>
          <p:nvPr/>
        </p:nvSpPr>
        <p:spPr>
          <a:xfrm>
            <a:off x="9828886" y="4251960"/>
            <a:ext cx="1600200" cy="475488"/>
          </a:xfrm>
          <a:prstGeom prst="rect">
            <a:avLst/>
          </a:prstGeom>
          <a:noFill/>
          <a:ln/>
        </p:spPr>
        <p:txBody>
          <a:bodyPr wrap="square" lIns="0" tIns="0" rIns="0" bIns="0" rtlCol="0" anchor="ctr"/>
          <a:lstStyle/>
          <a:p>
            <a:pPr marL="0" indent="0">
              <a:buNone/>
            </a:pPr>
            <a:r>
              <a:rPr lang="en-US" sz="1300" b="1" kern="0" spc="150" dirty="0">
                <a:solidFill>
                  <a:srgbClr val="7C3AED"/>
                </a:solidFill>
              </a:rPr>
              <a:t>EVALUATION</a:t>
            </a:r>
            <a:endParaRPr lang="en-US" sz="1300" dirty="0"/>
          </a:p>
        </p:txBody>
      </p:sp>
      <p:sp>
        <p:nvSpPr>
          <p:cNvPr id="43" name="Text 33"/>
          <p:cNvSpPr txBox="1"/>
          <p:nvPr/>
        </p:nvSpPr>
        <p:spPr>
          <a:xfrm>
            <a:off x="9234526" y="4892040"/>
            <a:ext cx="2148840" cy="1143000"/>
          </a:xfrm>
          <a:prstGeom prst="rect">
            <a:avLst/>
          </a:prstGeom>
          <a:noFill/>
          <a:ln/>
        </p:spPr>
        <p:txBody>
          <a:bodyPr wrap="square" lIns="0" tIns="0" rIns="0" bIns="0" rtlCol="0" anchor="t"/>
          <a:lstStyle/>
          <a:p>
            <a:pPr marL="0" indent="0">
              <a:buNone/>
            </a:pPr>
            <a:r>
              <a:rPr lang="en-US" sz="1350" dirty="0">
                <a:solidFill>
                  <a:srgbClr val="0F172A"/>
                </a:solidFill>
              </a:rPr>
              <a:t>DeepEval (LLM judge) + retrieval, classifier, guardrail, ML and judge tests; pytest</a:t>
            </a:r>
            <a:endParaRPr lang="en-US" sz="1350" dirty="0"/>
          </a:p>
        </p:txBody>
      </p:sp>
      <p:sp>
        <p:nvSpPr>
          <p:cNvPr id="44"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64748B"/>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229600" cy="274320"/>
          </a:xfrm>
          <a:prstGeom prst="rect">
            <a:avLst/>
          </a:prstGeom>
          <a:noFill/>
          <a:ln/>
        </p:spPr>
        <p:txBody>
          <a:bodyPr wrap="square" lIns="0" tIns="0" rIns="0" bIns="0" rtlCol="0" anchor="ctr"/>
          <a:lstStyle/>
          <a:p>
            <a:pPr marL="0" indent="0">
              <a:buNone/>
            </a:pPr>
            <a:r>
              <a:rPr lang="en-US" sz="1200" b="1" kern="0" spc="200" dirty="0">
                <a:solidFill>
                  <a:srgbClr val="EA580C"/>
                </a:solidFill>
              </a:rPr>
              <a:t>AGENT WORKFLOW</a:t>
            </a:r>
            <a:endParaRPr lang="en-US" sz="1200" dirty="0"/>
          </a:p>
        </p:txBody>
      </p:sp>
      <p:sp>
        <p:nvSpPr>
          <p:cNvPr id="3" name="Text 0"/>
          <p:cNvSpPr>
            <a:spLocks noGrp="1"/>
          </p:cNvSpPr>
          <p:nvPr>
            <p:ph type="title" idx="101" hasCustomPrompt="1"/>
          </p:nvPr>
        </p:nvSpPr>
        <p:spPr>
          <a:xfrm>
            <a:off x="548640" y="621792"/>
            <a:ext cx="11064240" cy="640080"/>
          </a:xfrm>
          <a:prstGeom prst="rect">
            <a:avLst/>
          </a:prstGeom>
          <a:noFill/>
          <a:ln/>
        </p:spPr>
        <p:txBody>
          <a:bodyPr wrap="square" lIns="0" tIns="0" rIns="0" bIns="0" rtlCol="0" anchor="ctr"/>
          <a:lstStyle/>
          <a:p>
            <a:pPr marL="0" indent="0" algn="l">
              <a:buNone/>
            </a:pPr>
            <a:r>
              <a:rPr lang="en-US" sz="3200" b="1" dirty="0">
                <a:solidFill>
                  <a:srgbClr val="0B2545"/>
                </a:solidFill>
              </a:rPr>
              <a:t>Agent workflow: why agents, and the judge loop</a:t>
            </a:r>
            <a:endParaRPr lang="en-US" sz="3200" dirty="0"/>
          </a:p>
        </p:txBody>
      </p:sp>
      <p:sp>
        <p:nvSpPr>
          <p:cNvPr id="4" name="Shape 2"/>
          <p:cNvSpPr/>
          <p:nvPr/>
        </p:nvSpPr>
        <p:spPr>
          <a:xfrm>
            <a:off x="548640" y="1965960"/>
            <a:ext cx="2514600" cy="1600200"/>
          </a:xfrm>
          <a:prstGeom prst="roundRect">
            <a:avLst>
              <a:gd name="adj" fmla="val 6857"/>
            </a:avLst>
          </a:prstGeom>
          <a:solidFill>
            <a:srgbClr val="FFF8F3"/>
          </a:solidFill>
          <a:ln w="12700">
            <a:solidFill>
              <a:srgbClr val="F8C9A8"/>
            </a:solidFill>
            <a:prstDash val="solid"/>
          </a:ln>
          <a:effectLst>
            <a:outerShdw blurRad="101600" dist="25400" dir="5400000" algn="bl" rotWithShape="0">
              <a:srgbClr val="0F172A">
                <a:alpha val="10000"/>
              </a:srgbClr>
            </a:outerShdw>
          </a:effectLst>
        </p:spPr>
      </p:sp>
      <p:sp>
        <p:nvSpPr>
          <p:cNvPr id="5" name="Shape 3"/>
          <p:cNvSpPr/>
          <p:nvPr/>
        </p:nvSpPr>
        <p:spPr>
          <a:xfrm>
            <a:off x="777240" y="2194560"/>
            <a:ext cx="475488" cy="475488"/>
          </a:xfrm>
          <a:prstGeom prst="roundRect">
            <a:avLst>
              <a:gd name="adj" fmla="val 22000"/>
            </a:avLst>
          </a:prstGeom>
          <a:solidFill>
            <a:srgbClr val="FFEFE3"/>
          </a:solidFill>
          <a:ln w="12700">
            <a:solidFill>
              <a:srgbClr val="FFEFE3"/>
            </a:solidFill>
            <a:prstDash val="solid"/>
          </a:ln>
        </p:spPr>
      </p:sp>
      <p:pic>
        <p:nvPicPr>
          <p:cNvPr id="6" name="Image 0" descr="preencoded.png"/>
          <p:cNvPicPr>
            <a:picLocks noChangeAspect="1"/>
          </p:cNvPicPr>
          <p:nvPr/>
        </p:nvPicPr>
        <p:blipFill>
          <a:blip r:embed="rId3"/>
          <a:stretch>
            <a:fillRect/>
          </a:stretch>
        </p:blipFill>
        <p:spPr>
          <a:xfrm>
            <a:off x="891357" y="2308677"/>
            <a:ext cx="247254" cy="247254"/>
          </a:xfrm>
          <a:prstGeom prst="rect">
            <a:avLst/>
          </a:prstGeom>
        </p:spPr>
      </p:pic>
      <p:sp>
        <p:nvSpPr>
          <p:cNvPr id="7" name="Text 4"/>
          <p:cNvSpPr txBox="1"/>
          <p:nvPr/>
        </p:nvSpPr>
        <p:spPr>
          <a:xfrm>
            <a:off x="1371600" y="2194560"/>
            <a:ext cx="1508760" cy="475488"/>
          </a:xfrm>
          <a:prstGeom prst="rect">
            <a:avLst/>
          </a:prstGeom>
          <a:noFill/>
          <a:ln/>
        </p:spPr>
        <p:txBody>
          <a:bodyPr wrap="square" lIns="0" tIns="0" rIns="0" bIns="0" rtlCol="0" anchor="ctr"/>
          <a:lstStyle/>
          <a:p>
            <a:pPr marL="0" indent="0">
              <a:buNone/>
            </a:pPr>
            <a:r>
              <a:rPr lang="en-US" sz="1800" b="1" dirty="0">
                <a:solidFill>
                  <a:srgbClr val="0F172A"/>
                </a:solidFill>
              </a:rPr>
              <a:t>Classifier</a:t>
            </a:r>
            <a:endParaRPr lang="en-US" sz="1800" dirty="0"/>
          </a:p>
        </p:txBody>
      </p:sp>
      <p:sp>
        <p:nvSpPr>
          <p:cNvPr id="8" name="Text 5"/>
          <p:cNvSpPr txBox="1"/>
          <p:nvPr/>
        </p:nvSpPr>
        <p:spPr>
          <a:xfrm>
            <a:off x="777240" y="2807208"/>
            <a:ext cx="2103120" cy="685800"/>
          </a:xfrm>
          <a:prstGeom prst="rect">
            <a:avLst/>
          </a:prstGeom>
          <a:noFill/>
          <a:ln/>
        </p:spPr>
        <p:txBody>
          <a:bodyPr wrap="square" lIns="0" tIns="0" rIns="0" bIns="0" rtlCol="0" anchor="t"/>
          <a:lstStyle/>
          <a:p>
            <a:pPr marL="0" indent="0">
              <a:buNone/>
            </a:pPr>
            <a:r>
              <a:rPr lang="en-US" sz="1350" dirty="0">
                <a:solidFill>
                  <a:srgbClr val="475569"/>
                </a:solidFill>
              </a:rPr>
              <a:t>Category, symptoms, filters, scope</a:t>
            </a:r>
            <a:endParaRPr lang="en-US" sz="1350" dirty="0"/>
          </a:p>
        </p:txBody>
      </p:sp>
      <p:sp>
        <p:nvSpPr>
          <p:cNvPr id="9" name="Shape 6"/>
          <p:cNvSpPr/>
          <p:nvPr/>
        </p:nvSpPr>
        <p:spPr>
          <a:xfrm>
            <a:off x="3099816" y="2766060"/>
            <a:ext cx="265176" cy="0"/>
          </a:xfrm>
          <a:prstGeom prst="line">
            <a:avLst/>
          </a:prstGeom>
          <a:noFill/>
          <a:ln w="25400">
            <a:solidFill>
              <a:srgbClr val="EA580C"/>
            </a:solidFill>
            <a:prstDash val="solid"/>
            <a:tailEnd type="triangle"/>
          </a:ln>
        </p:spPr>
      </p:sp>
      <p:sp>
        <p:nvSpPr>
          <p:cNvPr id="10" name="Shape 7"/>
          <p:cNvSpPr/>
          <p:nvPr/>
        </p:nvSpPr>
        <p:spPr>
          <a:xfrm>
            <a:off x="3401568" y="1965960"/>
            <a:ext cx="2514600" cy="1600200"/>
          </a:xfrm>
          <a:prstGeom prst="roundRect">
            <a:avLst>
              <a:gd name="adj" fmla="val 6857"/>
            </a:avLst>
          </a:prstGeom>
          <a:solidFill>
            <a:srgbClr val="FFF8F3"/>
          </a:solidFill>
          <a:ln w="12700">
            <a:solidFill>
              <a:srgbClr val="F8C9A8"/>
            </a:solidFill>
            <a:prstDash val="solid"/>
          </a:ln>
          <a:effectLst>
            <a:outerShdw blurRad="101600" dist="25400" dir="5400000" algn="bl" rotWithShape="0">
              <a:srgbClr val="0F172A">
                <a:alpha val="10000"/>
              </a:srgbClr>
            </a:outerShdw>
          </a:effectLst>
        </p:spPr>
      </p:sp>
      <p:sp>
        <p:nvSpPr>
          <p:cNvPr id="11" name="Shape 8"/>
          <p:cNvSpPr/>
          <p:nvPr/>
        </p:nvSpPr>
        <p:spPr>
          <a:xfrm>
            <a:off x="3630168" y="2194560"/>
            <a:ext cx="475488" cy="475488"/>
          </a:xfrm>
          <a:prstGeom prst="roundRect">
            <a:avLst>
              <a:gd name="adj" fmla="val 22000"/>
            </a:avLst>
          </a:prstGeom>
          <a:solidFill>
            <a:srgbClr val="FFEFE3"/>
          </a:solidFill>
          <a:ln w="12700">
            <a:solidFill>
              <a:srgbClr val="FFEFE3"/>
            </a:solidFill>
            <a:prstDash val="solid"/>
          </a:ln>
        </p:spPr>
      </p:sp>
      <p:pic>
        <p:nvPicPr>
          <p:cNvPr id="12" name="Image 1" descr="preencoded.png"/>
          <p:cNvPicPr>
            <a:picLocks noChangeAspect="1"/>
          </p:cNvPicPr>
          <p:nvPr/>
        </p:nvPicPr>
        <p:blipFill>
          <a:blip r:embed="rId4"/>
          <a:stretch>
            <a:fillRect/>
          </a:stretch>
        </p:blipFill>
        <p:spPr>
          <a:xfrm>
            <a:off x="3744285" y="2308677"/>
            <a:ext cx="247254" cy="247254"/>
          </a:xfrm>
          <a:prstGeom prst="rect">
            <a:avLst/>
          </a:prstGeom>
        </p:spPr>
      </p:pic>
      <p:sp>
        <p:nvSpPr>
          <p:cNvPr id="13" name="Text 9"/>
          <p:cNvSpPr txBox="1"/>
          <p:nvPr/>
        </p:nvSpPr>
        <p:spPr>
          <a:xfrm>
            <a:off x="4224528" y="2194560"/>
            <a:ext cx="1508760" cy="475488"/>
          </a:xfrm>
          <a:prstGeom prst="rect">
            <a:avLst/>
          </a:prstGeom>
          <a:noFill/>
          <a:ln/>
        </p:spPr>
        <p:txBody>
          <a:bodyPr wrap="square" lIns="0" tIns="0" rIns="0" bIns="0" rtlCol="0" anchor="ctr"/>
          <a:lstStyle/>
          <a:p>
            <a:pPr marL="0" indent="0">
              <a:buNone/>
            </a:pPr>
            <a:r>
              <a:rPr lang="en-US" sz="1800" b="1" dirty="0">
                <a:solidFill>
                  <a:srgbClr val="0F172A"/>
                </a:solidFill>
              </a:rPr>
              <a:t>Analyst</a:t>
            </a:r>
            <a:endParaRPr lang="en-US" sz="1800" dirty="0"/>
          </a:p>
        </p:txBody>
      </p:sp>
      <p:sp>
        <p:nvSpPr>
          <p:cNvPr id="14" name="Text 10"/>
          <p:cNvSpPr txBox="1"/>
          <p:nvPr/>
        </p:nvSpPr>
        <p:spPr>
          <a:xfrm>
            <a:off x="3630168" y="2807208"/>
            <a:ext cx="2103120" cy="685800"/>
          </a:xfrm>
          <a:prstGeom prst="rect">
            <a:avLst/>
          </a:prstGeom>
          <a:noFill/>
          <a:ln/>
        </p:spPr>
        <p:txBody>
          <a:bodyPr wrap="square" lIns="0" tIns="0" rIns="0" bIns="0" rtlCol="0" anchor="t"/>
          <a:lstStyle/>
          <a:p>
            <a:pPr marL="0" indent="0">
              <a:buNone/>
            </a:pPr>
            <a:r>
              <a:rPr lang="en-US" sz="1350" dirty="0">
                <a:solidFill>
                  <a:srgbClr val="475569"/>
                </a:solidFill>
              </a:rPr>
              <a:t>Ranked root causes, evidence + citations</a:t>
            </a:r>
            <a:endParaRPr lang="en-US" sz="1350" dirty="0"/>
          </a:p>
        </p:txBody>
      </p:sp>
      <p:sp>
        <p:nvSpPr>
          <p:cNvPr id="15" name="Shape 11"/>
          <p:cNvSpPr/>
          <p:nvPr/>
        </p:nvSpPr>
        <p:spPr>
          <a:xfrm>
            <a:off x="5952744" y="2766060"/>
            <a:ext cx="265176" cy="0"/>
          </a:xfrm>
          <a:prstGeom prst="line">
            <a:avLst/>
          </a:prstGeom>
          <a:noFill/>
          <a:ln w="25400">
            <a:solidFill>
              <a:srgbClr val="EA580C"/>
            </a:solidFill>
            <a:prstDash val="solid"/>
            <a:tailEnd type="triangle"/>
          </a:ln>
        </p:spPr>
      </p:sp>
      <p:sp>
        <p:nvSpPr>
          <p:cNvPr id="16" name="Shape 12"/>
          <p:cNvSpPr/>
          <p:nvPr/>
        </p:nvSpPr>
        <p:spPr>
          <a:xfrm>
            <a:off x="6254496" y="1965960"/>
            <a:ext cx="2514600" cy="1600200"/>
          </a:xfrm>
          <a:prstGeom prst="roundRect">
            <a:avLst>
              <a:gd name="adj" fmla="val 6857"/>
            </a:avLst>
          </a:prstGeom>
          <a:solidFill>
            <a:srgbClr val="FFF8F3"/>
          </a:solidFill>
          <a:ln w="12700">
            <a:solidFill>
              <a:srgbClr val="F8C9A8"/>
            </a:solidFill>
            <a:prstDash val="solid"/>
          </a:ln>
          <a:effectLst>
            <a:outerShdw blurRad="101600" dist="25400" dir="5400000" algn="bl" rotWithShape="0">
              <a:srgbClr val="0F172A">
                <a:alpha val="10000"/>
              </a:srgbClr>
            </a:outerShdw>
          </a:effectLst>
        </p:spPr>
      </p:sp>
      <p:sp>
        <p:nvSpPr>
          <p:cNvPr id="17" name="Shape 13"/>
          <p:cNvSpPr/>
          <p:nvPr/>
        </p:nvSpPr>
        <p:spPr>
          <a:xfrm>
            <a:off x="6483096" y="2194560"/>
            <a:ext cx="475488" cy="475488"/>
          </a:xfrm>
          <a:prstGeom prst="roundRect">
            <a:avLst>
              <a:gd name="adj" fmla="val 22000"/>
            </a:avLst>
          </a:prstGeom>
          <a:solidFill>
            <a:srgbClr val="FFEFE3"/>
          </a:solidFill>
          <a:ln w="12700">
            <a:solidFill>
              <a:srgbClr val="FFEFE3"/>
            </a:solidFill>
            <a:prstDash val="solid"/>
          </a:ln>
        </p:spPr>
      </p:sp>
      <p:pic>
        <p:nvPicPr>
          <p:cNvPr id="18" name="Image 2" descr="preencoded.png"/>
          <p:cNvPicPr>
            <a:picLocks noChangeAspect="1"/>
          </p:cNvPicPr>
          <p:nvPr/>
        </p:nvPicPr>
        <p:blipFill>
          <a:blip r:embed="rId5"/>
          <a:stretch>
            <a:fillRect/>
          </a:stretch>
        </p:blipFill>
        <p:spPr>
          <a:xfrm>
            <a:off x="6597213" y="2308677"/>
            <a:ext cx="247254" cy="247254"/>
          </a:xfrm>
          <a:prstGeom prst="rect">
            <a:avLst/>
          </a:prstGeom>
        </p:spPr>
      </p:pic>
      <p:sp>
        <p:nvSpPr>
          <p:cNvPr id="19" name="Text 14"/>
          <p:cNvSpPr txBox="1"/>
          <p:nvPr/>
        </p:nvSpPr>
        <p:spPr>
          <a:xfrm>
            <a:off x="7077456" y="2194560"/>
            <a:ext cx="1508760" cy="475488"/>
          </a:xfrm>
          <a:prstGeom prst="rect">
            <a:avLst/>
          </a:prstGeom>
          <a:noFill/>
          <a:ln/>
        </p:spPr>
        <p:txBody>
          <a:bodyPr wrap="square" lIns="0" tIns="0" rIns="0" bIns="0" rtlCol="0" anchor="ctr"/>
          <a:lstStyle/>
          <a:p>
            <a:pPr marL="0" indent="0">
              <a:buNone/>
            </a:pPr>
            <a:r>
              <a:rPr lang="en-US" sz="1800" b="1" dirty="0">
                <a:solidFill>
                  <a:srgbClr val="0F172A"/>
                </a:solidFill>
              </a:rPr>
              <a:t>Recommender</a:t>
            </a:r>
            <a:endParaRPr lang="en-US" sz="1800" dirty="0"/>
          </a:p>
        </p:txBody>
      </p:sp>
      <p:sp>
        <p:nvSpPr>
          <p:cNvPr id="20" name="Text 15"/>
          <p:cNvSpPr txBox="1"/>
          <p:nvPr/>
        </p:nvSpPr>
        <p:spPr>
          <a:xfrm>
            <a:off x="6483096" y="2807208"/>
            <a:ext cx="2103120" cy="685800"/>
          </a:xfrm>
          <a:prstGeom prst="rect">
            <a:avLst/>
          </a:prstGeom>
          <a:noFill/>
          <a:ln/>
        </p:spPr>
        <p:txBody>
          <a:bodyPr wrap="square" lIns="0" tIns="0" rIns="0" bIns="0" rtlCol="0" anchor="t"/>
          <a:lstStyle/>
          <a:p>
            <a:pPr marL="0" indent="0">
              <a:buNone/>
            </a:pPr>
            <a:r>
              <a:rPr lang="en-US" sz="1350" dirty="0">
                <a:solidFill>
                  <a:srgbClr val="475569"/>
                </a:solidFill>
              </a:rPr>
              <a:t>Ordered actions, verification, approval</a:t>
            </a:r>
            <a:endParaRPr lang="en-US" sz="1350" dirty="0"/>
          </a:p>
        </p:txBody>
      </p:sp>
      <p:sp>
        <p:nvSpPr>
          <p:cNvPr id="21" name="Shape 16"/>
          <p:cNvSpPr/>
          <p:nvPr/>
        </p:nvSpPr>
        <p:spPr>
          <a:xfrm>
            <a:off x="8805672" y="2766060"/>
            <a:ext cx="265176" cy="0"/>
          </a:xfrm>
          <a:prstGeom prst="line">
            <a:avLst/>
          </a:prstGeom>
          <a:noFill/>
          <a:ln w="25400">
            <a:solidFill>
              <a:srgbClr val="EA580C"/>
            </a:solidFill>
            <a:prstDash val="solid"/>
            <a:tailEnd type="triangle"/>
          </a:ln>
        </p:spPr>
      </p:sp>
      <p:sp>
        <p:nvSpPr>
          <p:cNvPr id="22" name="Shape 17"/>
          <p:cNvSpPr/>
          <p:nvPr/>
        </p:nvSpPr>
        <p:spPr>
          <a:xfrm>
            <a:off x="9107424" y="1965960"/>
            <a:ext cx="2514600" cy="1600200"/>
          </a:xfrm>
          <a:prstGeom prst="roundRect">
            <a:avLst>
              <a:gd name="adj" fmla="val 6857"/>
            </a:avLst>
          </a:prstGeom>
          <a:solidFill>
            <a:srgbClr val="FFF8F3"/>
          </a:solidFill>
          <a:ln w="12700">
            <a:solidFill>
              <a:srgbClr val="F8C9A8"/>
            </a:solidFill>
            <a:prstDash val="solid"/>
          </a:ln>
          <a:effectLst>
            <a:outerShdw blurRad="101600" dist="25400" dir="5400000" algn="bl" rotWithShape="0">
              <a:srgbClr val="0F172A">
                <a:alpha val="10000"/>
              </a:srgbClr>
            </a:outerShdw>
          </a:effectLst>
        </p:spPr>
      </p:sp>
      <p:sp>
        <p:nvSpPr>
          <p:cNvPr id="23" name="Shape 18"/>
          <p:cNvSpPr/>
          <p:nvPr/>
        </p:nvSpPr>
        <p:spPr>
          <a:xfrm>
            <a:off x="9336024" y="2194560"/>
            <a:ext cx="475488" cy="475488"/>
          </a:xfrm>
          <a:prstGeom prst="roundRect">
            <a:avLst>
              <a:gd name="adj" fmla="val 22000"/>
            </a:avLst>
          </a:prstGeom>
          <a:solidFill>
            <a:srgbClr val="FFEFE3"/>
          </a:solidFill>
          <a:ln w="12700">
            <a:solidFill>
              <a:srgbClr val="FFEFE3"/>
            </a:solidFill>
            <a:prstDash val="solid"/>
          </a:ln>
        </p:spPr>
      </p:sp>
      <p:pic>
        <p:nvPicPr>
          <p:cNvPr id="24" name="Image 3" descr="preencoded.png"/>
          <p:cNvPicPr>
            <a:picLocks noChangeAspect="1"/>
          </p:cNvPicPr>
          <p:nvPr/>
        </p:nvPicPr>
        <p:blipFill>
          <a:blip r:embed="rId6"/>
          <a:stretch>
            <a:fillRect/>
          </a:stretch>
        </p:blipFill>
        <p:spPr>
          <a:xfrm>
            <a:off x="9450141" y="2308677"/>
            <a:ext cx="247254" cy="247254"/>
          </a:xfrm>
          <a:prstGeom prst="rect">
            <a:avLst/>
          </a:prstGeom>
        </p:spPr>
      </p:pic>
      <p:sp>
        <p:nvSpPr>
          <p:cNvPr id="25" name="Text 19"/>
          <p:cNvSpPr txBox="1"/>
          <p:nvPr/>
        </p:nvSpPr>
        <p:spPr>
          <a:xfrm>
            <a:off x="9930384" y="2194560"/>
            <a:ext cx="1508760" cy="475488"/>
          </a:xfrm>
          <a:prstGeom prst="rect">
            <a:avLst/>
          </a:prstGeom>
          <a:noFill/>
          <a:ln/>
        </p:spPr>
        <p:txBody>
          <a:bodyPr wrap="square" lIns="0" tIns="0" rIns="0" bIns="0" rtlCol="0" anchor="ctr"/>
          <a:lstStyle/>
          <a:p>
            <a:pPr marL="0" indent="0">
              <a:buNone/>
            </a:pPr>
            <a:r>
              <a:rPr lang="en-US" sz="1800" b="1" dirty="0">
                <a:solidFill>
                  <a:srgbClr val="0F172A"/>
                </a:solidFill>
              </a:rPr>
              <a:t>Judge</a:t>
            </a:r>
            <a:endParaRPr lang="en-US" sz="1800" dirty="0"/>
          </a:p>
        </p:txBody>
      </p:sp>
      <p:sp>
        <p:nvSpPr>
          <p:cNvPr id="26" name="Text 20"/>
          <p:cNvSpPr txBox="1"/>
          <p:nvPr/>
        </p:nvSpPr>
        <p:spPr>
          <a:xfrm>
            <a:off x="9336024" y="2807208"/>
            <a:ext cx="2103120" cy="685800"/>
          </a:xfrm>
          <a:prstGeom prst="rect">
            <a:avLst/>
          </a:prstGeom>
          <a:noFill/>
          <a:ln/>
        </p:spPr>
        <p:txBody>
          <a:bodyPr wrap="square" lIns="0" tIns="0" rIns="0" bIns="0" rtlCol="0" anchor="t"/>
          <a:lstStyle/>
          <a:p>
            <a:pPr marL="0" indent="0">
              <a:buNone/>
            </a:pPr>
            <a:r>
              <a:rPr lang="en-US" sz="1350" dirty="0">
                <a:solidFill>
                  <a:srgbClr val="475569"/>
                </a:solidFill>
              </a:rPr>
              <a:t>4 scores + 6 rule checks</a:t>
            </a:r>
            <a:endParaRPr lang="en-US" sz="1350" dirty="0"/>
          </a:p>
          <a:p>
            <a:pPr marL="0" indent="0">
              <a:buNone/>
            </a:pPr>
            <a:r>
              <a:rPr lang="en-US" sz="1350" dirty="0">
                <a:solidFill>
                  <a:srgbClr val="475569"/>
                </a:solidFill>
              </a:rPr>
              <a:t>pass / revise / fail</a:t>
            </a:r>
            <a:endParaRPr lang="en-US" sz="1350" dirty="0"/>
          </a:p>
        </p:txBody>
      </p:sp>
      <p:sp>
        <p:nvSpPr>
          <p:cNvPr id="27" name="Shape 21"/>
          <p:cNvSpPr/>
          <p:nvPr/>
        </p:nvSpPr>
        <p:spPr>
          <a:xfrm flipV="1">
            <a:off x="10364724" y="1664208"/>
            <a:ext cx="0" cy="301752"/>
          </a:xfrm>
          <a:prstGeom prst="line">
            <a:avLst/>
          </a:prstGeom>
          <a:noFill/>
          <a:ln w="22225">
            <a:solidFill>
              <a:srgbClr val="EA580C"/>
            </a:solidFill>
            <a:prstDash val="dash"/>
          </a:ln>
        </p:spPr>
      </p:sp>
      <p:sp>
        <p:nvSpPr>
          <p:cNvPr id="28" name="Shape 22"/>
          <p:cNvSpPr/>
          <p:nvPr/>
        </p:nvSpPr>
        <p:spPr>
          <a:xfrm flipH="1">
            <a:off x="4658868" y="1664208"/>
            <a:ext cx="5705856" cy="0"/>
          </a:xfrm>
          <a:prstGeom prst="line">
            <a:avLst/>
          </a:prstGeom>
          <a:noFill/>
          <a:ln w="22225">
            <a:solidFill>
              <a:srgbClr val="EA580C"/>
            </a:solidFill>
            <a:prstDash val="dash"/>
          </a:ln>
        </p:spPr>
      </p:sp>
      <p:sp>
        <p:nvSpPr>
          <p:cNvPr id="29" name="Shape 23"/>
          <p:cNvSpPr/>
          <p:nvPr/>
        </p:nvSpPr>
        <p:spPr>
          <a:xfrm>
            <a:off x="4658868" y="1664208"/>
            <a:ext cx="0" cy="274320"/>
          </a:xfrm>
          <a:prstGeom prst="line">
            <a:avLst/>
          </a:prstGeom>
          <a:noFill/>
          <a:ln w="22225">
            <a:solidFill>
              <a:srgbClr val="EA580C"/>
            </a:solidFill>
            <a:prstDash val="dash"/>
            <a:tailEnd type="triangle"/>
          </a:ln>
        </p:spPr>
      </p:sp>
      <p:sp>
        <p:nvSpPr>
          <p:cNvPr id="30" name="Shape 24"/>
          <p:cNvSpPr/>
          <p:nvPr/>
        </p:nvSpPr>
        <p:spPr>
          <a:xfrm>
            <a:off x="6643116" y="1517904"/>
            <a:ext cx="1737360" cy="292608"/>
          </a:xfrm>
          <a:prstGeom prst="roundRect">
            <a:avLst>
              <a:gd name="adj" fmla="val 50000"/>
            </a:avLst>
          </a:prstGeom>
          <a:solidFill>
            <a:srgbClr val="FFFFFF"/>
          </a:solidFill>
          <a:ln w="12700">
            <a:solidFill>
              <a:srgbClr val="F8C9A8"/>
            </a:solidFill>
            <a:prstDash val="solid"/>
          </a:ln>
        </p:spPr>
      </p:sp>
      <p:sp>
        <p:nvSpPr>
          <p:cNvPr id="31" name="Text 25"/>
          <p:cNvSpPr txBox="1"/>
          <p:nvPr/>
        </p:nvSpPr>
        <p:spPr>
          <a:xfrm>
            <a:off x="6643116" y="1517904"/>
            <a:ext cx="1737360" cy="292608"/>
          </a:xfrm>
          <a:prstGeom prst="rect">
            <a:avLst/>
          </a:prstGeom>
          <a:noFill/>
          <a:ln/>
        </p:spPr>
        <p:txBody>
          <a:bodyPr wrap="square" lIns="0" tIns="0" rIns="0" bIns="0" rtlCol="0" anchor="ctr"/>
          <a:lstStyle/>
          <a:p>
            <a:pPr marL="0" indent="0" algn="ctr">
              <a:buNone/>
            </a:pPr>
            <a:r>
              <a:rPr lang="en-US" sz="1200" b="1" dirty="0">
                <a:solidFill>
                  <a:srgbClr val="EA580C"/>
                </a:solidFill>
              </a:rPr>
              <a:t>revision (max 1)</a:t>
            </a:r>
            <a:endParaRPr lang="en-US" sz="1200" dirty="0"/>
          </a:p>
        </p:txBody>
      </p:sp>
      <p:sp>
        <p:nvSpPr>
          <p:cNvPr id="32" name="Text 26"/>
          <p:cNvSpPr txBox="1"/>
          <p:nvPr/>
        </p:nvSpPr>
        <p:spPr>
          <a:xfrm>
            <a:off x="548640" y="3840480"/>
            <a:ext cx="5486400" cy="274320"/>
          </a:xfrm>
          <a:prstGeom prst="rect">
            <a:avLst/>
          </a:prstGeom>
          <a:noFill/>
          <a:ln/>
        </p:spPr>
        <p:txBody>
          <a:bodyPr wrap="square" lIns="0" tIns="0" rIns="0" bIns="0" rtlCol="0" anchor="t"/>
          <a:lstStyle/>
          <a:p>
            <a:pPr marL="0" indent="0">
              <a:buNone/>
            </a:pPr>
            <a:r>
              <a:rPr lang="en-US" sz="1200" b="1" kern="0" spc="150" dirty="0">
                <a:solidFill>
                  <a:srgbClr val="0E9F6E"/>
                </a:solidFill>
              </a:rPr>
              <a:t>DETERMINISTIC TOOLS · NO LLM</a:t>
            </a:r>
            <a:endParaRPr lang="en-US" sz="1200" dirty="0"/>
          </a:p>
        </p:txBody>
      </p:sp>
      <p:sp>
        <p:nvSpPr>
          <p:cNvPr id="33" name="Shape 27"/>
          <p:cNvSpPr/>
          <p:nvPr/>
        </p:nvSpPr>
        <p:spPr>
          <a:xfrm>
            <a:off x="548640" y="4206240"/>
            <a:ext cx="2395728" cy="804672"/>
          </a:xfrm>
          <a:prstGeom prst="roundRect">
            <a:avLst>
              <a:gd name="adj" fmla="val 13636"/>
            </a:avLst>
          </a:prstGeom>
          <a:solidFill>
            <a:srgbClr val="FFFFFF"/>
          </a:solidFill>
          <a:ln w="12700">
            <a:solidFill>
              <a:srgbClr val="C9EBDB"/>
            </a:solidFill>
            <a:prstDash val="solid"/>
          </a:ln>
          <a:effectLst>
            <a:outerShdw blurRad="101600" dist="25400" dir="5400000" algn="bl" rotWithShape="0">
              <a:srgbClr val="0F172A">
                <a:alpha val="10000"/>
              </a:srgbClr>
            </a:outerShdw>
          </a:effectLst>
        </p:spPr>
      </p:sp>
      <p:sp>
        <p:nvSpPr>
          <p:cNvPr id="34" name="Shape 28"/>
          <p:cNvSpPr/>
          <p:nvPr/>
        </p:nvSpPr>
        <p:spPr>
          <a:xfrm>
            <a:off x="713232" y="4398264"/>
            <a:ext cx="420624" cy="420624"/>
          </a:xfrm>
          <a:prstGeom prst="roundRect">
            <a:avLst>
              <a:gd name="adj" fmla="val 22000"/>
            </a:avLst>
          </a:prstGeom>
          <a:solidFill>
            <a:srgbClr val="E3F6EC"/>
          </a:solidFill>
          <a:ln w="12700">
            <a:solidFill>
              <a:srgbClr val="E3F6EC"/>
            </a:solidFill>
            <a:prstDash val="solid"/>
          </a:ln>
        </p:spPr>
      </p:sp>
      <p:pic>
        <p:nvPicPr>
          <p:cNvPr id="35" name="Image 4" descr="preencoded.png"/>
          <p:cNvPicPr>
            <a:picLocks noChangeAspect="1"/>
          </p:cNvPicPr>
          <p:nvPr/>
        </p:nvPicPr>
        <p:blipFill>
          <a:blip r:embed="rId7"/>
          <a:stretch>
            <a:fillRect/>
          </a:stretch>
        </p:blipFill>
        <p:spPr>
          <a:xfrm>
            <a:off x="814182" y="4499214"/>
            <a:ext cx="218724" cy="218724"/>
          </a:xfrm>
          <a:prstGeom prst="rect">
            <a:avLst/>
          </a:prstGeom>
        </p:spPr>
      </p:pic>
      <p:sp>
        <p:nvSpPr>
          <p:cNvPr id="36" name="Text 29"/>
          <p:cNvSpPr txBox="1"/>
          <p:nvPr/>
        </p:nvSpPr>
        <p:spPr>
          <a:xfrm>
            <a:off x="1261872" y="4206240"/>
            <a:ext cx="1572768" cy="804672"/>
          </a:xfrm>
          <a:prstGeom prst="rect">
            <a:avLst/>
          </a:prstGeom>
          <a:noFill/>
          <a:ln/>
        </p:spPr>
        <p:txBody>
          <a:bodyPr wrap="square" lIns="0" tIns="0" rIns="0" bIns="0" rtlCol="0" anchor="ctr"/>
          <a:lstStyle/>
          <a:p>
            <a:pPr marL="0" indent="0">
              <a:buNone/>
            </a:pPr>
            <a:r>
              <a:rPr lang="en-US" sz="1350" b="1" dirty="0">
                <a:solidFill>
                  <a:srgbClr val="0F172A"/>
                </a:solidFill>
              </a:rPr>
              <a:t>KPI analyzer</a:t>
            </a:r>
            <a:endParaRPr lang="en-US" sz="1350" dirty="0"/>
          </a:p>
        </p:txBody>
      </p:sp>
      <p:sp>
        <p:nvSpPr>
          <p:cNvPr id="37" name="Shape 30"/>
          <p:cNvSpPr/>
          <p:nvPr/>
        </p:nvSpPr>
        <p:spPr>
          <a:xfrm>
            <a:off x="3127248" y="4206240"/>
            <a:ext cx="2395728" cy="804672"/>
          </a:xfrm>
          <a:prstGeom prst="roundRect">
            <a:avLst>
              <a:gd name="adj" fmla="val 13636"/>
            </a:avLst>
          </a:prstGeom>
          <a:solidFill>
            <a:srgbClr val="FFFFFF"/>
          </a:solidFill>
          <a:ln w="12700">
            <a:solidFill>
              <a:srgbClr val="C9EBDB"/>
            </a:solidFill>
            <a:prstDash val="solid"/>
          </a:ln>
          <a:effectLst>
            <a:outerShdw blurRad="101600" dist="25400" dir="5400000" algn="bl" rotWithShape="0">
              <a:srgbClr val="0F172A">
                <a:alpha val="10000"/>
              </a:srgbClr>
            </a:outerShdw>
          </a:effectLst>
        </p:spPr>
      </p:sp>
      <p:sp>
        <p:nvSpPr>
          <p:cNvPr id="38" name="Shape 31"/>
          <p:cNvSpPr/>
          <p:nvPr/>
        </p:nvSpPr>
        <p:spPr>
          <a:xfrm>
            <a:off x="3291840" y="4398264"/>
            <a:ext cx="420624" cy="420624"/>
          </a:xfrm>
          <a:prstGeom prst="roundRect">
            <a:avLst>
              <a:gd name="adj" fmla="val 22000"/>
            </a:avLst>
          </a:prstGeom>
          <a:solidFill>
            <a:srgbClr val="E3F6EC"/>
          </a:solidFill>
          <a:ln w="12700">
            <a:solidFill>
              <a:srgbClr val="E3F6EC"/>
            </a:solidFill>
            <a:prstDash val="solid"/>
          </a:ln>
        </p:spPr>
      </p:sp>
      <p:pic>
        <p:nvPicPr>
          <p:cNvPr id="39" name="Image 5" descr="preencoded.png"/>
          <p:cNvPicPr>
            <a:picLocks noChangeAspect="1"/>
          </p:cNvPicPr>
          <p:nvPr/>
        </p:nvPicPr>
        <p:blipFill>
          <a:blip r:embed="rId8"/>
          <a:stretch>
            <a:fillRect/>
          </a:stretch>
        </p:blipFill>
        <p:spPr>
          <a:xfrm>
            <a:off x="3392790" y="4499214"/>
            <a:ext cx="218724" cy="218724"/>
          </a:xfrm>
          <a:prstGeom prst="rect">
            <a:avLst/>
          </a:prstGeom>
        </p:spPr>
      </p:pic>
      <p:sp>
        <p:nvSpPr>
          <p:cNvPr id="40" name="Text 32"/>
          <p:cNvSpPr txBox="1"/>
          <p:nvPr/>
        </p:nvSpPr>
        <p:spPr>
          <a:xfrm>
            <a:off x="3840480" y="4206240"/>
            <a:ext cx="1572768" cy="804672"/>
          </a:xfrm>
          <a:prstGeom prst="rect">
            <a:avLst/>
          </a:prstGeom>
          <a:noFill/>
          <a:ln/>
        </p:spPr>
        <p:txBody>
          <a:bodyPr wrap="square" lIns="0" tIns="0" rIns="0" bIns="0" rtlCol="0" anchor="ctr"/>
          <a:lstStyle/>
          <a:p>
            <a:pPr marL="0" indent="0">
              <a:buNone/>
            </a:pPr>
            <a:r>
              <a:rPr lang="en-US" sz="1350" b="1" dirty="0">
                <a:solidFill>
                  <a:srgbClr val="0F172A"/>
                </a:solidFill>
              </a:rPr>
              <a:t>Segment statistics</a:t>
            </a:r>
            <a:endParaRPr lang="en-US" sz="1350" dirty="0"/>
          </a:p>
        </p:txBody>
      </p:sp>
      <p:sp>
        <p:nvSpPr>
          <p:cNvPr id="41" name="Shape 33"/>
          <p:cNvSpPr/>
          <p:nvPr/>
        </p:nvSpPr>
        <p:spPr>
          <a:xfrm>
            <a:off x="5705856" y="4206240"/>
            <a:ext cx="2395728" cy="804672"/>
          </a:xfrm>
          <a:prstGeom prst="roundRect">
            <a:avLst>
              <a:gd name="adj" fmla="val 13636"/>
            </a:avLst>
          </a:prstGeom>
          <a:solidFill>
            <a:srgbClr val="FFFFFF"/>
          </a:solidFill>
          <a:ln w="12700">
            <a:solidFill>
              <a:srgbClr val="C9EBDB"/>
            </a:solidFill>
            <a:prstDash val="solid"/>
          </a:ln>
          <a:effectLst>
            <a:outerShdw blurRad="101600" dist="25400" dir="5400000" algn="bl" rotWithShape="0">
              <a:srgbClr val="0F172A">
                <a:alpha val="10000"/>
              </a:srgbClr>
            </a:outerShdw>
          </a:effectLst>
        </p:spPr>
      </p:sp>
      <p:sp>
        <p:nvSpPr>
          <p:cNvPr id="42" name="Shape 34"/>
          <p:cNvSpPr/>
          <p:nvPr/>
        </p:nvSpPr>
        <p:spPr>
          <a:xfrm>
            <a:off x="5870448" y="4398264"/>
            <a:ext cx="420624" cy="420624"/>
          </a:xfrm>
          <a:prstGeom prst="roundRect">
            <a:avLst>
              <a:gd name="adj" fmla="val 22000"/>
            </a:avLst>
          </a:prstGeom>
          <a:solidFill>
            <a:srgbClr val="E3F6EC"/>
          </a:solidFill>
          <a:ln w="12700">
            <a:solidFill>
              <a:srgbClr val="E3F6EC"/>
            </a:solidFill>
            <a:prstDash val="solid"/>
          </a:ln>
        </p:spPr>
      </p:sp>
      <p:pic>
        <p:nvPicPr>
          <p:cNvPr id="43" name="Image 6" descr="preencoded.png"/>
          <p:cNvPicPr>
            <a:picLocks noChangeAspect="1"/>
          </p:cNvPicPr>
          <p:nvPr/>
        </p:nvPicPr>
        <p:blipFill>
          <a:blip r:embed="rId9"/>
          <a:stretch>
            <a:fillRect/>
          </a:stretch>
        </p:blipFill>
        <p:spPr>
          <a:xfrm>
            <a:off x="5971398" y="4499214"/>
            <a:ext cx="218724" cy="218724"/>
          </a:xfrm>
          <a:prstGeom prst="rect">
            <a:avLst/>
          </a:prstGeom>
        </p:spPr>
      </p:pic>
      <p:sp>
        <p:nvSpPr>
          <p:cNvPr id="44" name="Text 35"/>
          <p:cNvSpPr txBox="1"/>
          <p:nvPr/>
        </p:nvSpPr>
        <p:spPr>
          <a:xfrm>
            <a:off x="6419088" y="4206240"/>
            <a:ext cx="1572768" cy="804672"/>
          </a:xfrm>
          <a:prstGeom prst="rect">
            <a:avLst/>
          </a:prstGeom>
          <a:noFill/>
          <a:ln/>
        </p:spPr>
        <p:txBody>
          <a:bodyPr wrap="square" lIns="0" tIns="0" rIns="0" bIns="0" rtlCol="0" anchor="ctr"/>
          <a:lstStyle/>
          <a:p>
            <a:pPr marL="0" indent="0">
              <a:buNone/>
            </a:pPr>
            <a:r>
              <a:rPr lang="en-US" sz="1350" b="1" dirty="0">
                <a:solidFill>
                  <a:srgbClr val="0F172A"/>
                </a:solidFill>
              </a:rPr>
              <a:t>ML predictors</a:t>
            </a:r>
            <a:endParaRPr lang="en-US" sz="1350" dirty="0"/>
          </a:p>
        </p:txBody>
      </p:sp>
      <p:sp>
        <p:nvSpPr>
          <p:cNvPr id="45" name="Shape 36"/>
          <p:cNvSpPr/>
          <p:nvPr/>
        </p:nvSpPr>
        <p:spPr>
          <a:xfrm>
            <a:off x="548640" y="5193792"/>
            <a:ext cx="2395728" cy="804672"/>
          </a:xfrm>
          <a:prstGeom prst="roundRect">
            <a:avLst>
              <a:gd name="adj" fmla="val 13636"/>
            </a:avLst>
          </a:prstGeom>
          <a:solidFill>
            <a:srgbClr val="FFFFFF"/>
          </a:solidFill>
          <a:ln w="12700">
            <a:solidFill>
              <a:srgbClr val="C9EBDB"/>
            </a:solidFill>
            <a:prstDash val="solid"/>
          </a:ln>
          <a:effectLst>
            <a:outerShdw blurRad="101600" dist="25400" dir="5400000" algn="bl" rotWithShape="0">
              <a:srgbClr val="0F172A">
                <a:alpha val="10000"/>
              </a:srgbClr>
            </a:outerShdw>
          </a:effectLst>
        </p:spPr>
      </p:sp>
      <p:sp>
        <p:nvSpPr>
          <p:cNvPr id="46" name="Shape 37"/>
          <p:cNvSpPr/>
          <p:nvPr/>
        </p:nvSpPr>
        <p:spPr>
          <a:xfrm>
            <a:off x="713232" y="5385816"/>
            <a:ext cx="420624" cy="420624"/>
          </a:xfrm>
          <a:prstGeom prst="roundRect">
            <a:avLst>
              <a:gd name="adj" fmla="val 22000"/>
            </a:avLst>
          </a:prstGeom>
          <a:solidFill>
            <a:srgbClr val="E3F6EC"/>
          </a:solidFill>
          <a:ln w="12700">
            <a:solidFill>
              <a:srgbClr val="E3F6EC"/>
            </a:solidFill>
            <a:prstDash val="solid"/>
          </a:ln>
        </p:spPr>
      </p:sp>
      <p:pic>
        <p:nvPicPr>
          <p:cNvPr id="47" name="Image 7" descr="preencoded.png"/>
          <p:cNvPicPr>
            <a:picLocks noChangeAspect="1"/>
          </p:cNvPicPr>
          <p:nvPr/>
        </p:nvPicPr>
        <p:blipFill>
          <a:blip r:embed="rId10"/>
          <a:stretch>
            <a:fillRect/>
          </a:stretch>
        </p:blipFill>
        <p:spPr>
          <a:xfrm>
            <a:off x="814182" y="5486766"/>
            <a:ext cx="218724" cy="218724"/>
          </a:xfrm>
          <a:prstGeom prst="rect">
            <a:avLst/>
          </a:prstGeom>
        </p:spPr>
      </p:pic>
      <p:sp>
        <p:nvSpPr>
          <p:cNvPr id="48" name="Text 38"/>
          <p:cNvSpPr txBox="1"/>
          <p:nvPr/>
        </p:nvSpPr>
        <p:spPr>
          <a:xfrm>
            <a:off x="1261872" y="5193792"/>
            <a:ext cx="1572768" cy="804672"/>
          </a:xfrm>
          <a:prstGeom prst="rect">
            <a:avLst/>
          </a:prstGeom>
          <a:noFill/>
          <a:ln/>
        </p:spPr>
        <p:txBody>
          <a:bodyPr wrap="square" lIns="0" tIns="0" rIns="0" bIns="0" rtlCol="0" anchor="ctr"/>
          <a:lstStyle/>
          <a:p>
            <a:pPr marL="0" indent="0">
              <a:buNone/>
            </a:pPr>
            <a:r>
              <a:rPr lang="en-US" sz="1350" b="1" dirty="0">
                <a:solidFill>
                  <a:srgbClr val="0F172A"/>
                </a:solidFill>
              </a:rPr>
              <a:t>Prioritization + impact</a:t>
            </a:r>
            <a:endParaRPr lang="en-US" sz="1350" dirty="0"/>
          </a:p>
        </p:txBody>
      </p:sp>
      <p:sp>
        <p:nvSpPr>
          <p:cNvPr id="49" name="Shape 39"/>
          <p:cNvSpPr/>
          <p:nvPr/>
        </p:nvSpPr>
        <p:spPr>
          <a:xfrm>
            <a:off x="3127248" y="5193792"/>
            <a:ext cx="2395728" cy="804672"/>
          </a:xfrm>
          <a:prstGeom prst="roundRect">
            <a:avLst>
              <a:gd name="adj" fmla="val 13636"/>
            </a:avLst>
          </a:prstGeom>
          <a:solidFill>
            <a:srgbClr val="FFFFFF"/>
          </a:solidFill>
          <a:ln w="12700">
            <a:solidFill>
              <a:srgbClr val="C9EBDB"/>
            </a:solidFill>
            <a:prstDash val="solid"/>
          </a:ln>
          <a:effectLst>
            <a:outerShdw blurRad="101600" dist="25400" dir="5400000" algn="bl" rotWithShape="0">
              <a:srgbClr val="0F172A">
                <a:alpha val="10000"/>
              </a:srgbClr>
            </a:outerShdw>
          </a:effectLst>
        </p:spPr>
      </p:sp>
      <p:sp>
        <p:nvSpPr>
          <p:cNvPr id="50" name="Shape 40"/>
          <p:cNvSpPr/>
          <p:nvPr/>
        </p:nvSpPr>
        <p:spPr>
          <a:xfrm>
            <a:off x="3291840" y="5385816"/>
            <a:ext cx="420624" cy="420624"/>
          </a:xfrm>
          <a:prstGeom prst="roundRect">
            <a:avLst>
              <a:gd name="adj" fmla="val 22000"/>
            </a:avLst>
          </a:prstGeom>
          <a:solidFill>
            <a:srgbClr val="E3F6EC"/>
          </a:solidFill>
          <a:ln w="12700">
            <a:solidFill>
              <a:srgbClr val="E3F6EC"/>
            </a:solidFill>
            <a:prstDash val="solid"/>
          </a:ln>
        </p:spPr>
      </p:sp>
      <p:pic>
        <p:nvPicPr>
          <p:cNvPr id="51" name="Image 8" descr="preencoded.png"/>
          <p:cNvPicPr>
            <a:picLocks noChangeAspect="1"/>
          </p:cNvPicPr>
          <p:nvPr/>
        </p:nvPicPr>
        <p:blipFill>
          <a:blip r:embed="rId11"/>
          <a:stretch>
            <a:fillRect/>
          </a:stretch>
        </p:blipFill>
        <p:spPr>
          <a:xfrm>
            <a:off x="3392790" y="5486766"/>
            <a:ext cx="218724" cy="218724"/>
          </a:xfrm>
          <a:prstGeom prst="rect">
            <a:avLst/>
          </a:prstGeom>
        </p:spPr>
      </p:pic>
      <p:sp>
        <p:nvSpPr>
          <p:cNvPr id="52" name="Text 41"/>
          <p:cNvSpPr txBox="1"/>
          <p:nvPr/>
        </p:nvSpPr>
        <p:spPr>
          <a:xfrm>
            <a:off x="3840480" y="5193792"/>
            <a:ext cx="1572768" cy="804672"/>
          </a:xfrm>
          <a:prstGeom prst="rect">
            <a:avLst/>
          </a:prstGeom>
          <a:noFill/>
          <a:ln/>
        </p:spPr>
        <p:txBody>
          <a:bodyPr wrap="square" lIns="0" tIns="0" rIns="0" bIns="0" rtlCol="0" anchor="ctr"/>
          <a:lstStyle/>
          <a:p>
            <a:pPr marL="0" indent="0">
              <a:buNone/>
            </a:pPr>
            <a:r>
              <a:rPr lang="en-US" sz="1350" b="1" dirty="0">
                <a:solidFill>
                  <a:srgbClr val="0F172A"/>
                </a:solidFill>
              </a:rPr>
              <a:t>Similar-case search</a:t>
            </a:r>
            <a:endParaRPr lang="en-US" sz="1350" dirty="0"/>
          </a:p>
        </p:txBody>
      </p:sp>
      <p:sp>
        <p:nvSpPr>
          <p:cNvPr id="53" name="Shape 42"/>
          <p:cNvSpPr/>
          <p:nvPr/>
        </p:nvSpPr>
        <p:spPr>
          <a:xfrm>
            <a:off x="5705856" y="5193792"/>
            <a:ext cx="2395728" cy="804672"/>
          </a:xfrm>
          <a:prstGeom prst="roundRect">
            <a:avLst>
              <a:gd name="adj" fmla="val 13636"/>
            </a:avLst>
          </a:prstGeom>
          <a:solidFill>
            <a:srgbClr val="FFFFFF"/>
          </a:solidFill>
          <a:ln w="12700">
            <a:solidFill>
              <a:srgbClr val="C9EBDB"/>
            </a:solidFill>
            <a:prstDash val="solid"/>
          </a:ln>
          <a:effectLst>
            <a:outerShdw blurRad="101600" dist="25400" dir="5400000" algn="bl" rotWithShape="0">
              <a:srgbClr val="0F172A">
                <a:alpha val="10000"/>
              </a:srgbClr>
            </a:outerShdw>
          </a:effectLst>
        </p:spPr>
      </p:sp>
      <p:sp>
        <p:nvSpPr>
          <p:cNvPr id="54" name="Shape 43"/>
          <p:cNvSpPr/>
          <p:nvPr/>
        </p:nvSpPr>
        <p:spPr>
          <a:xfrm>
            <a:off x="5870448" y="5385816"/>
            <a:ext cx="420624" cy="420624"/>
          </a:xfrm>
          <a:prstGeom prst="roundRect">
            <a:avLst>
              <a:gd name="adj" fmla="val 22000"/>
            </a:avLst>
          </a:prstGeom>
          <a:solidFill>
            <a:srgbClr val="E3F6EC"/>
          </a:solidFill>
          <a:ln w="12700">
            <a:solidFill>
              <a:srgbClr val="E3F6EC"/>
            </a:solidFill>
            <a:prstDash val="solid"/>
          </a:ln>
        </p:spPr>
      </p:sp>
      <p:pic>
        <p:nvPicPr>
          <p:cNvPr id="55" name="Image 9" descr="preencoded.png"/>
          <p:cNvPicPr>
            <a:picLocks noChangeAspect="1"/>
          </p:cNvPicPr>
          <p:nvPr/>
        </p:nvPicPr>
        <p:blipFill>
          <a:blip r:embed="rId12"/>
          <a:stretch>
            <a:fillRect/>
          </a:stretch>
        </p:blipFill>
        <p:spPr>
          <a:xfrm>
            <a:off x="5971398" y="5486766"/>
            <a:ext cx="218724" cy="218724"/>
          </a:xfrm>
          <a:prstGeom prst="rect">
            <a:avLst/>
          </a:prstGeom>
        </p:spPr>
      </p:pic>
      <p:sp>
        <p:nvSpPr>
          <p:cNvPr id="56" name="Text 44"/>
          <p:cNvSpPr txBox="1"/>
          <p:nvPr/>
        </p:nvSpPr>
        <p:spPr>
          <a:xfrm>
            <a:off x="6419088" y="5193792"/>
            <a:ext cx="1572768" cy="804672"/>
          </a:xfrm>
          <a:prstGeom prst="rect">
            <a:avLst/>
          </a:prstGeom>
          <a:noFill/>
          <a:ln/>
        </p:spPr>
        <p:txBody>
          <a:bodyPr wrap="square" lIns="0" tIns="0" rIns="0" bIns="0" rtlCol="0" anchor="ctr"/>
          <a:lstStyle/>
          <a:p>
            <a:pPr marL="0" indent="0">
              <a:buNone/>
            </a:pPr>
            <a:r>
              <a:rPr lang="en-US" sz="1350" b="1" dirty="0">
                <a:solidFill>
                  <a:srgbClr val="0F172A"/>
                </a:solidFill>
              </a:rPr>
              <a:t>Guardrails (before any LLM)</a:t>
            </a:r>
            <a:endParaRPr lang="en-US" sz="1350" dirty="0"/>
          </a:p>
        </p:txBody>
      </p:sp>
      <p:sp>
        <p:nvSpPr>
          <p:cNvPr id="57" name="Shape 45"/>
          <p:cNvSpPr/>
          <p:nvPr/>
        </p:nvSpPr>
        <p:spPr>
          <a:xfrm>
            <a:off x="8503920" y="4206240"/>
            <a:ext cx="3108960" cy="1792224"/>
          </a:xfrm>
          <a:prstGeom prst="roundRect">
            <a:avLst>
              <a:gd name="adj" fmla="val 6122"/>
            </a:avLst>
          </a:prstGeom>
          <a:solidFill>
            <a:srgbClr val="E6ECF5"/>
          </a:solidFill>
          <a:ln w="12700">
            <a:solidFill>
              <a:srgbClr val="E6ECF5"/>
            </a:solidFill>
            <a:prstDash val="solid"/>
          </a:ln>
        </p:spPr>
      </p:sp>
      <p:sp>
        <p:nvSpPr>
          <p:cNvPr id="58" name="Shape 46"/>
          <p:cNvSpPr/>
          <p:nvPr/>
        </p:nvSpPr>
        <p:spPr>
          <a:xfrm>
            <a:off x="8732520" y="4389120"/>
            <a:ext cx="420624" cy="420624"/>
          </a:xfrm>
          <a:prstGeom prst="roundRect">
            <a:avLst>
              <a:gd name="adj" fmla="val 22000"/>
            </a:avLst>
          </a:prstGeom>
          <a:solidFill>
            <a:srgbClr val="E6ECF5"/>
          </a:solidFill>
          <a:ln w="12700">
            <a:solidFill>
              <a:srgbClr val="E6ECF5"/>
            </a:solidFill>
            <a:prstDash val="solid"/>
          </a:ln>
        </p:spPr>
      </p:sp>
      <p:pic>
        <p:nvPicPr>
          <p:cNvPr id="59" name="Image 10" descr="preencoded.png"/>
          <p:cNvPicPr>
            <a:picLocks noChangeAspect="1"/>
          </p:cNvPicPr>
          <p:nvPr/>
        </p:nvPicPr>
        <p:blipFill>
          <a:blip r:embed="rId13"/>
          <a:stretch>
            <a:fillRect/>
          </a:stretch>
        </p:blipFill>
        <p:spPr>
          <a:xfrm>
            <a:off x="8833470" y="4490070"/>
            <a:ext cx="218724" cy="218724"/>
          </a:xfrm>
          <a:prstGeom prst="rect">
            <a:avLst/>
          </a:prstGeom>
        </p:spPr>
      </p:pic>
      <p:sp>
        <p:nvSpPr>
          <p:cNvPr id="60" name="Text 47"/>
          <p:cNvSpPr txBox="1"/>
          <p:nvPr/>
        </p:nvSpPr>
        <p:spPr>
          <a:xfrm>
            <a:off x="8732520" y="4892040"/>
            <a:ext cx="2697480" cy="1051560"/>
          </a:xfrm>
          <a:prstGeom prst="rect">
            <a:avLst/>
          </a:prstGeom>
          <a:noFill/>
          <a:ln/>
        </p:spPr>
        <p:txBody>
          <a:bodyPr wrap="square" lIns="0" tIns="0" rIns="0" bIns="0" rtlCol="0" anchor="t"/>
          <a:lstStyle/>
          <a:p>
            <a:pPr marL="0" indent="0">
              <a:buNone/>
            </a:pPr>
            <a:r>
              <a:rPr lang="en-US" sz="1250" dirty="0">
                <a:solidFill>
                  <a:srgbClr val="0F172A"/>
                </a:solidFill>
              </a:rPr>
              <a:t>Every LLM node has a deterministic fallback; with no key, or after the daily spend cap, the same request is answered by rules alone (reduced mode).</a:t>
            </a:r>
            <a:endParaRPr lang="en-US" sz="1250" dirty="0"/>
          </a:p>
        </p:txBody>
      </p:sp>
      <p:sp>
        <p:nvSpPr>
          <p:cNvPr id="61"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64748B"/>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957B23B-A748-DB8C-55F2-EB44B2D7B7D3}"/>
              </a:ext>
            </a:extLst>
          </p:cNvPr>
          <p:cNvSpPr txBox="1"/>
          <p:nvPr/>
        </p:nvSpPr>
        <p:spPr>
          <a:xfrm>
            <a:off x="3048000" y="2890391"/>
            <a:ext cx="6096000" cy="584775"/>
          </a:xfrm>
          <a:prstGeom prst="rect">
            <a:avLst/>
          </a:prstGeom>
          <a:noFill/>
        </p:spPr>
        <p:txBody>
          <a:bodyPr wrap="square">
            <a:spAutoFit/>
          </a:bodyPr>
          <a:lstStyle/>
          <a:p>
            <a:pPr algn="ctr"/>
            <a:r>
              <a:rPr lang="en-US" sz="3200" b="1" dirty="0">
                <a:solidFill>
                  <a:srgbClr val="0B2545"/>
                </a:solidFill>
              </a:rPr>
              <a:t>DEMO</a:t>
            </a:r>
            <a:endParaRPr lang="en-IN" dirty="0"/>
          </a:p>
        </p:txBody>
      </p:sp>
    </p:spTree>
    <p:extLst>
      <p:ext uri="{BB962C8B-B14F-4D97-AF65-F5344CB8AC3E}">
        <p14:creationId xmlns:p14="http://schemas.microsoft.com/office/powerpoint/2010/main" val="12450589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229600" cy="274320"/>
          </a:xfrm>
          <a:prstGeom prst="rect">
            <a:avLst/>
          </a:prstGeom>
          <a:noFill/>
          <a:ln/>
        </p:spPr>
        <p:txBody>
          <a:bodyPr wrap="square" lIns="0" tIns="0" rIns="0" bIns="0" rtlCol="0" anchor="ctr"/>
          <a:lstStyle/>
          <a:p>
            <a:pPr marL="0" indent="0">
              <a:buNone/>
            </a:pPr>
            <a:r>
              <a:rPr lang="en-US" sz="1200" b="1" kern="0" spc="200" dirty="0">
                <a:solidFill>
                  <a:srgbClr val="EA580C"/>
                </a:solidFill>
              </a:rPr>
              <a:t>CHALLENGES AND LEARNINGS</a:t>
            </a:r>
            <a:endParaRPr lang="en-US" sz="1200" dirty="0"/>
          </a:p>
        </p:txBody>
      </p:sp>
      <p:sp>
        <p:nvSpPr>
          <p:cNvPr id="3" name="Text 0"/>
          <p:cNvSpPr>
            <a:spLocks noGrp="1"/>
          </p:cNvSpPr>
          <p:nvPr>
            <p:ph type="title" idx="101" hasCustomPrompt="1"/>
          </p:nvPr>
        </p:nvSpPr>
        <p:spPr>
          <a:xfrm>
            <a:off x="548640" y="621792"/>
            <a:ext cx="11064240" cy="640080"/>
          </a:xfrm>
          <a:prstGeom prst="rect">
            <a:avLst/>
          </a:prstGeom>
          <a:noFill/>
          <a:ln/>
        </p:spPr>
        <p:txBody>
          <a:bodyPr wrap="square" lIns="0" tIns="0" rIns="0" bIns="0" rtlCol="0" anchor="ctr"/>
          <a:lstStyle/>
          <a:p>
            <a:pPr marL="0" indent="0" algn="l">
              <a:buNone/>
            </a:pPr>
            <a:r>
              <a:rPr lang="en-US" sz="3200" b="1" dirty="0">
                <a:solidFill>
                  <a:srgbClr val="0B2545"/>
                </a:solidFill>
              </a:rPr>
              <a:t>Challenges and learnings</a:t>
            </a:r>
            <a:endParaRPr lang="en-US" sz="3200" dirty="0"/>
          </a:p>
        </p:txBody>
      </p:sp>
      <p:sp>
        <p:nvSpPr>
          <p:cNvPr id="4" name="Text 2"/>
          <p:cNvSpPr txBox="1"/>
          <p:nvPr/>
        </p:nvSpPr>
        <p:spPr>
          <a:xfrm>
            <a:off x="1325880" y="1417320"/>
            <a:ext cx="2743200" cy="228600"/>
          </a:xfrm>
          <a:prstGeom prst="rect">
            <a:avLst/>
          </a:prstGeom>
          <a:noFill/>
          <a:ln/>
        </p:spPr>
        <p:txBody>
          <a:bodyPr wrap="square" lIns="0" tIns="0" rIns="0" bIns="0" rtlCol="0" anchor="t"/>
          <a:lstStyle/>
          <a:p>
            <a:pPr marL="0" indent="0">
              <a:buNone/>
            </a:pPr>
            <a:r>
              <a:rPr lang="en-US" sz="1100" b="1" kern="0" spc="150" dirty="0">
                <a:solidFill>
                  <a:srgbClr val="EA580C"/>
                </a:solidFill>
              </a:rPr>
              <a:t>CHALLENGE</a:t>
            </a:r>
            <a:endParaRPr lang="en-US" sz="1100" dirty="0"/>
          </a:p>
        </p:txBody>
      </p:sp>
      <p:sp>
        <p:nvSpPr>
          <p:cNvPr id="5" name="Text 3"/>
          <p:cNvSpPr txBox="1"/>
          <p:nvPr/>
        </p:nvSpPr>
        <p:spPr>
          <a:xfrm>
            <a:off x="5349240" y="1417320"/>
            <a:ext cx="3657600" cy="228600"/>
          </a:xfrm>
          <a:prstGeom prst="rect">
            <a:avLst/>
          </a:prstGeom>
          <a:noFill/>
          <a:ln/>
        </p:spPr>
        <p:txBody>
          <a:bodyPr wrap="square" lIns="0" tIns="0" rIns="0" bIns="0" rtlCol="0" anchor="t"/>
          <a:lstStyle/>
          <a:p>
            <a:pPr marL="0" indent="0">
              <a:buNone/>
            </a:pPr>
            <a:r>
              <a:rPr lang="en-US" sz="1100" b="1" kern="0" spc="150" dirty="0">
                <a:solidFill>
                  <a:srgbClr val="0E9F6E"/>
                </a:solidFill>
              </a:rPr>
              <a:t>WHAT WE DID / LEARNED</a:t>
            </a:r>
            <a:endParaRPr lang="en-US" sz="1100" dirty="0"/>
          </a:p>
        </p:txBody>
      </p:sp>
      <p:sp>
        <p:nvSpPr>
          <p:cNvPr id="6" name="Shape 4"/>
          <p:cNvSpPr/>
          <p:nvPr/>
        </p:nvSpPr>
        <p:spPr>
          <a:xfrm>
            <a:off x="548640" y="1737360"/>
            <a:ext cx="11064240" cy="676656"/>
          </a:xfrm>
          <a:prstGeom prst="roundRect">
            <a:avLst>
              <a:gd name="adj" fmla="val 16216"/>
            </a:avLst>
          </a:prstGeom>
          <a:solidFill>
            <a:srgbClr val="F6F8FB"/>
          </a:solidFill>
          <a:ln w="12700">
            <a:solidFill>
              <a:srgbClr val="E2E8F0"/>
            </a:solidFill>
            <a:prstDash val="solid"/>
          </a:ln>
        </p:spPr>
      </p:sp>
      <p:sp>
        <p:nvSpPr>
          <p:cNvPr id="7" name="Shape 5"/>
          <p:cNvSpPr/>
          <p:nvPr/>
        </p:nvSpPr>
        <p:spPr>
          <a:xfrm>
            <a:off x="713232" y="1856232"/>
            <a:ext cx="438912" cy="438912"/>
          </a:xfrm>
          <a:prstGeom prst="roundRect">
            <a:avLst>
              <a:gd name="adj" fmla="val 22000"/>
            </a:avLst>
          </a:prstGeom>
          <a:solidFill>
            <a:srgbClr val="FFEFE3"/>
          </a:solidFill>
          <a:ln w="12700">
            <a:solidFill>
              <a:srgbClr val="FFEFE3"/>
            </a:solidFill>
            <a:prstDash val="solid"/>
          </a:ln>
        </p:spPr>
      </p:sp>
      <p:pic>
        <p:nvPicPr>
          <p:cNvPr id="8" name="Image 0" descr="preencoded.png"/>
          <p:cNvPicPr>
            <a:picLocks noChangeAspect="1"/>
          </p:cNvPicPr>
          <p:nvPr/>
        </p:nvPicPr>
        <p:blipFill>
          <a:blip r:embed="rId3"/>
          <a:stretch>
            <a:fillRect/>
          </a:stretch>
        </p:blipFill>
        <p:spPr>
          <a:xfrm>
            <a:off x="818571" y="1961571"/>
            <a:ext cx="228234" cy="228234"/>
          </a:xfrm>
          <a:prstGeom prst="rect">
            <a:avLst/>
          </a:prstGeom>
        </p:spPr>
      </p:pic>
      <p:sp>
        <p:nvSpPr>
          <p:cNvPr id="9" name="Text 6"/>
          <p:cNvSpPr txBox="1"/>
          <p:nvPr/>
        </p:nvSpPr>
        <p:spPr>
          <a:xfrm>
            <a:off x="1325880" y="1737360"/>
            <a:ext cx="3566160" cy="676656"/>
          </a:xfrm>
          <a:prstGeom prst="rect">
            <a:avLst/>
          </a:prstGeom>
          <a:noFill/>
          <a:ln/>
        </p:spPr>
        <p:txBody>
          <a:bodyPr wrap="square" lIns="0" tIns="0" rIns="0" bIns="0" rtlCol="0" anchor="ctr"/>
          <a:lstStyle/>
          <a:p>
            <a:pPr marL="0" indent="0">
              <a:buNone/>
            </a:pPr>
            <a:r>
              <a:rPr lang="en-US" sz="1500" b="1" dirty="0">
                <a:solidFill>
                  <a:srgbClr val="0F172A"/>
                </a:solidFill>
              </a:rPr>
              <a:t>Synthetic, text-free data</a:t>
            </a:r>
            <a:endParaRPr lang="en-US" sz="1500" dirty="0"/>
          </a:p>
        </p:txBody>
      </p:sp>
      <p:sp>
        <p:nvSpPr>
          <p:cNvPr id="10" name="Shape 7"/>
          <p:cNvSpPr/>
          <p:nvPr/>
        </p:nvSpPr>
        <p:spPr>
          <a:xfrm>
            <a:off x="4846320" y="2075688"/>
            <a:ext cx="365760" cy="0"/>
          </a:xfrm>
          <a:prstGeom prst="line">
            <a:avLst/>
          </a:prstGeom>
          <a:noFill/>
          <a:ln w="22225">
            <a:solidFill>
              <a:srgbClr val="64748B"/>
            </a:solidFill>
            <a:prstDash val="solid"/>
            <a:tailEnd type="triangle"/>
          </a:ln>
        </p:spPr>
      </p:sp>
      <p:sp>
        <p:nvSpPr>
          <p:cNvPr id="11" name="Text 8"/>
          <p:cNvSpPr txBox="1"/>
          <p:nvPr/>
        </p:nvSpPr>
        <p:spPr>
          <a:xfrm>
            <a:off x="5349240" y="1737360"/>
            <a:ext cx="6126480" cy="676656"/>
          </a:xfrm>
          <a:prstGeom prst="rect">
            <a:avLst/>
          </a:prstGeom>
          <a:noFill/>
          <a:ln/>
        </p:spPr>
        <p:txBody>
          <a:bodyPr wrap="square" lIns="0" tIns="0" rIns="0" bIns="0" rtlCol="0" anchor="ctr"/>
          <a:lstStyle/>
          <a:p>
            <a:pPr marL="0" indent="0">
              <a:buNone/>
            </a:pPr>
            <a:r>
              <a:rPr lang="en-US" sz="1400" dirty="0">
                <a:solidFill>
                  <a:srgbClr val="475569"/>
                </a:solidFill>
              </a:rPr>
              <a:t>Generated narratives, authored runbooks, leakage-free ML</a:t>
            </a:r>
            <a:endParaRPr lang="en-US" sz="1400" dirty="0"/>
          </a:p>
        </p:txBody>
      </p:sp>
      <p:sp>
        <p:nvSpPr>
          <p:cNvPr id="12" name="Shape 9"/>
          <p:cNvSpPr/>
          <p:nvPr/>
        </p:nvSpPr>
        <p:spPr>
          <a:xfrm>
            <a:off x="548640" y="2505456"/>
            <a:ext cx="11064240" cy="676656"/>
          </a:xfrm>
          <a:prstGeom prst="roundRect">
            <a:avLst>
              <a:gd name="adj" fmla="val 16216"/>
            </a:avLst>
          </a:prstGeom>
          <a:solidFill>
            <a:srgbClr val="FFFFFF"/>
          </a:solidFill>
          <a:ln w="12700">
            <a:solidFill>
              <a:srgbClr val="E2E8F0"/>
            </a:solidFill>
            <a:prstDash val="solid"/>
          </a:ln>
        </p:spPr>
      </p:sp>
      <p:sp>
        <p:nvSpPr>
          <p:cNvPr id="13" name="Shape 10"/>
          <p:cNvSpPr/>
          <p:nvPr/>
        </p:nvSpPr>
        <p:spPr>
          <a:xfrm>
            <a:off x="713232" y="2624328"/>
            <a:ext cx="438912" cy="438912"/>
          </a:xfrm>
          <a:prstGeom prst="roundRect">
            <a:avLst>
              <a:gd name="adj" fmla="val 22000"/>
            </a:avLst>
          </a:prstGeom>
          <a:solidFill>
            <a:srgbClr val="FFEFE3"/>
          </a:solidFill>
          <a:ln w="12700">
            <a:solidFill>
              <a:srgbClr val="FFEFE3"/>
            </a:solidFill>
            <a:prstDash val="solid"/>
          </a:ln>
        </p:spPr>
      </p:sp>
      <p:pic>
        <p:nvPicPr>
          <p:cNvPr id="14" name="Image 1" descr="preencoded.png"/>
          <p:cNvPicPr>
            <a:picLocks noChangeAspect="1"/>
          </p:cNvPicPr>
          <p:nvPr/>
        </p:nvPicPr>
        <p:blipFill>
          <a:blip r:embed="rId4"/>
          <a:stretch>
            <a:fillRect/>
          </a:stretch>
        </p:blipFill>
        <p:spPr>
          <a:xfrm>
            <a:off x="818571" y="2729667"/>
            <a:ext cx="228234" cy="228234"/>
          </a:xfrm>
          <a:prstGeom prst="rect">
            <a:avLst/>
          </a:prstGeom>
        </p:spPr>
      </p:pic>
      <p:sp>
        <p:nvSpPr>
          <p:cNvPr id="15" name="Text 11"/>
          <p:cNvSpPr txBox="1"/>
          <p:nvPr/>
        </p:nvSpPr>
        <p:spPr>
          <a:xfrm>
            <a:off x="1325880" y="2505456"/>
            <a:ext cx="3566160" cy="676656"/>
          </a:xfrm>
          <a:prstGeom prst="rect">
            <a:avLst/>
          </a:prstGeom>
          <a:noFill/>
          <a:ln/>
        </p:spPr>
        <p:txBody>
          <a:bodyPr wrap="square" lIns="0" tIns="0" rIns="0" bIns="0" rtlCol="0" anchor="ctr"/>
          <a:lstStyle/>
          <a:p>
            <a:pPr marL="0" indent="0">
              <a:buNone/>
            </a:pPr>
            <a:r>
              <a:rPr lang="en-US" sz="1500" b="1" dirty="0">
                <a:solidFill>
                  <a:srgbClr val="0F172A"/>
                </a:solidFill>
              </a:rPr>
              <a:t>Agents cost 4 LLM calls instead of 1</a:t>
            </a:r>
            <a:endParaRPr lang="en-US" sz="1500" dirty="0"/>
          </a:p>
        </p:txBody>
      </p:sp>
      <p:sp>
        <p:nvSpPr>
          <p:cNvPr id="16" name="Shape 12"/>
          <p:cNvSpPr/>
          <p:nvPr/>
        </p:nvSpPr>
        <p:spPr>
          <a:xfrm>
            <a:off x="4846320" y="2843784"/>
            <a:ext cx="365760" cy="0"/>
          </a:xfrm>
          <a:prstGeom prst="line">
            <a:avLst/>
          </a:prstGeom>
          <a:noFill/>
          <a:ln w="22225">
            <a:solidFill>
              <a:srgbClr val="64748B"/>
            </a:solidFill>
            <a:prstDash val="solid"/>
            <a:tailEnd type="triangle"/>
          </a:ln>
        </p:spPr>
      </p:sp>
      <p:sp>
        <p:nvSpPr>
          <p:cNvPr id="17" name="Text 13"/>
          <p:cNvSpPr txBox="1"/>
          <p:nvPr/>
        </p:nvSpPr>
        <p:spPr>
          <a:xfrm>
            <a:off x="5349240" y="2505456"/>
            <a:ext cx="6126480" cy="676656"/>
          </a:xfrm>
          <a:prstGeom prst="rect">
            <a:avLst/>
          </a:prstGeom>
          <a:noFill/>
          <a:ln/>
        </p:spPr>
        <p:txBody>
          <a:bodyPr wrap="square" lIns="0" tIns="0" rIns="0" bIns="0" rtlCol="0" anchor="ctr"/>
          <a:lstStyle/>
          <a:p>
            <a:pPr marL="0" indent="0">
              <a:buNone/>
            </a:pPr>
            <a:r>
              <a:rPr lang="en-US" sz="1400" dirty="0">
                <a:solidFill>
                  <a:srgbClr val="475569"/>
                </a:solidFill>
              </a:rPr>
              <a:t>Paid back in actionability and an independent check of every answer</a:t>
            </a:r>
            <a:endParaRPr lang="en-US" sz="1400" dirty="0"/>
          </a:p>
        </p:txBody>
      </p:sp>
      <p:sp>
        <p:nvSpPr>
          <p:cNvPr id="18" name="Shape 14"/>
          <p:cNvSpPr/>
          <p:nvPr/>
        </p:nvSpPr>
        <p:spPr>
          <a:xfrm>
            <a:off x="548640" y="3273552"/>
            <a:ext cx="11064240" cy="676656"/>
          </a:xfrm>
          <a:prstGeom prst="roundRect">
            <a:avLst>
              <a:gd name="adj" fmla="val 16216"/>
            </a:avLst>
          </a:prstGeom>
          <a:solidFill>
            <a:srgbClr val="F6F8FB"/>
          </a:solidFill>
          <a:ln w="12700">
            <a:solidFill>
              <a:srgbClr val="E2E8F0"/>
            </a:solidFill>
            <a:prstDash val="solid"/>
          </a:ln>
        </p:spPr>
      </p:sp>
      <p:sp>
        <p:nvSpPr>
          <p:cNvPr id="19" name="Shape 15"/>
          <p:cNvSpPr/>
          <p:nvPr/>
        </p:nvSpPr>
        <p:spPr>
          <a:xfrm>
            <a:off x="713232" y="3392424"/>
            <a:ext cx="438912" cy="438912"/>
          </a:xfrm>
          <a:prstGeom prst="roundRect">
            <a:avLst>
              <a:gd name="adj" fmla="val 22000"/>
            </a:avLst>
          </a:prstGeom>
          <a:solidFill>
            <a:srgbClr val="FFEFE3"/>
          </a:solidFill>
          <a:ln w="12700">
            <a:solidFill>
              <a:srgbClr val="FFEFE3"/>
            </a:solidFill>
            <a:prstDash val="solid"/>
          </a:ln>
        </p:spPr>
      </p:sp>
      <p:pic>
        <p:nvPicPr>
          <p:cNvPr id="20" name="Image 2" descr="preencoded.png"/>
          <p:cNvPicPr>
            <a:picLocks noChangeAspect="1"/>
          </p:cNvPicPr>
          <p:nvPr/>
        </p:nvPicPr>
        <p:blipFill>
          <a:blip r:embed="rId5"/>
          <a:stretch>
            <a:fillRect/>
          </a:stretch>
        </p:blipFill>
        <p:spPr>
          <a:xfrm>
            <a:off x="818571" y="3497763"/>
            <a:ext cx="228234" cy="228234"/>
          </a:xfrm>
          <a:prstGeom prst="rect">
            <a:avLst/>
          </a:prstGeom>
        </p:spPr>
      </p:pic>
      <p:sp>
        <p:nvSpPr>
          <p:cNvPr id="21" name="Text 16"/>
          <p:cNvSpPr txBox="1"/>
          <p:nvPr/>
        </p:nvSpPr>
        <p:spPr>
          <a:xfrm>
            <a:off x="1325880" y="3273552"/>
            <a:ext cx="3566160" cy="676656"/>
          </a:xfrm>
          <a:prstGeom prst="rect">
            <a:avLst/>
          </a:prstGeom>
          <a:noFill/>
          <a:ln/>
        </p:spPr>
        <p:txBody>
          <a:bodyPr wrap="square" lIns="0" tIns="0" rIns="0" bIns="0" rtlCol="0" anchor="ctr"/>
          <a:lstStyle/>
          <a:p>
            <a:pPr marL="0" indent="0">
              <a:buNone/>
            </a:pPr>
            <a:r>
              <a:rPr lang="en-US" sz="1500" b="1" dirty="0">
                <a:solidFill>
                  <a:srgbClr val="0F172A"/>
                </a:solidFill>
              </a:rPr>
              <a:t>Provider migration (NVIDIA → Claude)</a:t>
            </a:r>
            <a:endParaRPr lang="en-US" sz="1500" dirty="0"/>
          </a:p>
        </p:txBody>
      </p:sp>
      <p:sp>
        <p:nvSpPr>
          <p:cNvPr id="22" name="Shape 17"/>
          <p:cNvSpPr/>
          <p:nvPr/>
        </p:nvSpPr>
        <p:spPr>
          <a:xfrm>
            <a:off x="4846320" y="3611880"/>
            <a:ext cx="365760" cy="0"/>
          </a:xfrm>
          <a:prstGeom prst="line">
            <a:avLst/>
          </a:prstGeom>
          <a:noFill/>
          <a:ln w="22225">
            <a:solidFill>
              <a:srgbClr val="64748B"/>
            </a:solidFill>
            <a:prstDash val="solid"/>
            <a:tailEnd type="triangle"/>
          </a:ln>
        </p:spPr>
      </p:sp>
      <p:sp>
        <p:nvSpPr>
          <p:cNvPr id="23" name="Text 18"/>
          <p:cNvSpPr txBox="1"/>
          <p:nvPr/>
        </p:nvSpPr>
        <p:spPr>
          <a:xfrm>
            <a:off x="5349240" y="3273552"/>
            <a:ext cx="6126480" cy="676656"/>
          </a:xfrm>
          <a:prstGeom prst="rect">
            <a:avLst/>
          </a:prstGeom>
          <a:noFill/>
          <a:ln/>
        </p:spPr>
        <p:txBody>
          <a:bodyPr wrap="square" lIns="0" tIns="0" rIns="0" bIns="0" rtlCol="0" anchor="ctr"/>
          <a:lstStyle/>
          <a:p>
            <a:pPr marL="0" indent="0">
              <a:buNone/>
            </a:pPr>
            <a:r>
              <a:rPr lang="en-US" sz="1400" dirty="0">
                <a:solidFill>
                  <a:srgbClr val="475569"/>
                </a:solidFill>
              </a:rPr>
              <a:t>Median latency 76 s → 31 s, no JSON failures</a:t>
            </a:r>
            <a:endParaRPr lang="en-US" sz="1400" dirty="0"/>
          </a:p>
        </p:txBody>
      </p:sp>
      <p:sp>
        <p:nvSpPr>
          <p:cNvPr id="24" name="Shape 19"/>
          <p:cNvSpPr/>
          <p:nvPr/>
        </p:nvSpPr>
        <p:spPr>
          <a:xfrm>
            <a:off x="548640" y="4041648"/>
            <a:ext cx="11064240" cy="676656"/>
          </a:xfrm>
          <a:prstGeom prst="roundRect">
            <a:avLst>
              <a:gd name="adj" fmla="val 16216"/>
            </a:avLst>
          </a:prstGeom>
          <a:solidFill>
            <a:srgbClr val="FFFFFF"/>
          </a:solidFill>
          <a:ln w="12700">
            <a:solidFill>
              <a:srgbClr val="E2E8F0"/>
            </a:solidFill>
            <a:prstDash val="solid"/>
          </a:ln>
        </p:spPr>
      </p:sp>
      <p:sp>
        <p:nvSpPr>
          <p:cNvPr id="25" name="Shape 20"/>
          <p:cNvSpPr/>
          <p:nvPr/>
        </p:nvSpPr>
        <p:spPr>
          <a:xfrm>
            <a:off x="713232" y="4160520"/>
            <a:ext cx="438912" cy="438912"/>
          </a:xfrm>
          <a:prstGeom prst="roundRect">
            <a:avLst>
              <a:gd name="adj" fmla="val 22000"/>
            </a:avLst>
          </a:prstGeom>
          <a:solidFill>
            <a:srgbClr val="FFEFE3"/>
          </a:solidFill>
          <a:ln w="12700">
            <a:solidFill>
              <a:srgbClr val="FFEFE3"/>
            </a:solidFill>
            <a:prstDash val="solid"/>
          </a:ln>
        </p:spPr>
      </p:sp>
      <p:pic>
        <p:nvPicPr>
          <p:cNvPr id="26" name="Image 3" descr="preencoded.png"/>
          <p:cNvPicPr>
            <a:picLocks noChangeAspect="1"/>
          </p:cNvPicPr>
          <p:nvPr/>
        </p:nvPicPr>
        <p:blipFill>
          <a:blip r:embed="rId6"/>
          <a:stretch>
            <a:fillRect/>
          </a:stretch>
        </p:blipFill>
        <p:spPr>
          <a:xfrm>
            <a:off x="818571" y="4265859"/>
            <a:ext cx="228234" cy="228234"/>
          </a:xfrm>
          <a:prstGeom prst="rect">
            <a:avLst/>
          </a:prstGeom>
        </p:spPr>
      </p:pic>
      <p:sp>
        <p:nvSpPr>
          <p:cNvPr id="27" name="Text 21"/>
          <p:cNvSpPr txBox="1"/>
          <p:nvPr/>
        </p:nvSpPr>
        <p:spPr>
          <a:xfrm>
            <a:off x="1325880" y="4041648"/>
            <a:ext cx="3566160" cy="676656"/>
          </a:xfrm>
          <a:prstGeom prst="rect">
            <a:avLst/>
          </a:prstGeom>
          <a:noFill/>
          <a:ln/>
        </p:spPr>
        <p:txBody>
          <a:bodyPr wrap="square" lIns="0" tIns="0" rIns="0" bIns="0" rtlCol="0" anchor="ctr"/>
          <a:lstStyle/>
          <a:p>
            <a:pPr marL="0" indent="0">
              <a:buNone/>
            </a:pPr>
            <a:r>
              <a:rPr lang="en-US" sz="1500" b="1" dirty="0">
                <a:solidFill>
                  <a:srgbClr val="0F172A"/>
                </a:solidFill>
              </a:rPr>
              <a:t>Cost: Sonnet evaluation ≈ $11</a:t>
            </a:r>
            <a:endParaRPr lang="en-US" sz="1500" dirty="0"/>
          </a:p>
        </p:txBody>
      </p:sp>
      <p:sp>
        <p:nvSpPr>
          <p:cNvPr id="28" name="Shape 22"/>
          <p:cNvSpPr/>
          <p:nvPr/>
        </p:nvSpPr>
        <p:spPr>
          <a:xfrm>
            <a:off x="4846320" y="4379976"/>
            <a:ext cx="365760" cy="0"/>
          </a:xfrm>
          <a:prstGeom prst="line">
            <a:avLst/>
          </a:prstGeom>
          <a:noFill/>
          <a:ln w="22225">
            <a:solidFill>
              <a:srgbClr val="64748B"/>
            </a:solidFill>
            <a:prstDash val="solid"/>
            <a:tailEnd type="triangle"/>
          </a:ln>
        </p:spPr>
      </p:sp>
      <p:sp>
        <p:nvSpPr>
          <p:cNvPr id="29" name="Text 23"/>
          <p:cNvSpPr txBox="1"/>
          <p:nvPr/>
        </p:nvSpPr>
        <p:spPr>
          <a:xfrm>
            <a:off x="5349240" y="4041648"/>
            <a:ext cx="6126480" cy="676656"/>
          </a:xfrm>
          <a:prstGeom prst="rect">
            <a:avLst/>
          </a:prstGeom>
          <a:noFill/>
          <a:ln/>
        </p:spPr>
        <p:txBody>
          <a:bodyPr wrap="square" lIns="0" tIns="0" rIns="0" bIns="0" rtlCol="0" anchor="ctr"/>
          <a:lstStyle/>
          <a:p>
            <a:pPr marL="0" indent="0">
              <a:buNone/>
            </a:pPr>
            <a:r>
              <a:rPr lang="en-US" sz="1400" dirty="0">
                <a:solidFill>
                  <a:srgbClr val="475569"/>
                </a:solidFill>
              </a:rPr>
              <a:t>Haiku 5.5 via a prepaid gateway (≈ 10× cheaper per analysis): same accuracy, less consistent; the judge revised 3 of 11 and flagged 2 low-confidence</a:t>
            </a:r>
            <a:endParaRPr lang="en-US" sz="1400" dirty="0"/>
          </a:p>
        </p:txBody>
      </p:sp>
      <p:sp>
        <p:nvSpPr>
          <p:cNvPr id="30" name="Shape 24"/>
          <p:cNvSpPr/>
          <p:nvPr/>
        </p:nvSpPr>
        <p:spPr>
          <a:xfrm>
            <a:off x="548640" y="4809744"/>
            <a:ext cx="11064240" cy="676656"/>
          </a:xfrm>
          <a:prstGeom prst="roundRect">
            <a:avLst>
              <a:gd name="adj" fmla="val 16216"/>
            </a:avLst>
          </a:prstGeom>
          <a:solidFill>
            <a:srgbClr val="F6F8FB"/>
          </a:solidFill>
          <a:ln w="12700">
            <a:solidFill>
              <a:srgbClr val="E2E8F0"/>
            </a:solidFill>
            <a:prstDash val="solid"/>
          </a:ln>
        </p:spPr>
      </p:sp>
      <p:sp>
        <p:nvSpPr>
          <p:cNvPr id="31" name="Shape 25"/>
          <p:cNvSpPr/>
          <p:nvPr/>
        </p:nvSpPr>
        <p:spPr>
          <a:xfrm>
            <a:off x="713232" y="4928616"/>
            <a:ext cx="438912" cy="438912"/>
          </a:xfrm>
          <a:prstGeom prst="roundRect">
            <a:avLst>
              <a:gd name="adj" fmla="val 22000"/>
            </a:avLst>
          </a:prstGeom>
          <a:solidFill>
            <a:srgbClr val="FFEFE3"/>
          </a:solidFill>
          <a:ln w="12700">
            <a:solidFill>
              <a:srgbClr val="FFEFE3"/>
            </a:solidFill>
            <a:prstDash val="solid"/>
          </a:ln>
        </p:spPr>
      </p:sp>
      <p:pic>
        <p:nvPicPr>
          <p:cNvPr id="32" name="Image 4" descr="preencoded.png"/>
          <p:cNvPicPr>
            <a:picLocks noChangeAspect="1"/>
          </p:cNvPicPr>
          <p:nvPr/>
        </p:nvPicPr>
        <p:blipFill>
          <a:blip r:embed="rId7"/>
          <a:stretch>
            <a:fillRect/>
          </a:stretch>
        </p:blipFill>
        <p:spPr>
          <a:xfrm>
            <a:off x="818571" y="5033955"/>
            <a:ext cx="228234" cy="228234"/>
          </a:xfrm>
          <a:prstGeom prst="rect">
            <a:avLst/>
          </a:prstGeom>
        </p:spPr>
      </p:pic>
      <p:sp>
        <p:nvSpPr>
          <p:cNvPr id="33" name="Text 26"/>
          <p:cNvSpPr txBox="1"/>
          <p:nvPr/>
        </p:nvSpPr>
        <p:spPr>
          <a:xfrm>
            <a:off x="1325880" y="4809744"/>
            <a:ext cx="3566160" cy="676656"/>
          </a:xfrm>
          <a:prstGeom prst="rect">
            <a:avLst/>
          </a:prstGeom>
          <a:noFill/>
          <a:ln/>
        </p:spPr>
        <p:txBody>
          <a:bodyPr wrap="square" lIns="0" tIns="0" rIns="0" bIns="0" rtlCol="0" anchor="ctr"/>
          <a:lstStyle/>
          <a:p>
            <a:pPr marL="0" indent="0">
              <a:buNone/>
            </a:pPr>
            <a:r>
              <a:rPr lang="en-US" sz="1500" b="1" dirty="0">
                <a:solidFill>
                  <a:srgbClr val="0F172A"/>
                </a:solidFill>
              </a:rPr>
              <a:t>Information overload</a:t>
            </a:r>
            <a:endParaRPr lang="en-US" sz="1500" dirty="0"/>
          </a:p>
        </p:txBody>
      </p:sp>
      <p:sp>
        <p:nvSpPr>
          <p:cNvPr id="34" name="Shape 27"/>
          <p:cNvSpPr/>
          <p:nvPr/>
        </p:nvSpPr>
        <p:spPr>
          <a:xfrm>
            <a:off x="4846320" y="5148072"/>
            <a:ext cx="365760" cy="0"/>
          </a:xfrm>
          <a:prstGeom prst="line">
            <a:avLst/>
          </a:prstGeom>
          <a:noFill/>
          <a:ln w="22225">
            <a:solidFill>
              <a:srgbClr val="64748B"/>
            </a:solidFill>
            <a:prstDash val="solid"/>
            <a:tailEnd type="triangle"/>
          </a:ln>
        </p:spPr>
      </p:sp>
      <p:sp>
        <p:nvSpPr>
          <p:cNvPr id="35" name="Text 28"/>
          <p:cNvSpPr txBox="1"/>
          <p:nvPr/>
        </p:nvSpPr>
        <p:spPr>
          <a:xfrm>
            <a:off x="5349240" y="4809744"/>
            <a:ext cx="6126480" cy="676656"/>
          </a:xfrm>
          <a:prstGeom prst="rect">
            <a:avLst/>
          </a:prstGeom>
          <a:noFill/>
          <a:ln/>
        </p:spPr>
        <p:txBody>
          <a:bodyPr wrap="square" lIns="0" tIns="0" rIns="0" bIns="0" rtlCol="0" anchor="ctr"/>
          <a:lstStyle/>
          <a:p>
            <a:pPr marL="0" indent="0">
              <a:buNone/>
            </a:pPr>
            <a:r>
              <a:rPr lang="en-US" sz="1400" dirty="0">
                <a:solidFill>
                  <a:srgbClr val="475569"/>
                </a:solidFill>
              </a:rPr>
              <a:t>A summary-first report: the essentials in 15 to 30 seconds, detail in tabs</a:t>
            </a:r>
            <a:endParaRPr lang="en-US" sz="1400" dirty="0"/>
          </a:p>
        </p:txBody>
      </p:sp>
      <p:sp>
        <p:nvSpPr>
          <p:cNvPr id="36" name="Shape 29"/>
          <p:cNvSpPr/>
          <p:nvPr/>
        </p:nvSpPr>
        <p:spPr>
          <a:xfrm>
            <a:off x="548640" y="5669280"/>
            <a:ext cx="11064240" cy="566928"/>
          </a:xfrm>
          <a:prstGeom prst="roundRect">
            <a:avLst>
              <a:gd name="adj" fmla="val 19355"/>
            </a:avLst>
          </a:prstGeom>
          <a:solidFill>
            <a:srgbClr val="E3F6EC"/>
          </a:solidFill>
          <a:ln w="12700">
            <a:solidFill>
              <a:srgbClr val="BFE8D3"/>
            </a:solidFill>
            <a:prstDash val="solid"/>
          </a:ln>
        </p:spPr>
      </p:sp>
      <p:sp>
        <p:nvSpPr>
          <p:cNvPr id="37" name="Shape 30"/>
          <p:cNvSpPr/>
          <p:nvPr/>
        </p:nvSpPr>
        <p:spPr>
          <a:xfrm>
            <a:off x="713232" y="5742432"/>
            <a:ext cx="420624" cy="420624"/>
          </a:xfrm>
          <a:prstGeom prst="roundRect">
            <a:avLst>
              <a:gd name="adj" fmla="val 22000"/>
            </a:avLst>
          </a:prstGeom>
          <a:solidFill>
            <a:srgbClr val="E3F6EC"/>
          </a:solidFill>
          <a:ln w="12700">
            <a:solidFill>
              <a:srgbClr val="E3F6EC"/>
            </a:solidFill>
            <a:prstDash val="solid"/>
          </a:ln>
        </p:spPr>
      </p:sp>
      <p:pic>
        <p:nvPicPr>
          <p:cNvPr id="38" name="Image 5" descr="preencoded.png"/>
          <p:cNvPicPr>
            <a:picLocks noChangeAspect="1"/>
          </p:cNvPicPr>
          <p:nvPr/>
        </p:nvPicPr>
        <p:blipFill>
          <a:blip r:embed="rId8"/>
          <a:stretch>
            <a:fillRect/>
          </a:stretch>
        </p:blipFill>
        <p:spPr>
          <a:xfrm>
            <a:off x="814182" y="5843382"/>
            <a:ext cx="218724" cy="218724"/>
          </a:xfrm>
          <a:prstGeom prst="rect">
            <a:avLst/>
          </a:prstGeom>
        </p:spPr>
      </p:pic>
      <p:sp>
        <p:nvSpPr>
          <p:cNvPr id="39" name="Text 31"/>
          <p:cNvSpPr txBox="1"/>
          <p:nvPr/>
        </p:nvSpPr>
        <p:spPr>
          <a:xfrm>
            <a:off x="1325880" y="5669280"/>
            <a:ext cx="10058400" cy="566928"/>
          </a:xfrm>
          <a:prstGeom prst="rect">
            <a:avLst/>
          </a:prstGeom>
          <a:noFill/>
          <a:ln/>
        </p:spPr>
        <p:txBody>
          <a:bodyPr wrap="square" lIns="0" tIns="0" rIns="0" bIns="0" rtlCol="0" anchor="ctr"/>
          <a:lstStyle/>
          <a:p>
            <a:pPr marL="0" indent="0">
              <a:buNone/>
            </a:pPr>
            <a:r>
              <a:rPr lang="en-US" sz="1500" b="1" dirty="0">
                <a:solidFill>
                  <a:srgbClr val="0E9F6E"/>
                </a:solidFill>
              </a:rPr>
              <a:t>Next: </a:t>
            </a:r>
            <a:r>
              <a:rPr lang="en-US" sz="1500" dirty="0">
                <a:solidFill>
                  <a:srgbClr val="0F172A"/>
                </a:solidFill>
              </a:rPr>
              <a:t>real data with timestamps, retrieve runbook verification sections, authentication</a:t>
            </a:r>
            <a:endParaRPr lang="en-US" sz="1500" dirty="0"/>
          </a:p>
        </p:txBody>
      </p:sp>
      <p:sp>
        <p:nvSpPr>
          <p:cNvPr id="40"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64748B"/>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name="Slide 1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229600" cy="274320"/>
          </a:xfrm>
          <a:prstGeom prst="rect">
            <a:avLst/>
          </a:prstGeom>
          <a:noFill/>
          <a:ln/>
        </p:spPr>
        <p:txBody>
          <a:bodyPr wrap="square" lIns="0" tIns="0" rIns="0" bIns="0" rtlCol="0" anchor="ctr"/>
          <a:lstStyle/>
          <a:p>
            <a:pPr marL="0" indent="0">
              <a:buNone/>
            </a:pPr>
            <a:r>
              <a:rPr lang="en-US" sz="1200" b="1" kern="0" spc="200" dirty="0">
                <a:solidFill>
                  <a:srgbClr val="EA580C"/>
                </a:solidFill>
              </a:rPr>
              <a:t>BACKUP</a:t>
            </a:r>
            <a:endParaRPr lang="en-US" sz="1200" dirty="0"/>
          </a:p>
        </p:txBody>
      </p:sp>
      <p:sp>
        <p:nvSpPr>
          <p:cNvPr id="3" name="Text 0"/>
          <p:cNvSpPr>
            <a:spLocks noGrp="1"/>
          </p:cNvSpPr>
          <p:nvPr>
            <p:ph type="title" idx="101" hasCustomPrompt="1"/>
          </p:nvPr>
        </p:nvSpPr>
        <p:spPr>
          <a:xfrm>
            <a:off x="548640" y="621792"/>
            <a:ext cx="11064240" cy="640080"/>
          </a:xfrm>
          <a:prstGeom prst="rect">
            <a:avLst/>
          </a:prstGeom>
          <a:noFill/>
          <a:ln/>
        </p:spPr>
        <p:txBody>
          <a:bodyPr wrap="square" lIns="0" tIns="0" rIns="0" bIns="0" rtlCol="0" anchor="ctr"/>
          <a:lstStyle/>
          <a:p>
            <a:pPr marL="0" indent="0" algn="l">
              <a:buNone/>
            </a:pPr>
            <a:r>
              <a:rPr lang="en-US" sz="3200" b="1" dirty="0">
                <a:solidFill>
                  <a:srgbClr val="0B2545"/>
                </a:solidFill>
              </a:rPr>
              <a:t>Backup: the report</a:t>
            </a:r>
            <a:endParaRPr lang="en-US" sz="3200" dirty="0"/>
          </a:p>
        </p:txBody>
      </p:sp>
      <p:sp>
        <p:nvSpPr>
          <p:cNvPr id="4" name="Shape 2"/>
          <p:cNvSpPr/>
          <p:nvPr/>
        </p:nvSpPr>
        <p:spPr>
          <a:xfrm>
            <a:off x="2291944" y="1463040"/>
            <a:ext cx="7607808" cy="4754880"/>
          </a:xfrm>
          <a:prstGeom prst="roundRect">
            <a:avLst>
              <a:gd name="adj" fmla="val 2308"/>
            </a:avLst>
          </a:prstGeom>
          <a:solidFill>
            <a:srgbClr val="FFFFFF"/>
          </a:solidFill>
          <a:ln w="12700">
            <a:solidFill>
              <a:srgbClr val="E2E8F0"/>
            </a:solidFill>
            <a:prstDash val="solid"/>
          </a:ln>
          <a:effectLst>
            <a:outerShdw blurRad="101600" dist="25400" dir="5400000" algn="bl" rotWithShape="0">
              <a:srgbClr val="0F172A">
                <a:alpha val="10000"/>
              </a:srgbClr>
            </a:outerShdw>
          </a:effectLst>
        </p:spPr>
      </p:sp>
      <p:pic>
        <p:nvPicPr>
          <p:cNvPr id="5" name="Image 0" descr="/tmp/claude-0/-home-claude/3aa52c2f-86aa-5806-a7df-445b60452e3d/scratchpad/deck/un/ppt/media/image2.png"/>
          <p:cNvPicPr>
            <a:picLocks noChangeAspect="1"/>
          </p:cNvPicPr>
          <p:nvPr/>
        </p:nvPicPr>
        <p:blipFill>
          <a:blip r:embed="rId3"/>
          <a:stretch>
            <a:fillRect/>
          </a:stretch>
        </p:blipFill>
        <p:spPr>
          <a:xfrm>
            <a:off x="2291944" y="1463040"/>
            <a:ext cx="7607808" cy="4754880"/>
          </a:xfrm>
          <a:prstGeom prst="rect">
            <a:avLst/>
          </a:prstGeom>
        </p:spPr>
      </p:pic>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64748B"/>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229600" cy="274320"/>
          </a:xfrm>
          <a:prstGeom prst="rect">
            <a:avLst/>
          </a:prstGeom>
          <a:noFill/>
          <a:ln/>
        </p:spPr>
        <p:txBody>
          <a:bodyPr wrap="square" lIns="0" tIns="0" rIns="0" bIns="0" rtlCol="0" anchor="ctr"/>
          <a:lstStyle/>
          <a:p>
            <a:pPr marL="0" indent="0">
              <a:buNone/>
            </a:pPr>
            <a:r>
              <a:rPr lang="en-US" sz="1200" b="1" kern="0" spc="200" dirty="0">
                <a:solidFill>
                  <a:srgbClr val="EA580C"/>
                </a:solidFill>
              </a:rPr>
              <a:t>EVALUATION RESULTS</a:t>
            </a:r>
            <a:endParaRPr lang="en-US" sz="1200" dirty="0"/>
          </a:p>
        </p:txBody>
      </p:sp>
      <p:sp>
        <p:nvSpPr>
          <p:cNvPr id="3" name="Text 0"/>
          <p:cNvSpPr>
            <a:spLocks noGrp="1"/>
          </p:cNvSpPr>
          <p:nvPr>
            <p:ph type="title" idx="101" hasCustomPrompt="1"/>
          </p:nvPr>
        </p:nvSpPr>
        <p:spPr>
          <a:xfrm>
            <a:off x="548640" y="621792"/>
            <a:ext cx="11064240" cy="640080"/>
          </a:xfrm>
          <a:prstGeom prst="rect">
            <a:avLst/>
          </a:prstGeom>
          <a:noFill/>
          <a:ln/>
        </p:spPr>
        <p:txBody>
          <a:bodyPr wrap="square" lIns="0" tIns="0" rIns="0" bIns="0" rtlCol="0" anchor="ctr"/>
          <a:lstStyle/>
          <a:p>
            <a:pPr marL="0" indent="0" algn="l">
              <a:buNone/>
            </a:pPr>
            <a:r>
              <a:rPr lang="en-US" sz="3200" b="1" dirty="0">
                <a:solidFill>
                  <a:srgbClr val="0B2545"/>
                </a:solidFill>
              </a:rPr>
              <a:t>Evaluation results</a:t>
            </a:r>
            <a:endParaRPr lang="en-US" sz="3200" dirty="0"/>
          </a:p>
        </p:txBody>
      </p:sp>
      <p:sp>
        <p:nvSpPr>
          <p:cNvPr id="4" name="Text 2"/>
          <p:cNvSpPr txBox="1"/>
          <p:nvPr/>
        </p:nvSpPr>
        <p:spPr>
          <a:xfrm>
            <a:off x="548640" y="1353312"/>
            <a:ext cx="11064240" cy="274320"/>
          </a:xfrm>
          <a:prstGeom prst="rect">
            <a:avLst/>
          </a:prstGeom>
          <a:noFill/>
          <a:ln/>
        </p:spPr>
        <p:txBody>
          <a:bodyPr wrap="square" lIns="0" tIns="0" rIns="0" bIns="0" rtlCol="0" anchor="t"/>
          <a:lstStyle/>
          <a:p>
            <a:pPr marL="0" indent="0">
              <a:buNone/>
            </a:pPr>
            <a:r>
              <a:rPr lang="en-US" sz="1300" i="1" dirty="0">
                <a:solidFill>
                  <a:srgbClr val="64748B"/>
                </a:solidFill>
              </a:rPr>
              <a:t>Search, classification, guardrails, ML, answer quality vs basic RAG, judge reliability, cost</a:t>
            </a:r>
            <a:endParaRPr lang="en-US" sz="1300" dirty="0"/>
          </a:p>
        </p:txBody>
      </p:sp>
      <p:sp>
        <p:nvSpPr>
          <p:cNvPr id="5" name="Shape 3"/>
          <p:cNvSpPr/>
          <p:nvPr/>
        </p:nvSpPr>
        <p:spPr>
          <a:xfrm>
            <a:off x="548640" y="1783080"/>
            <a:ext cx="2615184" cy="1188720"/>
          </a:xfrm>
          <a:prstGeom prst="roundRect">
            <a:avLst>
              <a:gd name="adj" fmla="val 9231"/>
            </a:avLst>
          </a:prstGeom>
          <a:solidFill>
            <a:srgbClr val="E3F6EC"/>
          </a:solidFill>
          <a:ln w="12700">
            <a:solidFill>
              <a:srgbClr val="E3F6EC"/>
            </a:solidFill>
            <a:prstDash val="solid"/>
          </a:ln>
        </p:spPr>
      </p:sp>
      <p:sp>
        <p:nvSpPr>
          <p:cNvPr id="6" name="Text 4"/>
          <p:cNvSpPr txBox="1"/>
          <p:nvPr/>
        </p:nvSpPr>
        <p:spPr>
          <a:xfrm>
            <a:off x="777240" y="1874520"/>
            <a:ext cx="2249424" cy="640080"/>
          </a:xfrm>
          <a:prstGeom prst="rect">
            <a:avLst/>
          </a:prstGeom>
          <a:noFill/>
          <a:ln/>
        </p:spPr>
        <p:txBody>
          <a:bodyPr wrap="square" lIns="0" tIns="0" rIns="0" bIns="0" rtlCol="0" anchor="ctr"/>
          <a:lstStyle/>
          <a:p>
            <a:pPr marL="0" indent="0">
              <a:buNone/>
            </a:pPr>
            <a:r>
              <a:rPr lang="en-US" sz="3200" b="1" dirty="0">
                <a:solidFill>
                  <a:srgbClr val="0E9F6E"/>
                </a:solidFill>
              </a:rPr>
              <a:t>1.000</a:t>
            </a:r>
            <a:endParaRPr lang="en-US" sz="3200" dirty="0"/>
          </a:p>
        </p:txBody>
      </p:sp>
      <p:sp>
        <p:nvSpPr>
          <p:cNvPr id="7" name="Text 5"/>
          <p:cNvSpPr txBox="1"/>
          <p:nvPr/>
        </p:nvSpPr>
        <p:spPr>
          <a:xfrm>
            <a:off x="777240" y="2514600"/>
            <a:ext cx="2249424" cy="365760"/>
          </a:xfrm>
          <a:prstGeom prst="rect">
            <a:avLst/>
          </a:prstGeom>
          <a:noFill/>
          <a:ln/>
        </p:spPr>
        <p:txBody>
          <a:bodyPr wrap="square" lIns="0" tIns="0" rIns="0" bIns="0" rtlCol="0" anchor="t"/>
          <a:lstStyle/>
          <a:p>
            <a:pPr marL="0" indent="0">
              <a:buNone/>
            </a:pPr>
            <a:r>
              <a:rPr lang="en-US" sz="1250" dirty="0">
                <a:solidFill>
                  <a:srgbClr val="0F172A"/>
                </a:solidFill>
              </a:rPr>
              <a:t>Search Hit@5</a:t>
            </a:r>
            <a:endParaRPr lang="en-US" sz="1250" dirty="0"/>
          </a:p>
        </p:txBody>
      </p:sp>
      <p:sp>
        <p:nvSpPr>
          <p:cNvPr id="8" name="Shape 6"/>
          <p:cNvSpPr/>
          <p:nvPr/>
        </p:nvSpPr>
        <p:spPr>
          <a:xfrm>
            <a:off x="3364992" y="1783080"/>
            <a:ext cx="2615184" cy="1188720"/>
          </a:xfrm>
          <a:prstGeom prst="roundRect">
            <a:avLst>
              <a:gd name="adj" fmla="val 9231"/>
            </a:avLst>
          </a:prstGeom>
          <a:solidFill>
            <a:srgbClr val="E3F6EC"/>
          </a:solidFill>
          <a:ln w="12700">
            <a:solidFill>
              <a:srgbClr val="E3F6EC"/>
            </a:solidFill>
            <a:prstDash val="solid"/>
          </a:ln>
        </p:spPr>
      </p:sp>
      <p:sp>
        <p:nvSpPr>
          <p:cNvPr id="9" name="Text 7"/>
          <p:cNvSpPr txBox="1"/>
          <p:nvPr/>
        </p:nvSpPr>
        <p:spPr>
          <a:xfrm>
            <a:off x="3593592" y="1874520"/>
            <a:ext cx="2249424" cy="640080"/>
          </a:xfrm>
          <a:prstGeom prst="rect">
            <a:avLst/>
          </a:prstGeom>
          <a:noFill/>
          <a:ln/>
        </p:spPr>
        <p:txBody>
          <a:bodyPr wrap="square" lIns="0" tIns="0" rIns="0" bIns="0" rtlCol="0" anchor="ctr"/>
          <a:lstStyle/>
          <a:p>
            <a:pPr marL="0" indent="0">
              <a:buNone/>
            </a:pPr>
            <a:r>
              <a:rPr lang="en-US" sz="3200" b="1" dirty="0">
                <a:solidFill>
                  <a:srgbClr val="0E9F6E"/>
                </a:solidFill>
              </a:rPr>
              <a:t>0.874</a:t>
            </a:r>
            <a:endParaRPr lang="en-US" sz="3200" dirty="0"/>
          </a:p>
        </p:txBody>
      </p:sp>
      <p:sp>
        <p:nvSpPr>
          <p:cNvPr id="10" name="Text 8"/>
          <p:cNvSpPr txBox="1"/>
          <p:nvPr/>
        </p:nvSpPr>
        <p:spPr>
          <a:xfrm>
            <a:off x="3593592" y="2514600"/>
            <a:ext cx="2249424" cy="365760"/>
          </a:xfrm>
          <a:prstGeom prst="rect">
            <a:avLst/>
          </a:prstGeom>
          <a:noFill/>
          <a:ln/>
        </p:spPr>
        <p:txBody>
          <a:bodyPr wrap="square" lIns="0" tIns="0" rIns="0" bIns="0" rtlCol="0" anchor="t"/>
          <a:lstStyle/>
          <a:p>
            <a:pPr marL="0" indent="0">
              <a:buNone/>
            </a:pPr>
            <a:r>
              <a:rPr lang="en-US" sz="1250" dirty="0">
                <a:solidFill>
                  <a:srgbClr val="0F172A"/>
                </a:solidFill>
              </a:rPr>
              <a:t>Fault-risk ROC-AUC</a:t>
            </a:r>
            <a:endParaRPr lang="en-US" sz="1250" dirty="0"/>
          </a:p>
        </p:txBody>
      </p:sp>
      <p:sp>
        <p:nvSpPr>
          <p:cNvPr id="11" name="Shape 9"/>
          <p:cNvSpPr/>
          <p:nvPr/>
        </p:nvSpPr>
        <p:spPr>
          <a:xfrm>
            <a:off x="6181344" y="1783080"/>
            <a:ext cx="2615184" cy="1188720"/>
          </a:xfrm>
          <a:prstGeom prst="roundRect">
            <a:avLst>
              <a:gd name="adj" fmla="val 9231"/>
            </a:avLst>
          </a:prstGeom>
          <a:solidFill>
            <a:srgbClr val="E3F6EC"/>
          </a:solidFill>
          <a:ln w="12700">
            <a:solidFill>
              <a:srgbClr val="E3F6EC"/>
            </a:solidFill>
            <a:prstDash val="solid"/>
          </a:ln>
        </p:spPr>
      </p:sp>
      <p:sp>
        <p:nvSpPr>
          <p:cNvPr id="12" name="Text 10"/>
          <p:cNvSpPr txBox="1"/>
          <p:nvPr/>
        </p:nvSpPr>
        <p:spPr>
          <a:xfrm>
            <a:off x="6409944" y="1874520"/>
            <a:ext cx="2249424" cy="640080"/>
          </a:xfrm>
          <a:prstGeom prst="rect">
            <a:avLst/>
          </a:prstGeom>
          <a:noFill/>
          <a:ln/>
        </p:spPr>
        <p:txBody>
          <a:bodyPr wrap="square" lIns="0" tIns="0" rIns="0" bIns="0" rtlCol="0" anchor="ctr"/>
          <a:lstStyle/>
          <a:p>
            <a:pPr marL="0" indent="0">
              <a:buNone/>
            </a:pPr>
            <a:r>
              <a:rPr lang="en-US" sz="3200" b="1" dirty="0">
                <a:solidFill>
                  <a:srgbClr val="0E9F6E"/>
                </a:solidFill>
              </a:rPr>
              <a:t>12 of 12</a:t>
            </a:r>
            <a:endParaRPr lang="en-US" sz="3200" dirty="0"/>
          </a:p>
        </p:txBody>
      </p:sp>
      <p:sp>
        <p:nvSpPr>
          <p:cNvPr id="13" name="Text 11"/>
          <p:cNvSpPr txBox="1"/>
          <p:nvPr/>
        </p:nvSpPr>
        <p:spPr>
          <a:xfrm>
            <a:off x="6409944" y="2514600"/>
            <a:ext cx="2249424" cy="365760"/>
          </a:xfrm>
          <a:prstGeom prst="rect">
            <a:avLst/>
          </a:prstGeom>
          <a:noFill/>
          <a:ln/>
        </p:spPr>
        <p:txBody>
          <a:bodyPr wrap="square" lIns="0" tIns="0" rIns="0" bIns="0" rtlCol="0" anchor="t"/>
          <a:lstStyle/>
          <a:p>
            <a:pPr marL="0" indent="0">
              <a:buNone/>
            </a:pPr>
            <a:r>
              <a:rPr lang="en-US" sz="1250" dirty="0">
                <a:solidFill>
                  <a:srgbClr val="0F172A"/>
                </a:solidFill>
              </a:rPr>
              <a:t>Guardrails blocked, 0 false pos.</a:t>
            </a:r>
            <a:endParaRPr lang="en-US" sz="1250" dirty="0"/>
          </a:p>
        </p:txBody>
      </p:sp>
      <p:sp>
        <p:nvSpPr>
          <p:cNvPr id="14" name="Shape 12"/>
          <p:cNvSpPr/>
          <p:nvPr/>
        </p:nvSpPr>
        <p:spPr>
          <a:xfrm>
            <a:off x="8997696" y="1783080"/>
            <a:ext cx="2615184" cy="1188720"/>
          </a:xfrm>
          <a:prstGeom prst="roundRect">
            <a:avLst>
              <a:gd name="adj" fmla="val 9231"/>
            </a:avLst>
          </a:prstGeom>
          <a:solidFill>
            <a:srgbClr val="FFEFE3"/>
          </a:solidFill>
          <a:ln w="12700">
            <a:solidFill>
              <a:srgbClr val="FFEFE3"/>
            </a:solidFill>
            <a:prstDash val="solid"/>
          </a:ln>
        </p:spPr>
      </p:sp>
      <p:sp>
        <p:nvSpPr>
          <p:cNvPr id="15" name="Text 13"/>
          <p:cNvSpPr txBox="1"/>
          <p:nvPr/>
        </p:nvSpPr>
        <p:spPr>
          <a:xfrm>
            <a:off x="9226296" y="1874520"/>
            <a:ext cx="2249424" cy="640080"/>
          </a:xfrm>
          <a:prstGeom prst="rect">
            <a:avLst/>
          </a:prstGeom>
          <a:noFill/>
          <a:ln/>
        </p:spPr>
        <p:txBody>
          <a:bodyPr wrap="square" lIns="0" tIns="0" rIns="0" bIns="0" rtlCol="0" anchor="ctr"/>
          <a:lstStyle/>
          <a:p>
            <a:pPr marL="0" indent="0">
              <a:buNone/>
            </a:pPr>
            <a:r>
              <a:rPr lang="en-US" sz="3200" b="1" dirty="0">
                <a:solidFill>
                  <a:srgbClr val="EA580C"/>
                </a:solidFill>
              </a:rPr>
              <a:t>0.60 → 0.84</a:t>
            </a:r>
            <a:endParaRPr lang="en-US" sz="3200" dirty="0"/>
          </a:p>
        </p:txBody>
      </p:sp>
      <p:sp>
        <p:nvSpPr>
          <p:cNvPr id="16" name="Text 14"/>
          <p:cNvSpPr txBox="1"/>
          <p:nvPr/>
        </p:nvSpPr>
        <p:spPr>
          <a:xfrm>
            <a:off x="9226296" y="2514600"/>
            <a:ext cx="2249424" cy="365760"/>
          </a:xfrm>
          <a:prstGeom prst="rect">
            <a:avLst/>
          </a:prstGeom>
          <a:noFill/>
          <a:ln/>
        </p:spPr>
        <p:txBody>
          <a:bodyPr wrap="square" lIns="0" tIns="0" rIns="0" bIns="0" rtlCol="0" anchor="t"/>
          <a:lstStyle/>
          <a:p>
            <a:pPr marL="0" indent="0">
              <a:buNone/>
            </a:pPr>
            <a:r>
              <a:rPr lang="en-US" sz="1250" dirty="0">
                <a:solidFill>
                  <a:srgbClr val="0F172A"/>
                </a:solidFill>
              </a:rPr>
              <a:t>Actionability: RAG → agents (Sonnet)</a:t>
            </a:r>
            <a:endParaRPr lang="en-US" sz="12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3200400"/>
          <a:ext cx="4480560" cy="2194560"/>
        </p:xfrm>
        <a:graphic>
          <a:graphicData uri="http://schemas.openxmlformats.org/drawingml/2006/table">
            <a:tbl>
              <a:tblPr/>
              <a:tblGrid>
                <a:gridCol w="2606040">
                  <a:extLst>
                    <a:ext uri="{9D8B030D-6E8A-4147-A177-3AD203B41FA5}">
                      <a16:colId xmlns:a16="http://schemas.microsoft.com/office/drawing/2014/main" val="20000"/>
                    </a:ext>
                  </a:extLst>
                </a:gridCol>
                <a:gridCol w="1874520">
                  <a:extLst>
                    <a:ext uri="{9D8B030D-6E8A-4147-A177-3AD203B41FA5}">
                      <a16:colId xmlns:a16="http://schemas.microsoft.com/office/drawing/2014/main" val="20001"/>
                    </a:ext>
                  </a:extLst>
                </a:gridCol>
              </a:tblGrid>
              <a:tr h="365760">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Same in both runs</a:t>
                      </a:r>
                      <a:endParaRPr lang="en-US" sz="1250" dirty="0">
                        <a:latin typeface="Calibri" charset="0"/>
                        <a:ea typeface="Calibri" charset="0"/>
                        <a:cs typeface="Calibri" charset="0"/>
                      </a:endParaRPr>
                    </a:p>
                  </a:txBody>
                  <a:tcPr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2545"/>
                    </a:solidFill>
                  </a:tcPr>
                </a:tc>
                <a:tc>
                  <a:txBody>
                    <a:bodyPr/>
                    <a:lstStyle/>
                    <a:p>
                      <a:pPr marL="0" indent="0" algn="r">
                        <a:buNone/>
                      </a:pPr>
                      <a:r>
                        <a:rPr lang="en-US" sz="1250" b="1" dirty="0">
                          <a:solidFill>
                            <a:srgbClr val="FFFFFF"/>
                          </a:solidFill>
                          <a:latin typeface="Calibri" pitchFamily="34" charset="0"/>
                          <a:ea typeface="Calibri" pitchFamily="34" charset="-122"/>
                          <a:cs typeface="Calibri" pitchFamily="34" charset="-120"/>
                        </a:rPr>
                        <a:t>Result</a:t>
                      </a:r>
                      <a:endParaRPr lang="en-US" sz="1250" dirty="0">
                        <a:latin typeface="Calibri" charset="0"/>
                        <a:ea typeface="Calibri" charset="0"/>
                        <a:cs typeface="Calibri" charset="0"/>
                      </a:endParaRPr>
                    </a:p>
                  </a:txBody>
                  <a:tcPr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365760">
                <a:tc>
                  <a:txBody>
                    <a:bodyPr/>
                    <a:lstStyle/>
                    <a:p>
                      <a:pPr marL="0" indent="0">
                        <a:buNone/>
                      </a:pPr>
                      <a:r>
                        <a:rPr lang="en-US" sz="1250" dirty="0">
                          <a:solidFill>
                            <a:srgbClr val="0F172A"/>
                          </a:solidFill>
                          <a:latin typeface="Calibri" pitchFamily="34" charset="0"/>
                          <a:ea typeface="Calibri" pitchFamily="34" charset="-122"/>
                          <a:cs typeface="Calibri" pitchFamily="34" charset="-120"/>
                        </a:rPr>
                        <a:t>Search Hit@5 / nDCG@10</a:t>
                      </a:r>
                      <a:endParaRPr lang="en-US" sz="1250" dirty="0">
                        <a:latin typeface="Calibri" charset="0"/>
                        <a:ea typeface="Calibri" charset="0"/>
                        <a:cs typeface="Calibri" charset="0"/>
                      </a:endParaRPr>
                    </a:p>
                  </a:txBody>
                  <a:tcPr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r">
                        <a:buNone/>
                      </a:pPr>
                      <a:r>
                        <a:rPr lang="en-US" sz="1250" dirty="0">
                          <a:solidFill>
                            <a:srgbClr val="0F172A"/>
                          </a:solidFill>
                          <a:latin typeface="Calibri" pitchFamily="34" charset="0"/>
                          <a:ea typeface="Calibri" pitchFamily="34" charset="-122"/>
                          <a:cs typeface="Calibri" pitchFamily="34" charset="-120"/>
                        </a:rPr>
                        <a:t>1.000 / 0.953</a:t>
                      </a:r>
                      <a:endParaRPr lang="en-US" sz="1250" dirty="0">
                        <a:latin typeface="Calibri" charset="0"/>
                        <a:ea typeface="Calibri" charset="0"/>
                        <a:cs typeface="Calibri" charset="0"/>
                      </a:endParaRPr>
                    </a:p>
                  </a:txBody>
                  <a:tcPr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250" dirty="0">
                          <a:solidFill>
                            <a:srgbClr val="0F172A"/>
                          </a:solidFill>
                          <a:latin typeface="Calibri" pitchFamily="34" charset="0"/>
                          <a:ea typeface="Calibri" pitchFamily="34" charset="-122"/>
                          <a:cs typeface="Calibri" pitchFamily="34" charset="-120"/>
                        </a:rPr>
                        <a:t>Guardrails blocked / false pos.</a:t>
                      </a:r>
                      <a:endParaRPr lang="en-US" sz="1250" dirty="0">
                        <a:latin typeface="Calibri" charset="0"/>
                        <a:ea typeface="Calibri" charset="0"/>
                        <a:cs typeface="Calibri" charset="0"/>
                      </a:endParaRPr>
                    </a:p>
                  </a:txBody>
                  <a:tcPr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r">
                        <a:buNone/>
                      </a:pPr>
                      <a:r>
                        <a:rPr lang="en-US" sz="1250" dirty="0">
                          <a:solidFill>
                            <a:srgbClr val="0F172A"/>
                          </a:solidFill>
                          <a:latin typeface="Calibri" pitchFamily="34" charset="0"/>
                          <a:ea typeface="Calibri" pitchFamily="34" charset="-122"/>
                          <a:cs typeface="Calibri" pitchFamily="34" charset="-120"/>
                        </a:rPr>
                        <a:t>12 of 12 / 0</a:t>
                      </a:r>
                      <a:endParaRPr lang="en-US" sz="1250" dirty="0">
                        <a:latin typeface="Calibri" charset="0"/>
                        <a:ea typeface="Calibri" charset="0"/>
                        <a:cs typeface="Calibri" charset="0"/>
                      </a:endParaRPr>
                    </a:p>
                  </a:txBody>
                  <a:tcPr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1250" dirty="0">
                          <a:solidFill>
                            <a:srgbClr val="0F172A"/>
                          </a:solidFill>
                          <a:latin typeface="Calibri" pitchFamily="34" charset="0"/>
                          <a:ea typeface="Calibri" pitchFamily="34" charset="-122"/>
                          <a:cs typeface="Calibri" pitchFamily="34" charset="-120"/>
                        </a:rPr>
                        <a:t>Fault-risk ROC-AUC</a:t>
                      </a:r>
                      <a:endParaRPr lang="en-US" sz="1250" dirty="0">
                        <a:latin typeface="Calibri" charset="0"/>
                        <a:ea typeface="Calibri" charset="0"/>
                        <a:cs typeface="Calibri" charset="0"/>
                      </a:endParaRPr>
                    </a:p>
                  </a:txBody>
                  <a:tcPr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r">
                        <a:buNone/>
                      </a:pPr>
                      <a:r>
                        <a:rPr lang="en-US" sz="1250" dirty="0">
                          <a:solidFill>
                            <a:srgbClr val="0F172A"/>
                          </a:solidFill>
                          <a:latin typeface="Calibri" pitchFamily="34" charset="0"/>
                          <a:ea typeface="Calibri" pitchFamily="34" charset="-122"/>
                          <a:cs typeface="Calibri" pitchFamily="34" charset="-120"/>
                        </a:rPr>
                        <a:t>0.874</a:t>
                      </a:r>
                      <a:endParaRPr lang="en-US" sz="1250" dirty="0">
                        <a:latin typeface="Calibri" charset="0"/>
                        <a:ea typeface="Calibri" charset="0"/>
                        <a:cs typeface="Calibri" charset="0"/>
                      </a:endParaRPr>
                    </a:p>
                  </a:txBody>
                  <a:tcPr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250" dirty="0">
                          <a:solidFill>
                            <a:srgbClr val="0F172A"/>
                          </a:solidFill>
                          <a:latin typeface="Calibri" pitchFamily="34" charset="0"/>
                          <a:ea typeface="Calibri" pitchFamily="34" charset="-122"/>
                          <a:cs typeface="Calibri" pitchFamily="34" charset="-120"/>
                        </a:rPr>
                        <a:t>Priority scenarios</a:t>
                      </a:r>
                      <a:endParaRPr lang="en-US" sz="1250" dirty="0">
                        <a:latin typeface="Calibri" charset="0"/>
                        <a:ea typeface="Calibri" charset="0"/>
                        <a:cs typeface="Calibri" charset="0"/>
                      </a:endParaRPr>
                    </a:p>
                  </a:txBody>
                  <a:tcPr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r">
                        <a:buNone/>
                      </a:pPr>
                      <a:r>
                        <a:rPr lang="en-US" sz="1250" dirty="0">
                          <a:solidFill>
                            <a:srgbClr val="0F172A"/>
                          </a:solidFill>
                          <a:latin typeface="Calibri" pitchFamily="34" charset="0"/>
                          <a:ea typeface="Calibri" pitchFamily="34" charset="-122"/>
                          <a:cs typeface="Calibri" pitchFamily="34" charset="-120"/>
                        </a:rPr>
                        <a:t>6 of 6</a:t>
                      </a:r>
                      <a:endParaRPr lang="en-US" sz="1250" dirty="0">
                        <a:latin typeface="Calibri" charset="0"/>
                        <a:ea typeface="Calibri" charset="0"/>
                        <a:cs typeface="Calibri" charset="0"/>
                      </a:endParaRPr>
                    </a:p>
                  </a:txBody>
                  <a:tcPr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buNone/>
                      </a:pPr>
                      <a:r>
                        <a:rPr lang="en-US" sz="1250" dirty="0">
                          <a:solidFill>
                            <a:srgbClr val="0F172A"/>
                          </a:solidFill>
                          <a:latin typeface="Calibri" pitchFamily="34" charset="0"/>
                          <a:ea typeface="Calibri" pitchFamily="34" charset="-122"/>
                          <a:cs typeface="Calibri" pitchFamily="34" charset="-120"/>
                        </a:rPr>
                        <a:t>Feedback loop</a:t>
                      </a:r>
                      <a:endParaRPr lang="en-US" sz="1250" dirty="0">
                        <a:latin typeface="Calibri" charset="0"/>
                        <a:ea typeface="Calibri" charset="0"/>
                        <a:cs typeface="Calibri" charset="0"/>
                      </a:endParaRPr>
                    </a:p>
                  </a:txBody>
                  <a:tcPr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r">
                        <a:buNone/>
                      </a:pPr>
                      <a:r>
                        <a:rPr lang="en-US" sz="1250" dirty="0">
                          <a:solidFill>
                            <a:srgbClr val="0F172A"/>
                          </a:solidFill>
                          <a:latin typeface="Calibri" pitchFamily="34" charset="0"/>
                          <a:ea typeface="Calibri" pitchFamily="34" charset="-122"/>
                          <a:cs typeface="Calibri" pitchFamily="34" charset="-120"/>
                        </a:rPr>
                        <a:t>+0.006 nDCG, 0 worse</a:t>
                      </a:r>
                      <a:endParaRPr lang="en-US" sz="1250" dirty="0">
                        <a:latin typeface="Calibri" charset="0"/>
                        <a:ea typeface="Calibri" charset="0"/>
                        <a:cs typeface="Calibri" charset="0"/>
                      </a:endParaRPr>
                    </a:p>
                  </a:txBody>
                  <a:tcPr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5303520" y="3200400"/>
          <a:ext cx="6309360" cy="2926080"/>
        </p:xfrm>
        <a:graphic>
          <a:graphicData uri="http://schemas.openxmlformats.org/drawingml/2006/table">
            <a:tbl>
              <a:tblPr/>
              <a:tblGrid>
                <a:gridCol w="26517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65760">
                <a:tc>
                  <a:txBody>
                    <a:bodyPr/>
                    <a:lstStyle/>
                    <a:p>
                      <a:pPr marL="0" indent="0" algn="l">
                        <a:buNone/>
                      </a:pPr>
                      <a:endParaRPr lang="en-US" sz="1250" dirty="0">
                        <a:latin typeface="Calibri" charset="0"/>
                        <a:ea typeface="Calibri" charset="0"/>
                        <a:cs typeface="Calibri" charset="0"/>
                      </a:endParaRPr>
                    </a:p>
                  </a:txBody>
                  <a:tcPr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2545"/>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Sonnet 5.5</a:t>
                      </a:r>
                      <a:endParaRPr lang="en-US" sz="1250" dirty="0">
                        <a:latin typeface="Calibri" charset="0"/>
                        <a:ea typeface="Calibri" charset="0"/>
                        <a:cs typeface="Calibri" charset="0"/>
                      </a:endParaRPr>
                    </a:p>
                  </a:txBody>
                  <a:tcPr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2545"/>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Haiku 5.5 (demo)</a:t>
                      </a:r>
                      <a:endParaRPr lang="en-US" sz="1250" dirty="0">
                        <a:latin typeface="Calibri" charset="0"/>
                        <a:ea typeface="Calibri" charset="0"/>
                        <a:cs typeface="Calibri" charset="0"/>
                      </a:endParaRPr>
                    </a:p>
                  </a:txBody>
                  <a:tcPr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A580C"/>
                    </a:solidFill>
                  </a:tcPr>
                </a:tc>
                <a:extLst>
                  <a:ext uri="{0D108BD9-81ED-4DB2-BD59-A6C34878D82A}">
                    <a16:rowId xmlns:a16="http://schemas.microsoft.com/office/drawing/2014/main" val="10000"/>
                  </a:ext>
                </a:extLst>
              </a:tr>
              <a:tr h="365760">
                <a:tc>
                  <a:txBody>
                    <a:bodyPr/>
                    <a:lstStyle/>
                    <a:p>
                      <a:pPr marL="0" indent="0">
                        <a:buNone/>
                      </a:pPr>
                      <a:r>
                        <a:rPr lang="en-US" sz="1250" dirty="0">
                          <a:solidFill>
                            <a:srgbClr val="0F172A"/>
                          </a:solidFill>
                          <a:latin typeface="Calibri" pitchFamily="34" charset="0"/>
                          <a:ea typeface="Calibri" pitchFamily="34" charset="-122"/>
                          <a:cs typeface="Calibri" pitchFamily="34" charset="-120"/>
                        </a:rPr>
                        <a:t>Targets met</a:t>
                      </a:r>
                      <a:endParaRPr lang="en-US" sz="1250" dirty="0">
                        <a:latin typeface="Calibri" charset="0"/>
                        <a:ea typeface="Calibri" charset="0"/>
                        <a:cs typeface="Calibri" charset="0"/>
                      </a:endParaRPr>
                    </a:p>
                  </a:txBody>
                  <a:tcPr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0F172A"/>
                          </a:solidFill>
                          <a:latin typeface="Calibri" pitchFamily="34" charset="0"/>
                          <a:ea typeface="Calibri" pitchFamily="34" charset="-122"/>
                          <a:cs typeface="Calibri" pitchFamily="34" charset="-120"/>
                        </a:rPr>
                        <a:t>26 of 28</a:t>
                      </a:r>
                      <a:endParaRPr lang="en-US" sz="1250" dirty="0">
                        <a:latin typeface="Calibri" charset="0"/>
                        <a:ea typeface="Calibri" charset="0"/>
                        <a:cs typeface="Calibri" charset="0"/>
                      </a:endParaRPr>
                    </a:p>
                  </a:txBody>
                  <a:tcPr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0F172A"/>
                          </a:solidFill>
                          <a:latin typeface="Calibri" pitchFamily="34" charset="0"/>
                          <a:ea typeface="Calibri" pitchFamily="34" charset="-122"/>
                          <a:cs typeface="Calibri" pitchFamily="34" charset="-120"/>
                        </a:rPr>
                        <a:t>27 of 28</a:t>
                      </a:r>
                      <a:endParaRPr lang="en-US" sz="1250" dirty="0">
                        <a:latin typeface="Calibri" charset="0"/>
                        <a:ea typeface="Calibri" charset="0"/>
                        <a:cs typeface="Calibri" charset="0"/>
                      </a:endParaRPr>
                    </a:p>
                  </a:txBody>
                  <a:tcPr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8F3"/>
                    </a:solidFill>
                  </a:tcPr>
                </a:tc>
                <a:extLst>
                  <a:ext uri="{0D108BD9-81ED-4DB2-BD59-A6C34878D82A}">
                    <a16:rowId xmlns:a16="http://schemas.microsoft.com/office/drawing/2014/main" val="10001"/>
                  </a:ext>
                </a:extLst>
              </a:tr>
              <a:tr h="365760">
                <a:tc>
                  <a:txBody>
                    <a:bodyPr/>
                    <a:lstStyle/>
                    <a:p>
                      <a:pPr marL="0" indent="0">
                        <a:buNone/>
                      </a:pPr>
                      <a:r>
                        <a:rPr lang="en-US" sz="1250" dirty="0">
                          <a:solidFill>
                            <a:srgbClr val="0F172A"/>
                          </a:solidFill>
                          <a:latin typeface="Calibri" pitchFamily="34" charset="0"/>
                          <a:ea typeface="Calibri" pitchFamily="34" charset="-122"/>
                          <a:cs typeface="Calibri" pitchFamily="34" charset="-120"/>
                        </a:rPr>
                        <a:t>Classifier accuracy</a:t>
                      </a:r>
                      <a:endParaRPr lang="en-US" sz="1250" dirty="0">
                        <a:latin typeface="Calibri" charset="0"/>
                        <a:ea typeface="Calibri" charset="0"/>
                        <a:cs typeface="Calibri" charset="0"/>
                      </a:endParaRPr>
                    </a:p>
                  </a:txBody>
                  <a:tcPr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0F172A"/>
                          </a:solidFill>
                          <a:latin typeface="Calibri" pitchFamily="34" charset="0"/>
                          <a:ea typeface="Calibri" pitchFamily="34" charset="-122"/>
                          <a:cs typeface="Calibri" pitchFamily="34" charset="-120"/>
                        </a:rPr>
                        <a:t>0.955</a:t>
                      </a:r>
                      <a:endParaRPr lang="en-US" sz="1250" dirty="0">
                        <a:latin typeface="Calibri" charset="0"/>
                        <a:ea typeface="Calibri" charset="0"/>
                        <a:cs typeface="Calibri" charset="0"/>
                      </a:endParaRPr>
                    </a:p>
                  </a:txBody>
                  <a:tcPr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0F172A"/>
                          </a:solidFill>
                          <a:latin typeface="Calibri" pitchFamily="34" charset="0"/>
                          <a:ea typeface="Calibri" pitchFamily="34" charset="-122"/>
                          <a:cs typeface="Calibri" pitchFamily="34" charset="-120"/>
                        </a:rPr>
                        <a:t>0.955</a:t>
                      </a:r>
                      <a:endParaRPr lang="en-US" sz="1250" dirty="0">
                        <a:latin typeface="Calibri" charset="0"/>
                        <a:ea typeface="Calibri" charset="0"/>
                        <a:cs typeface="Calibri" charset="0"/>
                      </a:endParaRPr>
                    </a:p>
                  </a:txBody>
                  <a:tcPr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8F3"/>
                    </a:solidFill>
                  </a:tcPr>
                </a:tc>
                <a:extLst>
                  <a:ext uri="{0D108BD9-81ED-4DB2-BD59-A6C34878D82A}">
                    <a16:rowId xmlns:a16="http://schemas.microsoft.com/office/drawing/2014/main" val="10002"/>
                  </a:ext>
                </a:extLst>
              </a:tr>
              <a:tr h="365760">
                <a:tc>
                  <a:txBody>
                    <a:bodyPr/>
                    <a:lstStyle/>
                    <a:p>
                      <a:pPr marL="0" indent="0">
                        <a:buNone/>
                      </a:pPr>
                      <a:r>
                        <a:rPr lang="en-US" sz="1250" dirty="0">
                          <a:solidFill>
                            <a:srgbClr val="0F172A"/>
                          </a:solidFill>
                          <a:latin typeface="Calibri" pitchFamily="34" charset="0"/>
                          <a:ea typeface="Calibri" pitchFamily="34" charset="-122"/>
                          <a:cs typeface="Calibri" pitchFamily="34" charset="-120"/>
                        </a:rPr>
                        <a:t>Actionability: RAG → agents</a:t>
                      </a:r>
                      <a:endParaRPr lang="en-US" sz="1250" dirty="0">
                        <a:latin typeface="Calibri" charset="0"/>
                        <a:ea typeface="Calibri" charset="0"/>
                        <a:cs typeface="Calibri" charset="0"/>
                      </a:endParaRPr>
                    </a:p>
                  </a:txBody>
                  <a:tcPr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0F172A"/>
                          </a:solidFill>
                          <a:latin typeface="Calibri" pitchFamily="34" charset="0"/>
                          <a:ea typeface="Calibri" pitchFamily="34" charset="-122"/>
                          <a:cs typeface="Calibri" pitchFamily="34" charset="-120"/>
                        </a:rPr>
                        <a:t>0.60 → 0.84</a:t>
                      </a:r>
                      <a:endParaRPr lang="en-US" sz="1250" dirty="0">
                        <a:latin typeface="Calibri" charset="0"/>
                        <a:ea typeface="Calibri" charset="0"/>
                        <a:cs typeface="Calibri" charset="0"/>
                      </a:endParaRPr>
                    </a:p>
                  </a:txBody>
                  <a:tcPr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0F172A"/>
                          </a:solidFill>
                          <a:latin typeface="Calibri" pitchFamily="34" charset="0"/>
                          <a:ea typeface="Calibri" pitchFamily="34" charset="-122"/>
                          <a:cs typeface="Calibri" pitchFamily="34" charset="-120"/>
                        </a:rPr>
                        <a:t>0.66 → 0.99</a:t>
                      </a:r>
                      <a:endParaRPr lang="en-US" sz="1250" dirty="0">
                        <a:latin typeface="Calibri" charset="0"/>
                        <a:ea typeface="Calibri" charset="0"/>
                        <a:cs typeface="Calibri" charset="0"/>
                      </a:endParaRPr>
                    </a:p>
                  </a:txBody>
                  <a:tcPr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8F3"/>
                    </a:solidFill>
                  </a:tcPr>
                </a:tc>
                <a:extLst>
                  <a:ext uri="{0D108BD9-81ED-4DB2-BD59-A6C34878D82A}">
                    <a16:rowId xmlns:a16="http://schemas.microsoft.com/office/drawing/2014/main" val="10003"/>
                  </a:ext>
                </a:extLst>
              </a:tr>
              <a:tr h="365760">
                <a:tc>
                  <a:txBody>
                    <a:bodyPr/>
                    <a:lstStyle/>
                    <a:p>
                      <a:pPr marL="0" indent="0">
                        <a:buNone/>
                      </a:pPr>
                      <a:r>
                        <a:rPr lang="en-US" sz="1250" dirty="0">
                          <a:solidFill>
                            <a:srgbClr val="0F172A"/>
                          </a:solidFill>
                          <a:latin typeface="Calibri" pitchFamily="34" charset="0"/>
                          <a:ea typeface="Calibri" pitchFamily="34" charset="-122"/>
                          <a:cs typeface="Calibri" pitchFamily="34" charset="-120"/>
                        </a:rPr>
                        <a:t>Planted errors caught</a:t>
                      </a:r>
                      <a:endParaRPr lang="en-US" sz="1250" dirty="0">
                        <a:latin typeface="Calibri" charset="0"/>
                        <a:ea typeface="Calibri" charset="0"/>
                        <a:cs typeface="Calibri" charset="0"/>
                      </a:endParaRPr>
                    </a:p>
                  </a:txBody>
                  <a:tcPr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0F172A"/>
                          </a:solidFill>
                          <a:latin typeface="Calibri" pitchFamily="34" charset="0"/>
                          <a:ea typeface="Calibri" pitchFamily="34" charset="-122"/>
                          <a:cs typeface="Calibri" pitchFamily="34" charset="-120"/>
                        </a:rPr>
                        <a:t>12 of 12</a:t>
                      </a:r>
                      <a:endParaRPr lang="en-US" sz="1250" dirty="0">
                        <a:latin typeface="Calibri" charset="0"/>
                        <a:ea typeface="Calibri" charset="0"/>
                        <a:cs typeface="Calibri" charset="0"/>
                      </a:endParaRPr>
                    </a:p>
                  </a:txBody>
                  <a:tcPr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0F172A"/>
                          </a:solidFill>
                          <a:latin typeface="Calibri" pitchFamily="34" charset="0"/>
                          <a:ea typeface="Calibri" pitchFamily="34" charset="-122"/>
                          <a:cs typeface="Calibri" pitchFamily="34" charset="-120"/>
                        </a:rPr>
                        <a:t>12 of 12</a:t>
                      </a:r>
                      <a:endParaRPr lang="en-US" sz="1250" dirty="0">
                        <a:latin typeface="Calibri" charset="0"/>
                        <a:ea typeface="Calibri" charset="0"/>
                        <a:cs typeface="Calibri" charset="0"/>
                      </a:endParaRPr>
                    </a:p>
                  </a:txBody>
                  <a:tcPr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8F3"/>
                    </a:solidFill>
                  </a:tcPr>
                </a:tc>
                <a:extLst>
                  <a:ext uri="{0D108BD9-81ED-4DB2-BD59-A6C34878D82A}">
                    <a16:rowId xmlns:a16="http://schemas.microsoft.com/office/drawing/2014/main" val="10004"/>
                  </a:ext>
                </a:extLst>
              </a:tr>
              <a:tr h="365760">
                <a:tc>
                  <a:txBody>
                    <a:bodyPr/>
                    <a:lstStyle/>
                    <a:p>
                      <a:pPr marL="0" indent="0">
                        <a:buNone/>
                      </a:pPr>
                      <a:r>
                        <a:rPr lang="en-US" sz="1250" dirty="0">
                          <a:solidFill>
                            <a:srgbClr val="0F172A"/>
                          </a:solidFill>
                          <a:latin typeface="Calibri" pitchFamily="34" charset="0"/>
                          <a:ea typeface="Calibri" pitchFamily="34" charset="-122"/>
                          <a:cs typeface="Calibri" pitchFamily="34" charset="-120"/>
                        </a:rPr>
                        <a:t>Median time per analysis</a:t>
                      </a:r>
                      <a:endParaRPr lang="en-US" sz="1250" dirty="0">
                        <a:latin typeface="Calibri" charset="0"/>
                        <a:ea typeface="Calibri" charset="0"/>
                        <a:cs typeface="Calibri" charset="0"/>
                      </a:endParaRPr>
                    </a:p>
                  </a:txBody>
                  <a:tcPr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0F172A"/>
                          </a:solidFill>
                          <a:latin typeface="Calibri" pitchFamily="34" charset="0"/>
                          <a:ea typeface="Calibri" pitchFamily="34" charset="-122"/>
                          <a:cs typeface="Calibri" pitchFamily="34" charset="-120"/>
                        </a:rPr>
                        <a:t>31 s</a:t>
                      </a:r>
                      <a:endParaRPr lang="en-US" sz="1250" dirty="0">
                        <a:latin typeface="Calibri" charset="0"/>
                        <a:ea typeface="Calibri" charset="0"/>
                        <a:cs typeface="Calibri" charset="0"/>
                      </a:endParaRPr>
                    </a:p>
                  </a:txBody>
                  <a:tcPr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0F172A"/>
                          </a:solidFill>
                          <a:latin typeface="Calibri" pitchFamily="34" charset="0"/>
                          <a:ea typeface="Calibri" pitchFamily="34" charset="-122"/>
                          <a:cs typeface="Calibri" pitchFamily="34" charset="-120"/>
                        </a:rPr>
                        <a:t>35 s</a:t>
                      </a:r>
                      <a:endParaRPr lang="en-US" sz="1250" dirty="0">
                        <a:latin typeface="Calibri" charset="0"/>
                        <a:ea typeface="Calibri" charset="0"/>
                        <a:cs typeface="Calibri" charset="0"/>
                      </a:endParaRPr>
                    </a:p>
                  </a:txBody>
                  <a:tcPr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8F3"/>
                    </a:solidFill>
                  </a:tcPr>
                </a:tc>
                <a:extLst>
                  <a:ext uri="{0D108BD9-81ED-4DB2-BD59-A6C34878D82A}">
                    <a16:rowId xmlns:a16="http://schemas.microsoft.com/office/drawing/2014/main" val="10005"/>
                  </a:ext>
                </a:extLst>
              </a:tr>
              <a:tr h="365760">
                <a:tc>
                  <a:txBody>
                    <a:bodyPr/>
                    <a:lstStyle/>
                    <a:p>
                      <a:pPr marL="0" indent="0">
                        <a:buNone/>
                      </a:pPr>
                      <a:r>
                        <a:rPr lang="en-US" sz="1250" dirty="0">
                          <a:solidFill>
                            <a:srgbClr val="0F172A"/>
                          </a:solidFill>
                          <a:latin typeface="Calibri" pitchFamily="34" charset="0"/>
                          <a:ea typeface="Calibri" pitchFamily="34" charset="-122"/>
                          <a:cs typeface="Calibri" pitchFamily="34" charset="-120"/>
                        </a:rPr>
                        <a:t>Passed judge first time</a:t>
                      </a:r>
                      <a:endParaRPr lang="en-US" sz="1250" dirty="0">
                        <a:latin typeface="Calibri" charset="0"/>
                        <a:ea typeface="Calibri" charset="0"/>
                        <a:cs typeface="Calibri" charset="0"/>
                      </a:endParaRPr>
                    </a:p>
                  </a:txBody>
                  <a:tcPr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0F172A"/>
                          </a:solidFill>
                          <a:latin typeface="Calibri" pitchFamily="34" charset="0"/>
                          <a:ea typeface="Calibri" pitchFamily="34" charset="-122"/>
                          <a:cs typeface="Calibri" pitchFamily="34" charset="-120"/>
                        </a:rPr>
                        <a:t>11 of 11</a:t>
                      </a:r>
                      <a:endParaRPr lang="en-US" sz="1250" dirty="0">
                        <a:latin typeface="Calibri" charset="0"/>
                        <a:ea typeface="Calibri" charset="0"/>
                        <a:cs typeface="Calibri" charset="0"/>
                      </a:endParaRPr>
                    </a:p>
                  </a:txBody>
                  <a:tcPr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0F172A"/>
                          </a:solidFill>
                          <a:latin typeface="Calibri" pitchFamily="34" charset="0"/>
                          <a:ea typeface="Calibri" pitchFamily="34" charset="-122"/>
                          <a:cs typeface="Calibri" pitchFamily="34" charset="-120"/>
                        </a:rPr>
                        <a:t>8 of 11</a:t>
                      </a:r>
                      <a:endParaRPr lang="en-US" sz="1250" dirty="0">
                        <a:latin typeface="Calibri" charset="0"/>
                        <a:ea typeface="Calibri" charset="0"/>
                        <a:cs typeface="Calibri" charset="0"/>
                      </a:endParaRPr>
                    </a:p>
                  </a:txBody>
                  <a:tcPr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8F3"/>
                    </a:solidFill>
                  </a:tcPr>
                </a:tc>
                <a:extLst>
                  <a:ext uri="{0D108BD9-81ED-4DB2-BD59-A6C34878D82A}">
                    <a16:rowId xmlns:a16="http://schemas.microsoft.com/office/drawing/2014/main" val="10006"/>
                  </a:ext>
                </a:extLst>
              </a:tr>
              <a:tr h="365760">
                <a:tc>
                  <a:txBody>
                    <a:bodyPr/>
                    <a:lstStyle/>
                    <a:p>
                      <a:pPr marL="0" indent="0">
                        <a:buNone/>
                      </a:pPr>
                      <a:r>
                        <a:rPr lang="en-US" sz="1250" dirty="0">
                          <a:solidFill>
                            <a:srgbClr val="0F172A"/>
                          </a:solidFill>
                          <a:latin typeface="Calibri" pitchFamily="34" charset="0"/>
                          <a:ea typeface="Calibri" pitchFamily="34" charset="-122"/>
                          <a:cs typeface="Calibri" pitchFamily="34" charset="-120"/>
                        </a:rPr>
                        <a:t>Cost per analysis</a:t>
                      </a:r>
                      <a:endParaRPr lang="en-US" sz="1250" dirty="0">
                        <a:latin typeface="Calibri" charset="0"/>
                        <a:ea typeface="Calibri" charset="0"/>
                        <a:cs typeface="Calibri" charset="0"/>
                      </a:endParaRPr>
                    </a:p>
                  </a:txBody>
                  <a:tcPr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0F172A"/>
                          </a:solidFill>
                          <a:latin typeface="Calibri" pitchFamily="34" charset="0"/>
                          <a:ea typeface="Calibri" pitchFamily="34" charset="-122"/>
                          <a:cs typeface="Calibri" pitchFamily="34" charset="-120"/>
                        </a:rPr>
                        <a:t>≈ $0.076</a:t>
                      </a:r>
                      <a:endParaRPr lang="en-US" sz="1250" dirty="0">
                        <a:latin typeface="Calibri" charset="0"/>
                        <a:ea typeface="Calibri" charset="0"/>
                        <a:cs typeface="Calibri" charset="0"/>
                      </a:endParaRPr>
                    </a:p>
                  </a:txBody>
                  <a:tcPr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0F172A"/>
                          </a:solidFill>
                          <a:latin typeface="Calibri" pitchFamily="34" charset="0"/>
                          <a:ea typeface="Calibri" pitchFamily="34" charset="-122"/>
                          <a:cs typeface="Calibri" pitchFamily="34" charset="-120"/>
                        </a:rPr>
                        <a:t>≈ $0.007</a:t>
                      </a:r>
                      <a:endParaRPr lang="en-US" sz="1250" dirty="0">
                        <a:latin typeface="Calibri" charset="0"/>
                        <a:ea typeface="Calibri" charset="0"/>
                        <a:cs typeface="Calibri" charset="0"/>
                      </a:endParaRPr>
                    </a:p>
                  </a:txBody>
                  <a:tcPr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8F3"/>
                    </a:solidFill>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64748B"/>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229600" cy="274320"/>
          </a:xfrm>
          <a:prstGeom prst="rect">
            <a:avLst/>
          </a:prstGeom>
          <a:noFill/>
          <a:ln/>
        </p:spPr>
        <p:txBody>
          <a:bodyPr wrap="square" lIns="0" tIns="0" rIns="0" bIns="0" rtlCol="0" anchor="ctr"/>
          <a:lstStyle/>
          <a:p>
            <a:pPr marL="0" indent="0">
              <a:buNone/>
            </a:pPr>
            <a:r>
              <a:rPr lang="en-US" sz="1200" b="1" kern="0" spc="200" dirty="0">
                <a:solidFill>
                  <a:srgbClr val="EA580C"/>
                </a:solidFill>
              </a:rPr>
              <a:t>DEMO</a:t>
            </a:r>
            <a:endParaRPr lang="en-US" sz="1200" dirty="0"/>
          </a:p>
        </p:txBody>
      </p:sp>
      <p:sp>
        <p:nvSpPr>
          <p:cNvPr id="3" name="Text 0"/>
          <p:cNvSpPr>
            <a:spLocks noGrp="1"/>
          </p:cNvSpPr>
          <p:nvPr>
            <p:ph type="title" idx="101" hasCustomPrompt="1"/>
          </p:nvPr>
        </p:nvSpPr>
        <p:spPr>
          <a:xfrm>
            <a:off x="555567" y="621792"/>
            <a:ext cx="11064240" cy="640080"/>
          </a:xfrm>
          <a:prstGeom prst="rect">
            <a:avLst/>
          </a:prstGeom>
          <a:noFill/>
          <a:ln/>
        </p:spPr>
        <p:txBody>
          <a:bodyPr wrap="square" lIns="0" tIns="0" rIns="0" bIns="0" rtlCol="0" anchor="ctr"/>
          <a:lstStyle/>
          <a:p>
            <a:pPr marL="0" indent="0" algn="l">
              <a:buNone/>
            </a:pPr>
            <a:r>
              <a:rPr lang="en-US" sz="3200" b="1" dirty="0">
                <a:solidFill>
                  <a:srgbClr val="0B2545"/>
                </a:solidFill>
              </a:rPr>
              <a:t>Live demo (3 minutes)</a:t>
            </a:r>
            <a:endParaRPr lang="en-US" sz="3200" dirty="0"/>
          </a:p>
        </p:txBody>
      </p:sp>
      <p:sp>
        <p:nvSpPr>
          <p:cNvPr id="4" name="Shape 2"/>
          <p:cNvSpPr/>
          <p:nvPr/>
        </p:nvSpPr>
        <p:spPr>
          <a:xfrm>
            <a:off x="548640" y="1600200"/>
            <a:ext cx="5702179" cy="658368"/>
          </a:xfrm>
          <a:prstGeom prst="roundRect">
            <a:avLst>
              <a:gd name="adj" fmla="val 16667"/>
            </a:avLst>
          </a:prstGeom>
          <a:solidFill>
            <a:srgbClr val="2563EB"/>
          </a:solidFill>
          <a:ln w="12700">
            <a:solidFill>
              <a:srgbClr val="2563EB"/>
            </a:solidFill>
            <a:prstDash val="solid"/>
          </a:ln>
        </p:spPr>
      </p:sp>
      <p:sp>
        <p:nvSpPr>
          <p:cNvPr id="5" name="Text 3"/>
          <p:cNvSpPr txBox="1"/>
          <p:nvPr/>
        </p:nvSpPr>
        <p:spPr>
          <a:xfrm>
            <a:off x="731520" y="1600200"/>
            <a:ext cx="5427859" cy="658368"/>
          </a:xfrm>
          <a:prstGeom prst="rect">
            <a:avLst/>
          </a:prstGeom>
          <a:noFill/>
          <a:ln/>
        </p:spPr>
        <p:txBody>
          <a:bodyPr wrap="square" lIns="0" tIns="0" rIns="0" bIns="0" rtlCol="0" anchor="ctr"/>
          <a:lstStyle/>
          <a:p>
            <a:pPr marL="0" indent="0">
              <a:buNone/>
            </a:pPr>
            <a:r>
              <a:rPr lang="en-US" sz="1600" b="1" dirty="0">
                <a:solidFill>
                  <a:srgbClr val="FFFFFF"/>
                </a:solidFill>
              </a:rPr>
              <a:t>Investigate</a:t>
            </a:r>
            <a:r>
              <a:rPr lang="en-US" sz="1600" dirty="0">
                <a:solidFill>
                  <a:srgbClr val="FFFFFF"/>
                </a:solidFill>
              </a:rPr>
              <a:t>   1:40</a:t>
            </a:r>
            <a:endParaRPr lang="en-US" sz="1600" dirty="0"/>
          </a:p>
        </p:txBody>
      </p:sp>
      <p:sp>
        <p:nvSpPr>
          <p:cNvPr id="6" name="Shape 4"/>
          <p:cNvSpPr/>
          <p:nvPr/>
        </p:nvSpPr>
        <p:spPr>
          <a:xfrm>
            <a:off x="548640" y="2423160"/>
            <a:ext cx="5702179" cy="2743200"/>
          </a:xfrm>
          <a:prstGeom prst="roundRect">
            <a:avLst>
              <a:gd name="adj" fmla="val 4000"/>
            </a:avLst>
          </a:prstGeom>
          <a:solidFill>
            <a:srgbClr val="FFFFFF"/>
          </a:solidFill>
          <a:ln w="12700">
            <a:solidFill>
              <a:srgbClr val="E2E8F0"/>
            </a:solidFill>
            <a:prstDash val="solid"/>
          </a:ln>
          <a:effectLst>
            <a:outerShdw blurRad="101600" dist="25400" dir="5400000" algn="bl" rotWithShape="0">
              <a:srgbClr val="0F172A">
                <a:alpha val="10000"/>
              </a:srgbClr>
            </a:outerShdw>
          </a:effectLst>
        </p:spPr>
      </p:sp>
      <p:sp>
        <p:nvSpPr>
          <p:cNvPr id="7" name="Shape 5"/>
          <p:cNvSpPr/>
          <p:nvPr/>
        </p:nvSpPr>
        <p:spPr>
          <a:xfrm>
            <a:off x="749808" y="2624328"/>
            <a:ext cx="457200" cy="457200"/>
          </a:xfrm>
          <a:prstGeom prst="roundRect">
            <a:avLst>
              <a:gd name="adj" fmla="val 22000"/>
            </a:avLst>
          </a:prstGeom>
          <a:solidFill>
            <a:srgbClr val="EAF1FF"/>
          </a:solidFill>
          <a:ln w="12700">
            <a:solidFill>
              <a:srgbClr val="EAF1FF"/>
            </a:solidFill>
            <a:prstDash val="solid"/>
          </a:ln>
        </p:spPr>
      </p:sp>
      <p:pic>
        <p:nvPicPr>
          <p:cNvPr id="8" name="Image 0" descr="preencoded.png"/>
          <p:cNvPicPr>
            <a:picLocks noChangeAspect="1"/>
          </p:cNvPicPr>
          <p:nvPr/>
        </p:nvPicPr>
        <p:blipFill>
          <a:blip r:embed="rId3"/>
          <a:stretch>
            <a:fillRect/>
          </a:stretch>
        </p:blipFill>
        <p:spPr>
          <a:xfrm>
            <a:off x="859536" y="2734056"/>
            <a:ext cx="237744" cy="237744"/>
          </a:xfrm>
          <a:prstGeom prst="rect">
            <a:avLst/>
          </a:prstGeom>
        </p:spPr>
      </p:pic>
      <p:sp>
        <p:nvSpPr>
          <p:cNvPr id="9" name="Text 6"/>
          <p:cNvSpPr txBox="1"/>
          <p:nvPr/>
        </p:nvSpPr>
        <p:spPr>
          <a:xfrm>
            <a:off x="749808" y="3246120"/>
            <a:ext cx="5299843" cy="1828800"/>
          </a:xfrm>
          <a:prstGeom prst="rect">
            <a:avLst/>
          </a:prstGeom>
          <a:noFill/>
          <a:ln/>
        </p:spPr>
        <p:txBody>
          <a:bodyPr wrap="square" lIns="0" tIns="0" rIns="0" bIns="0" rtlCol="0" anchor="t"/>
          <a:lstStyle/>
          <a:p>
            <a:pPr marL="0" indent="0">
              <a:buNone/>
            </a:pPr>
            <a:r>
              <a:rPr lang="en-US" sz="1500" dirty="0">
                <a:solidFill>
                  <a:srgbClr val="0F172A"/>
                </a:solidFill>
              </a:rPr>
              <a:t>Preset 1: agents working live, then the report: diagnosis, priority, likely cause, escalation, worst KPIs, top 3 actions; open a tab (causes, similar cases, agent trace)</a:t>
            </a:r>
            <a:endParaRPr lang="en-US" sz="1500" dirty="0"/>
          </a:p>
        </p:txBody>
      </p:sp>
      <p:sp>
        <p:nvSpPr>
          <p:cNvPr id="10" name="Shape 7"/>
          <p:cNvSpPr/>
          <p:nvPr/>
        </p:nvSpPr>
        <p:spPr>
          <a:xfrm>
            <a:off x="6360547" y="1600200"/>
            <a:ext cx="1710654" cy="658368"/>
          </a:xfrm>
          <a:prstGeom prst="roundRect">
            <a:avLst>
              <a:gd name="adj" fmla="val 16667"/>
            </a:avLst>
          </a:prstGeom>
          <a:solidFill>
            <a:srgbClr val="0E9F6E"/>
          </a:solidFill>
          <a:ln w="12700">
            <a:solidFill>
              <a:srgbClr val="0E9F6E"/>
            </a:solidFill>
            <a:prstDash val="solid"/>
          </a:ln>
        </p:spPr>
      </p:sp>
      <p:sp>
        <p:nvSpPr>
          <p:cNvPr id="11" name="Text 8"/>
          <p:cNvSpPr txBox="1"/>
          <p:nvPr/>
        </p:nvSpPr>
        <p:spPr>
          <a:xfrm>
            <a:off x="6543427" y="1600200"/>
            <a:ext cx="1436334" cy="658368"/>
          </a:xfrm>
          <a:prstGeom prst="rect">
            <a:avLst/>
          </a:prstGeom>
          <a:noFill/>
          <a:ln/>
        </p:spPr>
        <p:txBody>
          <a:bodyPr wrap="square" lIns="0" tIns="0" rIns="0" bIns="0" rtlCol="0" anchor="ctr"/>
          <a:lstStyle/>
          <a:p>
            <a:pPr marL="0" indent="0">
              <a:buNone/>
            </a:pPr>
            <a:r>
              <a:rPr lang="en-US" sz="1600" b="1" dirty="0">
                <a:solidFill>
                  <a:srgbClr val="FFFFFF"/>
                </a:solidFill>
              </a:rPr>
              <a:t>Cases</a:t>
            </a:r>
            <a:r>
              <a:rPr lang="en-US" sz="1600" dirty="0">
                <a:solidFill>
                  <a:srgbClr val="FFFFFF"/>
                </a:solidFill>
              </a:rPr>
              <a:t>   0:30</a:t>
            </a:r>
            <a:endParaRPr lang="en-US" sz="1600" dirty="0"/>
          </a:p>
        </p:txBody>
      </p:sp>
      <p:sp>
        <p:nvSpPr>
          <p:cNvPr id="12" name="Shape 9"/>
          <p:cNvSpPr/>
          <p:nvPr/>
        </p:nvSpPr>
        <p:spPr>
          <a:xfrm>
            <a:off x="6360547" y="2423160"/>
            <a:ext cx="1710654" cy="2743200"/>
          </a:xfrm>
          <a:prstGeom prst="roundRect">
            <a:avLst>
              <a:gd name="adj" fmla="val 6414"/>
            </a:avLst>
          </a:prstGeom>
          <a:solidFill>
            <a:srgbClr val="FFFFFF"/>
          </a:solidFill>
          <a:ln w="12700">
            <a:solidFill>
              <a:srgbClr val="E2E8F0"/>
            </a:solidFill>
            <a:prstDash val="solid"/>
          </a:ln>
          <a:effectLst>
            <a:outerShdw blurRad="101600" dist="25400" dir="5400000" algn="bl" rotWithShape="0">
              <a:srgbClr val="0F172A">
                <a:alpha val="10000"/>
              </a:srgbClr>
            </a:outerShdw>
          </a:effectLst>
        </p:spPr>
      </p:sp>
      <p:sp>
        <p:nvSpPr>
          <p:cNvPr id="13" name="Shape 10"/>
          <p:cNvSpPr/>
          <p:nvPr/>
        </p:nvSpPr>
        <p:spPr>
          <a:xfrm>
            <a:off x="6561715" y="2624328"/>
            <a:ext cx="457200" cy="457200"/>
          </a:xfrm>
          <a:prstGeom prst="roundRect">
            <a:avLst>
              <a:gd name="adj" fmla="val 22000"/>
            </a:avLst>
          </a:prstGeom>
          <a:solidFill>
            <a:srgbClr val="E3F6EC"/>
          </a:solidFill>
          <a:ln w="12700">
            <a:solidFill>
              <a:srgbClr val="E3F6EC"/>
            </a:solidFill>
            <a:prstDash val="solid"/>
          </a:ln>
        </p:spPr>
      </p:sp>
      <p:pic>
        <p:nvPicPr>
          <p:cNvPr id="14" name="Image 1" descr="preencoded.png"/>
          <p:cNvPicPr>
            <a:picLocks noChangeAspect="1"/>
          </p:cNvPicPr>
          <p:nvPr/>
        </p:nvPicPr>
        <p:blipFill>
          <a:blip r:embed="rId4"/>
          <a:stretch>
            <a:fillRect/>
          </a:stretch>
        </p:blipFill>
        <p:spPr>
          <a:xfrm>
            <a:off x="6671443" y="2734056"/>
            <a:ext cx="237744" cy="237744"/>
          </a:xfrm>
          <a:prstGeom prst="rect">
            <a:avLst/>
          </a:prstGeom>
        </p:spPr>
      </p:pic>
      <p:sp>
        <p:nvSpPr>
          <p:cNvPr id="15" name="Text 11"/>
          <p:cNvSpPr txBox="1"/>
          <p:nvPr/>
        </p:nvSpPr>
        <p:spPr>
          <a:xfrm>
            <a:off x="6561715" y="3246120"/>
            <a:ext cx="1308318" cy="1828800"/>
          </a:xfrm>
          <a:prstGeom prst="rect">
            <a:avLst/>
          </a:prstGeom>
          <a:noFill/>
          <a:ln/>
        </p:spPr>
        <p:txBody>
          <a:bodyPr wrap="square" lIns="0" tIns="0" rIns="0" bIns="0" rtlCol="0" anchor="t"/>
          <a:lstStyle/>
          <a:p>
            <a:pPr marL="0" indent="0">
              <a:buNone/>
            </a:pPr>
            <a:r>
              <a:rPr lang="en-US" sz="1500" dirty="0">
                <a:solidFill>
                  <a:srgbClr val="0F172A"/>
                </a:solidFill>
              </a:rPr>
              <a:t>Filters (state, season, weather) and the four-mode search comparison</a:t>
            </a:r>
            <a:endParaRPr lang="en-US" sz="1500" dirty="0"/>
          </a:p>
        </p:txBody>
      </p:sp>
      <p:sp>
        <p:nvSpPr>
          <p:cNvPr id="16" name="Shape 12"/>
          <p:cNvSpPr/>
          <p:nvPr/>
        </p:nvSpPr>
        <p:spPr>
          <a:xfrm>
            <a:off x="8180929" y="1600200"/>
            <a:ext cx="1661112" cy="658368"/>
          </a:xfrm>
          <a:prstGeom prst="roundRect">
            <a:avLst>
              <a:gd name="adj" fmla="val 16667"/>
            </a:avLst>
          </a:prstGeom>
          <a:solidFill>
            <a:srgbClr val="EA580C"/>
          </a:solidFill>
          <a:ln w="12700">
            <a:solidFill>
              <a:srgbClr val="EA580C"/>
            </a:solidFill>
            <a:prstDash val="solid"/>
          </a:ln>
        </p:spPr>
      </p:sp>
      <p:sp>
        <p:nvSpPr>
          <p:cNvPr id="17" name="Text 13"/>
          <p:cNvSpPr txBox="1"/>
          <p:nvPr/>
        </p:nvSpPr>
        <p:spPr>
          <a:xfrm>
            <a:off x="8363809" y="1600200"/>
            <a:ext cx="1386792" cy="658368"/>
          </a:xfrm>
          <a:prstGeom prst="rect">
            <a:avLst/>
          </a:prstGeom>
          <a:noFill/>
          <a:ln/>
        </p:spPr>
        <p:txBody>
          <a:bodyPr wrap="square" lIns="0" tIns="0" rIns="0" bIns="0" rtlCol="0" anchor="ctr"/>
          <a:lstStyle/>
          <a:p>
            <a:pPr marL="0" indent="0">
              <a:buNone/>
            </a:pPr>
            <a:r>
              <a:rPr lang="en-US" sz="1600" b="1" dirty="0">
                <a:solidFill>
                  <a:srgbClr val="FFFFFF"/>
                </a:solidFill>
              </a:rPr>
              <a:t>Simulate</a:t>
            </a:r>
            <a:r>
              <a:rPr lang="en-US" sz="1600" dirty="0">
                <a:solidFill>
                  <a:srgbClr val="FFFFFF"/>
                </a:solidFill>
              </a:rPr>
              <a:t>   0:25</a:t>
            </a:r>
            <a:endParaRPr lang="en-US" sz="1600" dirty="0"/>
          </a:p>
        </p:txBody>
      </p:sp>
      <p:sp>
        <p:nvSpPr>
          <p:cNvPr id="18" name="Shape 14"/>
          <p:cNvSpPr/>
          <p:nvPr/>
        </p:nvSpPr>
        <p:spPr>
          <a:xfrm>
            <a:off x="8180929" y="2423160"/>
            <a:ext cx="1661112" cy="2743200"/>
          </a:xfrm>
          <a:prstGeom prst="roundRect">
            <a:avLst>
              <a:gd name="adj" fmla="val 6606"/>
            </a:avLst>
          </a:prstGeom>
          <a:solidFill>
            <a:srgbClr val="FFFFFF"/>
          </a:solidFill>
          <a:ln w="12700">
            <a:solidFill>
              <a:srgbClr val="E2E8F0"/>
            </a:solidFill>
            <a:prstDash val="solid"/>
          </a:ln>
          <a:effectLst>
            <a:outerShdw blurRad="101600" dist="25400" dir="5400000" algn="bl" rotWithShape="0">
              <a:srgbClr val="0F172A">
                <a:alpha val="10000"/>
              </a:srgbClr>
            </a:outerShdw>
          </a:effectLst>
        </p:spPr>
      </p:sp>
      <p:sp>
        <p:nvSpPr>
          <p:cNvPr id="19" name="Shape 15"/>
          <p:cNvSpPr/>
          <p:nvPr/>
        </p:nvSpPr>
        <p:spPr>
          <a:xfrm>
            <a:off x="8382097" y="2624328"/>
            <a:ext cx="457200" cy="457200"/>
          </a:xfrm>
          <a:prstGeom prst="roundRect">
            <a:avLst>
              <a:gd name="adj" fmla="val 22000"/>
            </a:avLst>
          </a:prstGeom>
          <a:solidFill>
            <a:srgbClr val="FFEFE3"/>
          </a:solidFill>
          <a:ln w="12700">
            <a:solidFill>
              <a:srgbClr val="FFEFE3"/>
            </a:solidFill>
            <a:prstDash val="solid"/>
          </a:ln>
        </p:spPr>
      </p:sp>
      <p:pic>
        <p:nvPicPr>
          <p:cNvPr id="20" name="Image 2" descr="preencoded.png"/>
          <p:cNvPicPr>
            <a:picLocks noChangeAspect="1"/>
          </p:cNvPicPr>
          <p:nvPr/>
        </p:nvPicPr>
        <p:blipFill>
          <a:blip r:embed="rId5"/>
          <a:stretch>
            <a:fillRect/>
          </a:stretch>
        </p:blipFill>
        <p:spPr>
          <a:xfrm>
            <a:off x="8491825" y="2734056"/>
            <a:ext cx="237744" cy="237744"/>
          </a:xfrm>
          <a:prstGeom prst="rect">
            <a:avLst/>
          </a:prstGeom>
        </p:spPr>
      </p:pic>
      <p:sp>
        <p:nvSpPr>
          <p:cNvPr id="21" name="Text 16"/>
          <p:cNvSpPr txBox="1"/>
          <p:nvPr/>
        </p:nvSpPr>
        <p:spPr>
          <a:xfrm>
            <a:off x="8382097" y="3246120"/>
            <a:ext cx="1258776" cy="1828800"/>
          </a:xfrm>
          <a:prstGeom prst="rect">
            <a:avLst/>
          </a:prstGeom>
          <a:noFill/>
          <a:ln/>
        </p:spPr>
        <p:txBody>
          <a:bodyPr wrap="square" lIns="0" tIns="0" rIns="0" bIns="0" rtlCol="0" anchor="t"/>
          <a:lstStyle/>
          <a:p>
            <a:pPr marL="0" indent="0">
              <a:buNone/>
            </a:pPr>
            <a:r>
              <a:rPr lang="en-US" sz="1500" dirty="0">
                <a:solidFill>
                  <a:srgbClr val="0F172A"/>
                </a:solidFill>
              </a:rPr>
              <a:t>Change KPIs → fault risk, throughput and priority update with reasons</a:t>
            </a:r>
            <a:endParaRPr lang="en-US" sz="1500" dirty="0"/>
          </a:p>
        </p:txBody>
      </p:sp>
      <p:sp>
        <p:nvSpPr>
          <p:cNvPr id="22" name="Shape 17"/>
          <p:cNvSpPr/>
          <p:nvPr/>
        </p:nvSpPr>
        <p:spPr>
          <a:xfrm>
            <a:off x="9951768" y="1600200"/>
            <a:ext cx="1661112" cy="658368"/>
          </a:xfrm>
          <a:prstGeom prst="roundRect">
            <a:avLst>
              <a:gd name="adj" fmla="val 16667"/>
            </a:avLst>
          </a:prstGeom>
          <a:solidFill>
            <a:srgbClr val="7C3AED"/>
          </a:solidFill>
          <a:ln w="12700">
            <a:solidFill>
              <a:srgbClr val="7C3AED"/>
            </a:solidFill>
            <a:prstDash val="solid"/>
          </a:ln>
        </p:spPr>
      </p:sp>
      <p:sp>
        <p:nvSpPr>
          <p:cNvPr id="23" name="Text 18"/>
          <p:cNvSpPr txBox="1"/>
          <p:nvPr/>
        </p:nvSpPr>
        <p:spPr>
          <a:xfrm>
            <a:off x="10134648" y="1600200"/>
            <a:ext cx="1386792" cy="658368"/>
          </a:xfrm>
          <a:prstGeom prst="rect">
            <a:avLst/>
          </a:prstGeom>
          <a:noFill/>
          <a:ln/>
        </p:spPr>
        <p:txBody>
          <a:bodyPr wrap="square" lIns="0" tIns="0" rIns="0" bIns="0" rtlCol="0" anchor="ctr"/>
          <a:lstStyle/>
          <a:p>
            <a:pPr marL="0" indent="0">
              <a:buNone/>
            </a:pPr>
            <a:r>
              <a:rPr lang="en-US" sz="1600" b="1" dirty="0">
                <a:solidFill>
                  <a:srgbClr val="FFFFFF"/>
                </a:solidFill>
              </a:rPr>
              <a:t>Quality</a:t>
            </a:r>
            <a:r>
              <a:rPr lang="en-US" sz="1600" dirty="0">
                <a:solidFill>
                  <a:srgbClr val="FFFFFF"/>
                </a:solidFill>
              </a:rPr>
              <a:t>   0:25</a:t>
            </a:r>
            <a:endParaRPr lang="en-US" sz="1600" dirty="0"/>
          </a:p>
        </p:txBody>
      </p:sp>
      <p:sp>
        <p:nvSpPr>
          <p:cNvPr id="24" name="Shape 19"/>
          <p:cNvSpPr/>
          <p:nvPr/>
        </p:nvSpPr>
        <p:spPr>
          <a:xfrm>
            <a:off x="9951768" y="2423160"/>
            <a:ext cx="1661112" cy="2743200"/>
          </a:xfrm>
          <a:prstGeom prst="roundRect">
            <a:avLst>
              <a:gd name="adj" fmla="val 6606"/>
            </a:avLst>
          </a:prstGeom>
          <a:solidFill>
            <a:srgbClr val="FFFFFF"/>
          </a:solidFill>
          <a:ln w="12700">
            <a:solidFill>
              <a:srgbClr val="E2E8F0"/>
            </a:solidFill>
            <a:prstDash val="solid"/>
          </a:ln>
          <a:effectLst>
            <a:outerShdw blurRad="101600" dist="25400" dir="5400000" algn="bl" rotWithShape="0">
              <a:srgbClr val="0F172A">
                <a:alpha val="10000"/>
              </a:srgbClr>
            </a:outerShdw>
          </a:effectLst>
        </p:spPr>
      </p:sp>
      <p:sp>
        <p:nvSpPr>
          <p:cNvPr id="25" name="Shape 20"/>
          <p:cNvSpPr/>
          <p:nvPr/>
        </p:nvSpPr>
        <p:spPr>
          <a:xfrm>
            <a:off x="10152936" y="2624328"/>
            <a:ext cx="457200" cy="457200"/>
          </a:xfrm>
          <a:prstGeom prst="roundRect">
            <a:avLst>
              <a:gd name="adj" fmla="val 22000"/>
            </a:avLst>
          </a:prstGeom>
          <a:solidFill>
            <a:srgbClr val="F1EBFE"/>
          </a:solidFill>
          <a:ln w="12700">
            <a:solidFill>
              <a:srgbClr val="F1EBFE"/>
            </a:solidFill>
            <a:prstDash val="solid"/>
          </a:ln>
        </p:spPr>
      </p:sp>
      <p:pic>
        <p:nvPicPr>
          <p:cNvPr id="26" name="Image 3" descr="preencoded.png"/>
          <p:cNvPicPr>
            <a:picLocks noChangeAspect="1"/>
          </p:cNvPicPr>
          <p:nvPr/>
        </p:nvPicPr>
        <p:blipFill>
          <a:blip r:embed="rId6"/>
          <a:stretch>
            <a:fillRect/>
          </a:stretch>
        </p:blipFill>
        <p:spPr>
          <a:xfrm>
            <a:off x="10262664" y="2734056"/>
            <a:ext cx="237744" cy="237744"/>
          </a:xfrm>
          <a:prstGeom prst="rect">
            <a:avLst/>
          </a:prstGeom>
        </p:spPr>
      </p:pic>
      <p:sp>
        <p:nvSpPr>
          <p:cNvPr id="27" name="Text 21"/>
          <p:cNvSpPr txBox="1"/>
          <p:nvPr/>
        </p:nvSpPr>
        <p:spPr>
          <a:xfrm>
            <a:off x="10152936" y="3246120"/>
            <a:ext cx="1258776" cy="1828800"/>
          </a:xfrm>
          <a:prstGeom prst="rect">
            <a:avLst/>
          </a:prstGeom>
          <a:noFill/>
          <a:ln/>
        </p:spPr>
        <p:txBody>
          <a:bodyPr wrap="square" lIns="0" tIns="0" rIns="0" bIns="0" rtlCol="0" anchor="t"/>
          <a:lstStyle/>
          <a:p>
            <a:pPr marL="0" indent="0">
              <a:buNone/>
            </a:pPr>
            <a:r>
              <a:rPr lang="en-US" sz="1500" dirty="0">
                <a:solidFill>
                  <a:srgbClr val="0F172A"/>
                </a:solidFill>
              </a:rPr>
              <a:t>Judge verdicts, feedback loop, both evaluation runs named by model</a:t>
            </a:r>
            <a:endParaRPr lang="en-US" sz="1500" dirty="0"/>
          </a:p>
        </p:txBody>
      </p:sp>
      <p:sp>
        <p:nvSpPr>
          <p:cNvPr id="28" name="Shape 22"/>
          <p:cNvSpPr/>
          <p:nvPr/>
        </p:nvSpPr>
        <p:spPr>
          <a:xfrm>
            <a:off x="548640" y="5440680"/>
            <a:ext cx="11064240" cy="566928"/>
          </a:xfrm>
          <a:prstGeom prst="roundRect">
            <a:avLst>
              <a:gd name="adj" fmla="val 19355"/>
            </a:avLst>
          </a:prstGeom>
          <a:solidFill>
            <a:srgbClr val="F6F8FB"/>
          </a:solidFill>
          <a:ln w="12700">
            <a:solidFill>
              <a:srgbClr val="E2E8F0"/>
            </a:solidFill>
            <a:prstDash val="solid"/>
          </a:ln>
        </p:spPr>
      </p:sp>
      <p:sp>
        <p:nvSpPr>
          <p:cNvPr id="29" name="Shape 23"/>
          <p:cNvSpPr/>
          <p:nvPr/>
        </p:nvSpPr>
        <p:spPr>
          <a:xfrm>
            <a:off x="685800" y="5522976"/>
            <a:ext cx="402336" cy="402336"/>
          </a:xfrm>
          <a:prstGeom prst="roundRect">
            <a:avLst>
              <a:gd name="adj" fmla="val 22000"/>
            </a:avLst>
          </a:prstGeom>
          <a:solidFill>
            <a:srgbClr val="EEF2F6"/>
          </a:solidFill>
          <a:ln w="12700">
            <a:solidFill>
              <a:srgbClr val="EEF2F6"/>
            </a:solidFill>
            <a:prstDash val="solid"/>
          </a:ln>
        </p:spPr>
      </p:sp>
      <p:pic>
        <p:nvPicPr>
          <p:cNvPr id="30" name="Image 4" descr="preencoded.png"/>
          <p:cNvPicPr>
            <a:picLocks noChangeAspect="1"/>
          </p:cNvPicPr>
          <p:nvPr/>
        </p:nvPicPr>
        <p:blipFill>
          <a:blip r:embed="rId7"/>
          <a:stretch>
            <a:fillRect/>
          </a:stretch>
        </p:blipFill>
        <p:spPr>
          <a:xfrm>
            <a:off x="782361" y="5619537"/>
            <a:ext cx="209215" cy="209215"/>
          </a:xfrm>
          <a:prstGeom prst="rect">
            <a:avLst/>
          </a:prstGeom>
        </p:spPr>
      </p:pic>
      <p:sp>
        <p:nvSpPr>
          <p:cNvPr id="31" name="Text 24"/>
          <p:cNvSpPr txBox="1"/>
          <p:nvPr/>
        </p:nvSpPr>
        <p:spPr>
          <a:xfrm>
            <a:off x="1234440" y="5440680"/>
            <a:ext cx="10058400" cy="566928"/>
          </a:xfrm>
          <a:prstGeom prst="rect">
            <a:avLst/>
          </a:prstGeom>
          <a:noFill/>
          <a:ln/>
        </p:spPr>
        <p:txBody>
          <a:bodyPr wrap="square" lIns="0" tIns="0" rIns="0" bIns="0" rtlCol="0" anchor="ctr"/>
          <a:lstStyle/>
          <a:p>
            <a:pPr marL="0" indent="0">
              <a:buNone/>
            </a:pPr>
            <a:r>
              <a:rPr lang="en-US" sz="1400" dirty="0">
                <a:solidFill>
                  <a:srgbClr val="475569"/>
                </a:solidFill>
              </a:rPr>
              <a:t>A daily spend cap and the prepaid LLM gateway balance bound the total cost</a:t>
            </a:r>
            <a:endParaRPr lang="en-US" sz="1400" dirty="0"/>
          </a:p>
        </p:txBody>
      </p:sp>
      <p:sp>
        <p:nvSpPr>
          <p:cNvPr id="32"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64748B"/>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229600" cy="274320"/>
          </a:xfrm>
          <a:prstGeom prst="rect">
            <a:avLst/>
          </a:prstGeom>
          <a:noFill/>
          <a:ln/>
        </p:spPr>
        <p:txBody>
          <a:bodyPr wrap="square" lIns="0" tIns="0" rIns="0" bIns="0" rtlCol="0" anchor="ctr"/>
          <a:lstStyle/>
          <a:p>
            <a:pPr marL="0" indent="0">
              <a:buNone/>
            </a:pPr>
            <a:r>
              <a:rPr lang="en-US" sz="1200" b="1" kern="0" spc="200" dirty="0">
                <a:solidFill>
                  <a:srgbClr val="EA580C"/>
                </a:solidFill>
              </a:rPr>
              <a:t>BACKUP</a:t>
            </a:r>
            <a:endParaRPr lang="en-US" sz="1200" dirty="0"/>
          </a:p>
        </p:txBody>
      </p:sp>
      <p:sp>
        <p:nvSpPr>
          <p:cNvPr id="3" name="Text 0"/>
          <p:cNvSpPr>
            <a:spLocks noGrp="1"/>
          </p:cNvSpPr>
          <p:nvPr>
            <p:ph type="title" idx="101" hasCustomPrompt="1"/>
          </p:nvPr>
        </p:nvSpPr>
        <p:spPr>
          <a:xfrm>
            <a:off x="548640" y="621792"/>
            <a:ext cx="11064240" cy="640080"/>
          </a:xfrm>
          <a:prstGeom prst="rect">
            <a:avLst/>
          </a:prstGeom>
          <a:noFill/>
          <a:ln/>
        </p:spPr>
        <p:txBody>
          <a:bodyPr wrap="square" lIns="0" tIns="0" rIns="0" bIns="0" rtlCol="0" anchor="ctr"/>
          <a:lstStyle/>
          <a:p>
            <a:pPr marL="0" indent="0" algn="l">
              <a:buNone/>
            </a:pPr>
            <a:r>
              <a:rPr lang="en-US" sz="3200" b="1" dirty="0">
                <a:solidFill>
                  <a:srgbClr val="0B2545"/>
                </a:solidFill>
              </a:rPr>
              <a:t>Backup: Haiku 5.5 vs Sonnet 5.5</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3968496"/>
        </p:xfrm>
        <a:graphic>
          <a:graphicData uri="http://schemas.openxmlformats.org/drawingml/2006/table">
            <a:tbl>
              <a:tblPr/>
              <a:tblGrid>
                <a:gridCol w="374904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566928">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Same test sets</a:t>
                      </a:r>
                      <a:endParaRPr lang="en-US" sz="1500" dirty="0">
                        <a:latin typeface="Calibri" charset="0"/>
                        <a:ea typeface="Calibri" charset="0"/>
                        <a:cs typeface="Calibri" charset="0"/>
                      </a:endParaRPr>
                    </a:p>
                  </a:txBody>
                  <a:tcPr marL="137160" marR="13716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2545"/>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Haiku 5.5 via LLM gateway (demo)</a:t>
                      </a:r>
                      <a:endParaRPr lang="en-US" sz="1500" dirty="0">
                        <a:latin typeface="Calibri" charset="0"/>
                        <a:ea typeface="Calibri" charset="0"/>
                        <a:cs typeface="Calibri" charset="0"/>
                      </a:endParaRPr>
                    </a:p>
                  </a:txBody>
                  <a:tcPr marL="137160" marR="13716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A580C"/>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Sonnet 5.5 (best capability)</a:t>
                      </a:r>
                      <a:endParaRPr lang="en-US" sz="1500" dirty="0">
                        <a:latin typeface="Calibri" charset="0"/>
                        <a:ea typeface="Calibri" charset="0"/>
                        <a:cs typeface="Calibri" charset="0"/>
                      </a:endParaRPr>
                    </a:p>
                  </a:txBody>
                  <a:tcPr marL="137160" marR="13716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566928">
                <a:tc>
                  <a:txBody>
                    <a:bodyPr/>
                    <a:lstStyle/>
                    <a:p>
                      <a:pPr marL="0" indent="0">
                        <a:buNone/>
                      </a:pPr>
                      <a:r>
                        <a:rPr lang="en-US" sz="1500" b="1" dirty="0">
                          <a:solidFill>
                            <a:srgbClr val="0F172A"/>
                          </a:solidFill>
                          <a:latin typeface="Calibri" pitchFamily="34" charset="0"/>
                          <a:ea typeface="Calibri" pitchFamily="34" charset="-122"/>
                          <a:cs typeface="Calibri" pitchFamily="34" charset="-120"/>
                        </a:rPr>
                        <a:t>Evaluation judge</a:t>
                      </a:r>
                      <a:endParaRPr lang="en-US" sz="1500" dirty="0">
                        <a:latin typeface="Calibri" charset="0"/>
                        <a:ea typeface="Calibri" charset="0"/>
                        <a:cs typeface="Calibri" charset="0"/>
                      </a:endParaRPr>
                    </a:p>
                  </a:txBody>
                  <a:tcPr marL="137160" marR="13716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0F172A"/>
                          </a:solidFill>
                          <a:latin typeface="Calibri" pitchFamily="34" charset="0"/>
                          <a:ea typeface="Calibri" pitchFamily="34" charset="-122"/>
                          <a:cs typeface="Calibri" pitchFamily="34" charset="-120"/>
                        </a:rPr>
                        <a:t>gpt-oss-120b</a:t>
                      </a:r>
                      <a:endParaRPr lang="en-US" sz="1500" dirty="0">
                        <a:latin typeface="Calibri" charset="0"/>
                        <a:ea typeface="Calibri" charset="0"/>
                        <a:cs typeface="Calibri" charset="0"/>
                      </a:endParaRPr>
                    </a:p>
                  </a:txBody>
                  <a:tcPr marL="137160" marR="13716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0F172A"/>
                          </a:solidFill>
                          <a:latin typeface="Calibri" pitchFamily="34" charset="0"/>
                          <a:ea typeface="Calibri" pitchFamily="34" charset="-122"/>
                          <a:cs typeface="Calibri" pitchFamily="34" charset="-120"/>
                        </a:rPr>
                        <a:t>Claude Opus 5.5</a:t>
                      </a:r>
                      <a:endParaRPr lang="en-US" sz="1500" dirty="0">
                        <a:latin typeface="Calibri" charset="0"/>
                        <a:ea typeface="Calibri" charset="0"/>
                        <a:cs typeface="Calibri" charset="0"/>
                      </a:endParaRPr>
                    </a:p>
                  </a:txBody>
                  <a:tcPr marL="137160" marR="13716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500" b="1" dirty="0">
                          <a:solidFill>
                            <a:srgbClr val="0F172A"/>
                          </a:solidFill>
                          <a:latin typeface="Calibri" pitchFamily="34" charset="0"/>
                          <a:ea typeface="Calibri" pitchFamily="34" charset="-122"/>
                          <a:cs typeface="Calibri" pitchFamily="34" charset="-120"/>
                        </a:rPr>
                        <a:t>Targets met</a:t>
                      </a:r>
                      <a:endParaRPr lang="en-US" sz="1500" dirty="0">
                        <a:latin typeface="Calibri" charset="0"/>
                        <a:ea typeface="Calibri" charset="0"/>
                        <a:cs typeface="Calibri" charset="0"/>
                      </a:endParaRPr>
                    </a:p>
                  </a:txBody>
                  <a:tcPr marL="137160" marR="13716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0F172A"/>
                          </a:solidFill>
                          <a:latin typeface="Calibri" pitchFamily="34" charset="0"/>
                          <a:ea typeface="Calibri" pitchFamily="34" charset="-122"/>
                          <a:cs typeface="Calibri" pitchFamily="34" charset="-120"/>
                        </a:rPr>
                        <a:t>27 of 28</a:t>
                      </a:r>
                      <a:endParaRPr lang="en-US" sz="1500" dirty="0">
                        <a:latin typeface="Calibri" charset="0"/>
                        <a:ea typeface="Calibri" charset="0"/>
                        <a:cs typeface="Calibri" charset="0"/>
                      </a:endParaRPr>
                    </a:p>
                  </a:txBody>
                  <a:tcPr marL="137160" marR="13716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0F172A"/>
                          </a:solidFill>
                          <a:latin typeface="Calibri" pitchFamily="34" charset="0"/>
                          <a:ea typeface="Calibri" pitchFamily="34" charset="-122"/>
                          <a:cs typeface="Calibri" pitchFamily="34" charset="-120"/>
                        </a:rPr>
                        <a:t>26 of 28</a:t>
                      </a:r>
                      <a:endParaRPr lang="en-US" sz="1500" dirty="0">
                        <a:latin typeface="Calibri" charset="0"/>
                        <a:ea typeface="Calibri" charset="0"/>
                        <a:cs typeface="Calibri" charset="0"/>
                      </a:endParaRPr>
                    </a:p>
                  </a:txBody>
                  <a:tcPr marL="137160" marR="13716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500" b="1" dirty="0">
                          <a:solidFill>
                            <a:srgbClr val="0F172A"/>
                          </a:solidFill>
                          <a:latin typeface="Calibri" pitchFamily="34" charset="0"/>
                          <a:ea typeface="Calibri" pitchFamily="34" charset="-122"/>
                          <a:cs typeface="Calibri" pitchFamily="34" charset="-120"/>
                        </a:rPr>
                        <a:t>Judge verdicts (11 queries)</a:t>
                      </a:r>
                      <a:endParaRPr lang="en-US" sz="1500" dirty="0">
                        <a:latin typeface="Calibri" charset="0"/>
                        <a:ea typeface="Calibri" charset="0"/>
                        <a:cs typeface="Calibri" charset="0"/>
                      </a:endParaRPr>
                    </a:p>
                  </a:txBody>
                  <a:tcPr marL="137160" marR="13716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0F172A"/>
                          </a:solidFill>
                          <a:latin typeface="Calibri" pitchFamily="34" charset="0"/>
                          <a:ea typeface="Calibri" pitchFamily="34" charset="-122"/>
                          <a:cs typeface="Calibri" pitchFamily="34" charset="-120"/>
                        </a:rPr>
                        <a:t>9 pass, 2 low confidence; 3 revised</a:t>
                      </a:r>
                      <a:endParaRPr lang="en-US" sz="1500" dirty="0">
                        <a:latin typeface="Calibri" charset="0"/>
                        <a:ea typeface="Calibri" charset="0"/>
                        <a:cs typeface="Calibri" charset="0"/>
                      </a:endParaRPr>
                    </a:p>
                  </a:txBody>
                  <a:tcPr marL="137160" marR="13716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0F172A"/>
                          </a:solidFill>
                          <a:latin typeface="Calibri" pitchFamily="34" charset="0"/>
                          <a:ea typeface="Calibri" pitchFamily="34" charset="-122"/>
                          <a:cs typeface="Calibri" pitchFamily="34" charset="-120"/>
                        </a:rPr>
                        <a:t>11 pass; 0 revised</a:t>
                      </a:r>
                      <a:endParaRPr lang="en-US" sz="1500" dirty="0">
                        <a:latin typeface="Calibri" charset="0"/>
                        <a:ea typeface="Calibri" charset="0"/>
                        <a:cs typeface="Calibri" charset="0"/>
                      </a:endParaRPr>
                    </a:p>
                  </a:txBody>
                  <a:tcPr marL="137160" marR="13716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500" b="1" dirty="0">
                          <a:solidFill>
                            <a:srgbClr val="0F172A"/>
                          </a:solidFill>
                          <a:latin typeface="Calibri" pitchFamily="34" charset="0"/>
                          <a:ea typeface="Calibri" pitchFamily="34" charset="-122"/>
                          <a:cs typeface="Calibri" pitchFamily="34" charset="-120"/>
                        </a:rPr>
                        <a:t>Median / max time per analysis</a:t>
                      </a:r>
                      <a:endParaRPr lang="en-US" sz="1500" dirty="0">
                        <a:latin typeface="Calibri" charset="0"/>
                        <a:ea typeface="Calibri" charset="0"/>
                        <a:cs typeface="Calibri" charset="0"/>
                      </a:endParaRPr>
                    </a:p>
                  </a:txBody>
                  <a:tcPr marL="137160" marR="13716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0F172A"/>
                          </a:solidFill>
                          <a:latin typeface="Calibri" pitchFamily="34" charset="0"/>
                          <a:ea typeface="Calibri" pitchFamily="34" charset="-122"/>
                          <a:cs typeface="Calibri" pitchFamily="34" charset="-120"/>
                        </a:rPr>
                        <a:t>34.8 s / 78.8 s</a:t>
                      </a:r>
                      <a:endParaRPr lang="en-US" sz="1500" dirty="0">
                        <a:latin typeface="Calibri" charset="0"/>
                        <a:ea typeface="Calibri" charset="0"/>
                        <a:cs typeface="Calibri" charset="0"/>
                      </a:endParaRPr>
                    </a:p>
                  </a:txBody>
                  <a:tcPr marL="137160" marR="13716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0F172A"/>
                          </a:solidFill>
                          <a:latin typeface="Calibri" pitchFamily="34" charset="0"/>
                          <a:ea typeface="Calibri" pitchFamily="34" charset="-122"/>
                          <a:cs typeface="Calibri" pitchFamily="34" charset="-120"/>
                        </a:rPr>
                        <a:t>31.4 s / 33.9 s</a:t>
                      </a:r>
                      <a:endParaRPr lang="en-US" sz="1500" dirty="0">
                        <a:latin typeface="Calibri" charset="0"/>
                        <a:ea typeface="Calibri" charset="0"/>
                        <a:cs typeface="Calibri" charset="0"/>
                      </a:endParaRPr>
                    </a:p>
                  </a:txBody>
                  <a:tcPr marL="137160" marR="13716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buNone/>
                      </a:pPr>
                      <a:r>
                        <a:rPr lang="en-US" sz="1500" b="1" dirty="0">
                          <a:solidFill>
                            <a:srgbClr val="0F172A"/>
                          </a:solidFill>
                          <a:latin typeface="Calibri" pitchFamily="34" charset="0"/>
                          <a:ea typeface="Calibri" pitchFamily="34" charset="-122"/>
                          <a:cs typeface="Calibri" pitchFamily="34" charset="-120"/>
                        </a:rPr>
                        <a:t>Planted errors caught by the judge agent</a:t>
                      </a:r>
                      <a:endParaRPr lang="en-US" sz="1500" dirty="0">
                        <a:latin typeface="Calibri" charset="0"/>
                        <a:ea typeface="Calibri" charset="0"/>
                        <a:cs typeface="Calibri" charset="0"/>
                      </a:endParaRPr>
                    </a:p>
                  </a:txBody>
                  <a:tcPr marL="137160" marR="13716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0F172A"/>
                          </a:solidFill>
                          <a:latin typeface="Calibri" pitchFamily="34" charset="0"/>
                          <a:ea typeface="Calibri" pitchFamily="34" charset="-122"/>
                          <a:cs typeface="Calibri" pitchFamily="34" charset="-120"/>
                        </a:rPr>
                        <a:t>12 of 12, 0 false alarms</a:t>
                      </a:r>
                      <a:endParaRPr lang="en-US" sz="1500" dirty="0">
                        <a:latin typeface="Calibri" charset="0"/>
                        <a:ea typeface="Calibri" charset="0"/>
                        <a:cs typeface="Calibri" charset="0"/>
                      </a:endParaRPr>
                    </a:p>
                  </a:txBody>
                  <a:tcPr marL="137160" marR="13716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0F172A"/>
                          </a:solidFill>
                          <a:latin typeface="Calibri" pitchFamily="34" charset="0"/>
                          <a:ea typeface="Calibri" pitchFamily="34" charset="-122"/>
                          <a:cs typeface="Calibri" pitchFamily="34" charset="-120"/>
                        </a:rPr>
                        <a:t>12 of 12, 0 false alarms</a:t>
                      </a:r>
                      <a:endParaRPr lang="en-US" sz="1500" dirty="0">
                        <a:latin typeface="Calibri" charset="0"/>
                        <a:ea typeface="Calibri" charset="0"/>
                        <a:cs typeface="Calibri" charset="0"/>
                      </a:endParaRPr>
                    </a:p>
                  </a:txBody>
                  <a:tcPr marL="137160" marR="13716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marL="0" indent="0">
                        <a:buNone/>
                      </a:pPr>
                      <a:r>
                        <a:rPr lang="en-US" sz="1500" b="1" dirty="0">
                          <a:solidFill>
                            <a:srgbClr val="0F172A"/>
                          </a:solidFill>
                          <a:latin typeface="Calibri" pitchFamily="34" charset="0"/>
                          <a:ea typeface="Calibri" pitchFamily="34" charset="-122"/>
                          <a:cs typeface="Calibri" pitchFamily="34" charset="-120"/>
                        </a:rPr>
                        <a:t>Cost of the full evaluation</a:t>
                      </a:r>
                      <a:endParaRPr lang="en-US" sz="1500" dirty="0">
                        <a:latin typeface="Calibri" charset="0"/>
                        <a:ea typeface="Calibri" charset="0"/>
                        <a:cs typeface="Calibri" charset="0"/>
                      </a:endParaRPr>
                    </a:p>
                  </a:txBody>
                  <a:tcPr marL="137160" marR="13716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0F172A"/>
                          </a:solidFill>
                          <a:latin typeface="Calibri" pitchFamily="34" charset="0"/>
                          <a:ea typeface="Calibri" pitchFamily="34" charset="-122"/>
                          <a:cs typeface="Calibri" pitchFamily="34" charset="-120"/>
                        </a:rPr>
                        <a:t>≈ $0.27</a:t>
                      </a:r>
                      <a:endParaRPr lang="en-US" sz="1500" dirty="0">
                        <a:latin typeface="Calibri" charset="0"/>
                        <a:ea typeface="Calibri" charset="0"/>
                        <a:cs typeface="Calibri" charset="0"/>
                      </a:endParaRPr>
                    </a:p>
                  </a:txBody>
                  <a:tcPr marL="137160" marR="13716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500" dirty="0">
                          <a:solidFill>
                            <a:srgbClr val="0F172A"/>
                          </a:solidFill>
                          <a:latin typeface="Calibri" pitchFamily="34" charset="0"/>
                          <a:ea typeface="Calibri" pitchFamily="34" charset="-122"/>
                          <a:cs typeface="Calibri" pitchFamily="34" charset="-120"/>
                        </a:rPr>
                        <a:t>≈ $11.4</a:t>
                      </a:r>
                      <a:endParaRPr lang="en-US" sz="1500" dirty="0">
                        <a:latin typeface="Calibri" charset="0"/>
                        <a:ea typeface="Calibri" charset="0"/>
                        <a:cs typeface="Calibri" charset="0"/>
                      </a:endParaRPr>
                    </a:p>
                  </a:txBody>
                  <a:tcPr marL="137160" marR="13716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64748B"/>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name="Slide 1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229600" cy="274320"/>
          </a:xfrm>
          <a:prstGeom prst="rect">
            <a:avLst/>
          </a:prstGeom>
          <a:noFill/>
          <a:ln/>
        </p:spPr>
        <p:txBody>
          <a:bodyPr wrap="square" lIns="0" tIns="0" rIns="0" bIns="0" rtlCol="0" anchor="ctr"/>
          <a:lstStyle/>
          <a:p>
            <a:pPr marL="0" indent="0">
              <a:buNone/>
            </a:pPr>
            <a:r>
              <a:rPr lang="en-US" sz="1200" b="1" kern="0" spc="200" dirty="0">
                <a:solidFill>
                  <a:srgbClr val="EA580C"/>
                </a:solidFill>
              </a:rPr>
              <a:t>BACKUP</a:t>
            </a:r>
            <a:endParaRPr lang="en-US" sz="1200" dirty="0"/>
          </a:p>
        </p:txBody>
      </p:sp>
      <p:sp>
        <p:nvSpPr>
          <p:cNvPr id="3" name="Text 0"/>
          <p:cNvSpPr>
            <a:spLocks noGrp="1"/>
          </p:cNvSpPr>
          <p:nvPr>
            <p:ph type="title" idx="101" hasCustomPrompt="1"/>
          </p:nvPr>
        </p:nvSpPr>
        <p:spPr>
          <a:xfrm>
            <a:off x="548640" y="621792"/>
            <a:ext cx="11064240" cy="640080"/>
          </a:xfrm>
          <a:prstGeom prst="rect">
            <a:avLst/>
          </a:prstGeom>
          <a:noFill/>
          <a:ln/>
        </p:spPr>
        <p:txBody>
          <a:bodyPr wrap="square" lIns="0" tIns="0" rIns="0" bIns="0" rtlCol="0" anchor="ctr"/>
          <a:lstStyle/>
          <a:p>
            <a:pPr marL="0" indent="0" algn="l">
              <a:buNone/>
            </a:pPr>
            <a:r>
              <a:rPr lang="en-US" sz="3200" b="1" dirty="0">
                <a:solidFill>
                  <a:srgbClr val="0B2545"/>
                </a:solidFill>
              </a:rPr>
              <a:t>Backup: Q&amp;A preparation</a:t>
            </a:r>
            <a:endParaRPr lang="en-US" sz="3200" dirty="0"/>
          </a:p>
        </p:txBody>
      </p:sp>
      <p:sp>
        <p:nvSpPr>
          <p:cNvPr id="4" name="Shape 2"/>
          <p:cNvSpPr/>
          <p:nvPr/>
        </p:nvSpPr>
        <p:spPr>
          <a:xfrm>
            <a:off x="548640" y="1554480"/>
            <a:ext cx="5394960" cy="1005840"/>
          </a:xfrm>
          <a:prstGeom prst="roundRect">
            <a:avLst>
              <a:gd name="adj" fmla="val 10909"/>
            </a:avLst>
          </a:prstGeom>
          <a:solidFill>
            <a:srgbClr val="F6F8FB"/>
          </a:solidFill>
          <a:ln w="12700">
            <a:solidFill>
              <a:srgbClr val="E2E8F0"/>
            </a:solidFill>
            <a:prstDash val="solid"/>
          </a:ln>
        </p:spPr>
      </p:sp>
      <p:sp>
        <p:nvSpPr>
          <p:cNvPr id="5" name="Text 3"/>
          <p:cNvSpPr txBox="1"/>
          <p:nvPr/>
        </p:nvSpPr>
        <p:spPr>
          <a:xfrm>
            <a:off x="777240" y="1682496"/>
            <a:ext cx="4937760" cy="320040"/>
          </a:xfrm>
          <a:prstGeom prst="rect">
            <a:avLst/>
          </a:prstGeom>
          <a:noFill/>
          <a:ln/>
        </p:spPr>
        <p:txBody>
          <a:bodyPr wrap="square" lIns="0" tIns="0" rIns="0" bIns="0" rtlCol="0" anchor="t"/>
          <a:lstStyle/>
          <a:p>
            <a:pPr marL="0" indent="0">
              <a:buNone/>
            </a:pPr>
            <a:r>
              <a:rPr lang="en-US" sz="1500" b="1" dirty="0">
                <a:solidFill>
                  <a:srgbClr val="0B2545"/>
                </a:solidFill>
              </a:rPr>
              <a:t>Why does synthetic data matter?</a:t>
            </a:r>
            <a:endParaRPr lang="en-US" sz="1500" dirty="0"/>
          </a:p>
        </p:txBody>
      </p:sp>
      <p:sp>
        <p:nvSpPr>
          <p:cNvPr id="6" name="Text 4"/>
          <p:cNvSpPr txBox="1"/>
          <p:nvPr/>
        </p:nvSpPr>
        <p:spPr>
          <a:xfrm>
            <a:off x="777240" y="2011680"/>
            <a:ext cx="4937760" cy="502920"/>
          </a:xfrm>
          <a:prstGeom prst="rect">
            <a:avLst/>
          </a:prstGeom>
          <a:noFill/>
          <a:ln/>
        </p:spPr>
        <p:txBody>
          <a:bodyPr wrap="square" lIns="0" tIns="0" rIns="0" bIns="0" rtlCol="0" anchor="t"/>
          <a:lstStyle/>
          <a:p>
            <a:pPr marL="0" indent="0">
              <a:buNone/>
            </a:pPr>
            <a:r>
              <a:rPr lang="en-US" sz="1300" dirty="0">
                <a:solidFill>
                  <a:srgbClr val="475569"/>
                </a:solidFill>
              </a:rPr>
              <a:t>Generator artifacts; severity is relative; no trends</a:t>
            </a:r>
            <a:endParaRPr lang="en-US" sz="1300" dirty="0"/>
          </a:p>
        </p:txBody>
      </p:sp>
      <p:sp>
        <p:nvSpPr>
          <p:cNvPr id="7" name="Shape 5"/>
          <p:cNvSpPr/>
          <p:nvPr/>
        </p:nvSpPr>
        <p:spPr>
          <a:xfrm>
            <a:off x="6217920" y="1554480"/>
            <a:ext cx="5394960" cy="1005840"/>
          </a:xfrm>
          <a:prstGeom prst="roundRect">
            <a:avLst>
              <a:gd name="adj" fmla="val 10909"/>
            </a:avLst>
          </a:prstGeom>
          <a:solidFill>
            <a:srgbClr val="F6F8FB"/>
          </a:solidFill>
          <a:ln w="12700">
            <a:solidFill>
              <a:srgbClr val="E2E8F0"/>
            </a:solidFill>
            <a:prstDash val="solid"/>
          </a:ln>
        </p:spPr>
      </p:sp>
      <p:sp>
        <p:nvSpPr>
          <p:cNvPr id="8" name="Text 6"/>
          <p:cNvSpPr txBox="1"/>
          <p:nvPr/>
        </p:nvSpPr>
        <p:spPr>
          <a:xfrm>
            <a:off x="6446520" y="1682496"/>
            <a:ext cx="4937760" cy="320040"/>
          </a:xfrm>
          <a:prstGeom prst="rect">
            <a:avLst/>
          </a:prstGeom>
          <a:noFill/>
          <a:ln/>
        </p:spPr>
        <p:txBody>
          <a:bodyPr wrap="square" lIns="0" tIns="0" rIns="0" bIns="0" rtlCol="0" anchor="t"/>
          <a:lstStyle/>
          <a:p>
            <a:pPr marL="0" indent="0">
              <a:buNone/>
            </a:pPr>
            <a:r>
              <a:rPr lang="en-US" sz="1500" b="1" dirty="0">
                <a:solidFill>
                  <a:srgbClr val="0B2545"/>
                </a:solidFill>
              </a:rPr>
              <a:t>How was leakage avoided?</a:t>
            </a:r>
            <a:endParaRPr lang="en-US" sz="1500" dirty="0"/>
          </a:p>
        </p:txBody>
      </p:sp>
      <p:sp>
        <p:nvSpPr>
          <p:cNvPr id="9" name="Text 7"/>
          <p:cNvSpPr txBox="1"/>
          <p:nvPr/>
        </p:nvSpPr>
        <p:spPr>
          <a:xfrm>
            <a:off x="6446520" y="2011680"/>
            <a:ext cx="4937760" cy="502920"/>
          </a:xfrm>
          <a:prstGeom prst="rect">
            <a:avLst/>
          </a:prstGeom>
          <a:noFill/>
          <a:ln/>
        </p:spPr>
        <p:txBody>
          <a:bodyPr wrap="square" lIns="0" tIns="0" rIns="0" bIns="0" rtlCol="0" anchor="t"/>
          <a:lstStyle/>
          <a:p>
            <a:pPr marL="0" indent="0">
              <a:buNone/>
            </a:pPr>
            <a:r>
              <a:rPr lang="en-US" sz="1300" dirty="0">
                <a:solidFill>
                  <a:srgbClr val="475569"/>
                </a:solidFill>
              </a:rPr>
              <a:t>Leakage audit: R² from root columns ≥ 0.15 → excluded</a:t>
            </a:r>
            <a:endParaRPr lang="en-US" sz="1300" dirty="0"/>
          </a:p>
        </p:txBody>
      </p:sp>
      <p:sp>
        <p:nvSpPr>
          <p:cNvPr id="10" name="Shape 8"/>
          <p:cNvSpPr/>
          <p:nvPr/>
        </p:nvSpPr>
        <p:spPr>
          <a:xfrm>
            <a:off x="548640" y="2724912"/>
            <a:ext cx="5394960" cy="1005840"/>
          </a:xfrm>
          <a:prstGeom prst="roundRect">
            <a:avLst>
              <a:gd name="adj" fmla="val 10909"/>
            </a:avLst>
          </a:prstGeom>
          <a:solidFill>
            <a:srgbClr val="F6F8FB"/>
          </a:solidFill>
          <a:ln w="12700">
            <a:solidFill>
              <a:srgbClr val="E2E8F0"/>
            </a:solidFill>
            <a:prstDash val="solid"/>
          </a:ln>
        </p:spPr>
      </p:sp>
      <p:sp>
        <p:nvSpPr>
          <p:cNvPr id="11" name="Text 9"/>
          <p:cNvSpPr txBox="1"/>
          <p:nvPr/>
        </p:nvSpPr>
        <p:spPr>
          <a:xfrm>
            <a:off x="777240" y="2852928"/>
            <a:ext cx="4937760" cy="320040"/>
          </a:xfrm>
          <a:prstGeom prst="rect">
            <a:avLst/>
          </a:prstGeom>
          <a:noFill/>
          <a:ln/>
        </p:spPr>
        <p:txBody>
          <a:bodyPr wrap="square" lIns="0" tIns="0" rIns="0" bIns="0" rtlCol="0" anchor="t"/>
          <a:lstStyle/>
          <a:p>
            <a:pPr marL="0" indent="0">
              <a:buNone/>
            </a:pPr>
            <a:r>
              <a:rPr lang="en-US" sz="1500" b="1" dirty="0">
                <a:solidFill>
                  <a:srgbClr val="0B2545"/>
                </a:solidFill>
              </a:rPr>
              <a:t>Why agents and not one call?</a:t>
            </a:r>
            <a:endParaRPr lang="en-US" sz="1500" dirty="0"/>
          </a:p>
        </p:txBody>
      </p:sp>
      <p:sp>
        <p:nvSpPr>
          <p:cNvPr id="12" name="Text 10"/>
          <p:cNvSpPr txBox="1"/>
          <p:nvPr/>
        </p:nvSpPr>
        <p:spPr>
          <a:xfrm>
            <a:off x="777240" y="3182112"/>
            <a:ext cx="4937760" cy="502920"/>
          </a:xfrm>
          <a:prstGeom prst="rect">
            <a:avLst/>
          </a:prstGeom>
          <a:noFill/>
          <a:ln/>
        </p:spPr>
        <p:txBody>
          <a:bodyPr wrap="square" lIns="0" tIns="0" rIns="0" bIns="0" rtlCol="0" anchor="t"/>
          <a:lstStyle/>
          <a:p>
            <a:pPr marL="0" indent="0">
              <a:buNone/>
            </a:pPr>
            <a:r>
              <a:rPr lang="en-US" sz="1300" dirty="0">
                <a:solidFill>
                  <a:srgbClr val="475569"/>
                </a:solidFill>
              </a:rPr>
              <a:t>Actionability 0.60 → 0.84 (Sonnet) and 0.66 → 0.99 (Haiku); judge catches 12/12</a:t>
            </a:r>
            <a:endParaRPr lang="en-US" sz="1300" dirty="0"/>
          </a:p>
        </p:txBody>
      </p:sp>
      <p:sp>
        <p:nvSpPr>
          <p:cNvPr id="13" name="Shape 11"/>
          <p:cNvSpPr/>
          <p:nvPr/>
        </p:nvSpPr>
        <p:spPr>
          <a:xfrm>
            <a:off x="6217920" y="2724912"/>
            <a:ext cx="5394960" cy="1005840"/>
          </a:xfrm>
          <a:prstGeom prst="roundRect">
            <a:avLst>
              <a:gd name="adj" fmla="val 10909"/>
            </a:avLst>
          </a:prstGeom>
          <a:solidFill>
            <a:srgbClr val="F6F8FB"/>
          </a:solidFill>
          <a:ln w="12700">
            <a:solidFill>
              <a:srgbClr val="E2E8F0"/>
            </a:solidFill>
            <a:prstDash val="solid"/>
          </a:ln>
        </p:spPr>
      </p:sp>
      <p:sp>
        <p:nvSpPr>
          <p:cNvPr id="14" name="Text 12"/>
          <p:cNvSpPr txBox="1"/>
          <p:nvPr/>
        </p:nvSpPr>
        <p:spPr>
          <a:xfrm>
            <a:off x="6446520" y="2852928"/>
            <a:ext cx="4937760" cy="320040"/>
          </a:xfrm>
          <a:prstGeom prst="rect">
            <a:avLst/>
          </a:prstGeom>
          <a:noFill/>
          <a:ln/>
        </p:spPr>
        <p:txBody>
          <a:bodyPr wrap="square" lIns="0" tIns="0" rIns="0" bIns="0" rtlCol="0" anchor="t"/>
          <a:lstStyle/>
          <a:p>
            <a:pPr marL="0" indent="0">
              <a:buNone/>
            </a:pPr>
            <a:r>
              <a:rPr lang="en-US" sz="1500" b="1" dirty="0">
                <a:solidFill>
                  <a:srgbClr val="0B2545"/>
                </a:solidFill>
              </a:rPr>
              <a:t>Why Haiku for the demo?</a:t>
            </a:r>
            <a:endParaRPr lang="en-US" sz="1500" dirty="0"/>
          </a:p>
        </p:txBody>
      </p:sp>
      <p:sp>
        <p:nvSpPr>
          <p:cNvPr id="15" name="Text 13"/>
          <p:cNvSpPr txBox="1"/>
          <p:nvPr/>
        </p:nvSpPr>
        <p:spPr>
          <a:xfrm>
            <a:off x="6446520" y="3182112"/>
            <a:ext cx="4937760" cy="502920"/>
          </a:xfrm>
          <a:prstGeom prst="rect">
            <a:avLst/>
          </a:prstGeom>
          <a:noFill/>
          <a:ln/>
        </p:spPr>
        <p:txBody>
          <a:bodyPr wrap="square" lIns="0" tIns="0" rIns="0" bIns="0" rtlCol="0" anchor="t"/>
          <a:lstStyle/>
          <a:p>
            <a:pPr marL="0" indent="0">
              <a:buNone/>
            </a:pPr>
            <a:r>
              <a:rPr lang="en-US" sz="1300" dirty="0">
                <a:solidFill>
                  <a:srgbClr val="475569"/>
                </a:solidFill>
              </a:rPr>
              <a:t>Same accuracy at ≈ 10x lower cost; weaker answers are revised or flagged, not hidden</a:t>
            </a:r>
            <a:endParaRPr lang="en-US" sz="1300" dirty="0"/>
          </a:p>
        </p:txBody>
      </p:sp>
      <p:sp>
        <p:nvSpPr>
          <p:cNvPr id="16" name="Shape 14"/>
          <p:cNvSpPr/>
          <p:nvPr/>
        </p:nvSpPr>
        <p:spPr>
          <a:xfrm>
            <a:off x="548640" y="3895344"/>
            <a:ext cx="5394960" cy="1005840"/>
          </a:xfrm>
          <a:prstGeom prst="roundRect">
            <a:avLst>
              <a:gd name="adj" fmla="val 10909"/>
            </a:avLst>
          </a:prstGeom>
          <a:solidFill>
            <a:srgbClr val="F6F8FB"/>
          </a:solidFill>
          <a:ln w="12700">
            <a:solidFill>
              <a:srgbClr val="E2E8F0"/>
            </a:solidFill>
            <a:prstDash val="solid"/>
          </a:ln>
        </p:spPr>
      </p:sp>
      <p:sp>
        <p:nvSpPr>
          <p:cNvPr id="17" name="Text 15"/>
          <p:cNvSpPr txBox="1"/>
          <p:nvPr/>
        </p:nvSpPr>
        <p:spPr>
          <a:xfrm>
            <a:off x="777240" y="4023360"/>
            <a:ext cx="4937760" cy="320040"/>
          </a:xfrm>
          <a:prstGeom prst="rect">
            <a:avLst/>
          </a:prstGeom>
          <a:noFill/>
          <a:ln/>
        </p:spPr>
        <p:txBody>
          <a:bodyPr wrap="square" lIns="0" tIns="0" rIns="0" bIns="0" rtlCol="0" anchor="t"/>
          <a:lstStyle/>
          <a:p>
            <a:pPr marL="0" indent="0">
              <a:buNone/>
            </a:pPr>
            <a:r>
              <a:rPr lang="en-US" sz="1500" b="1" dirty="0">
                <a:solidFill>
                  <a:srgbClr val="0B2545"/>
                </a:solidFill>
              </a:rPr>
              <a:t>How is hallucination controlled?</a:t>
            </a:r>
            <a:endParaRPr lang="en-US" sz="1500" dirty="0"/>
          </a:p>
        </p:txBody>
      </p:sp>
      <p:sp>
        <p:nvSpPr>
          <p:cNvPr id="18" name="Text 16"/>
          <p:cNvSpPr txBox="1"/>
          <p:nvPr/>
        </p:nvSpPr>
        <p:spPr>
          <a:xfrm>
            <a:off x="777240" y="4352544"/>
            <a:ext cx="4937760" cy="502920"/>
          </a:xfrm>
          <a:prstGeom prst="rect">
            <a:avLst/>
          </a:prstGeom>
          <a:noFill/>
          <a:ln/>
        </p:spPr>
        <p:txBody>
          <a:bodyPr wrap="square" lIns="0" tIns="0" rIns="0" bIns="0" rtlCol="0" anchor="t"/>
          <a:lstStyle/>
          <a:p>
            <a:pPr marL="0" indent="0">
              <a:buNone/>
            </a:pPr>
            <a:r>
              <a:rPr lang="en-US" sz="1300" dirty="0">
                <a:solidFill>
                  <a:srgbClr val="475569"/>
                </a:solidFill>
              </a:rPr>
              <a:t>Citations validated against evidence IDs; rule checks; judge; fallbacks</a:t>
            </a:r>
            <a:endParaRPr lang="en-US" sz="1300" dirty="0"/>
          </a:p>
        </p:txBody>
      </p:sp>
      <p:sp>
        <p:nvSpPr>
          <p:cNvPr id="19" name="Shape 17"/>
          <p:cNvSpPr/>
          <p:nvPr/>
        </p:nvSpPr>
        <p:spPr>
          <a:xfrm>
            <a:off x="6217920" y="3895344"/>
            <a:ext cx="5394960" cy="1005840"/>
          </a:xfrm>
          <a:prstGeom prst="roundRect">
            <a:avLst>
              <a:gd name="adj" fmla="val 10909"/>
            </a:avLst>
          </a:prstGeom>
          <a:solidFill>
            <a:srgbClr val="F6F8FB"/>
          </a:solidFill>
          <a:ln w="12700">
            <a:solidFill>
              <a:srgbClr val="E2E8F0"/>
            </a:solidFill>
            <a:prstDash val="solid"/>
          </a:ln>
        </p:spPr>
      </p:sp>
      <p:sp>
        <p:nvSpPr>
          <p:cNvPr id="20" name="Text 18"/>
          <p:cNvSpPr txBox="1"/>
          <p:nvPr/>
        </p:nvSpPr>
        <p:spPr>
          <a:xfrm>
            <a:off x="6446520" y="4023360"/>
            <a:ext cx="4937760" cy="320040"/>
          </a:xfrm>
          <a:prstGeom prst="rect">
            <a:avLst/>
          </a:prstGeom>
          <a:noFill/>
          <a:ln/>
        </p:spPr>
        <p:txBody>
          <a:bodyPr wrap="square" lIns="0" tIns="0" rIns="0" bIns="0" rtlCol="0" anchor="t"/>
          <a:lstStyle/>
          <a:p>
            <a:pPr marL="0" indent="0">
              <a:buNone/>
            </a:pPr>
            <a:r>
              <a:rPr lang="en-US" sz="1500" b="1" dirty="0">
                <a:solidFill>
                  <a:srgbClr val="0B2545"/>
                </a:solidFill>
              </a:rPr>
              <a:t>What does feedback change?</a:t>
            </a:r>
            <a:endParaRPr lang="en-US" sz="1500" dirty="0"/>
          </a:p>
        </p:txBody>
      </p:sp>
      <p:sp>
        <p:nvSpPr>
          <p:cNvPr id="21" name="Text 19"/>
          <p:cNvSpPr txBox="1"/>
          <p:nvPr/>
        </p:nvSpPr>
        <p:spPr>
          <a:xfrm>
            <a:off x="6446520" y="4352544"/>
            <a:ext cx="4937760" cy="502920"/>
          </a:xfrm>
          <a:prstGeom prst="rect">
            <a:avLst/>
          </a:prstGeom>
          <a:noFill/>
          <a:ln/>
        </p:spPr>
        <p:txBody>
          <a:bodyPr wrap="square" lIns="0" tIns="0" rIns="0" bIns="0" rtlCol="0" anchor="t"/>
          <a:lstStyle/>
          <a:p>
            <a:pPr marL="0" indent="0">
              <a:buNone/>
            </a:pPr>
            <a:r>
              <a:rPr lang="en-US" sz="1300" dirty="0">
                <a:solidFill>
                  <a:srgbClr val="475569"/>
                </a:solidFill>
              </a:rPr>
              <a:t>A smoothed prior in the rerank (+0.006 nDCG on voted queries, 0 regressions)</a:t>
            </a:r>
            <a:endParaRPr lang="en-US" sz="1300" dirty="0"/>
          </a:p>
        </p:txBody>
      </p:sp>
      <p:sp>
        <p:nvSpPr>
          <p:cNvPr id="22" name="Shape 20"/>
          <p:cNvSpPr/>
          <p:nvPr/>
        </p:nvSpPr>
        <p:spPr>
          <a:xfrm>
            <a:off x="548640" y="5065776"/>
            <a:ext cx="5394960" cy="1005840"/>
          </a:xfrm>
          <a:prstGeom prst="roundRect">
            <a:avLst>
              <a:gd name="adj" fmla="val 10909"/>
            </a:avLst>
          </a:prstGeom>
          <a:solidFill>
            <a:srgbClr val="F6F8FB"/>
          </a:solidFill>
          <a:ln w="12700">
            <a:solidFill>
              <a:srgbClr val="E2E8F0"/>
            </a:solidFill>
            <a:prstDash val="solid"/>
          </a:ln>
        </p:spPr>
      </p:sp>
      <p:sp>
        <p:nvSpPr>
          <p:cNvPr id="23" name="Text 21"/>
          <p:cNvSpPr txBox="1"/>
          <p:nvPr/>
        </p:nvSpPr>
        <p:spPr>
          <a:xfrm>
            <a:off x="777240" y="5193792"/>
            <a:ext cx="4937760" cy="320040"/>
          </a:xfrm>
          <a:prstGeom prst="rect">
            <a:avLst/>
          </a:prstGeom>
          <a:noFill/>
          <a:ln/>
        </p:spPr>
        <p:txBody>
          <a:bodyPr wrap="square" lIns="0" tIns="0" rIns="0" bIns="0" rtlCol="0" anchor="t"/>
          <a:lstStyle/>
          <a:p>
            <a:pPr marL="0" indent="0">
              <a:buNone/>
            </a:pPr>
            <a:r>
              <a:rPr lang="en-US" sz="1500" b="1" dirty="0">
                <a:solidFill>
                  <a:srgbClr val="0B2545"/>
                </a:solidFill>
              </a:rPr>
              <a:t>Why Chroma and BM25?</a:t>
            </a:r>
            <a:endParaRPr lang="en-US" sz="1500" dirty="0"/>
          </a:p>
        </p:txBody>
      </p:sp>
      <p:sp>
        <p:nvSpPr>
          <p:cNvPr id="24" name="Text 22"/>
          <p:cNvSpPr txBox="1"/>
          <p:nvPr/>
        </p:nvSpPr>
        <p:spPr>
          <a:xfrm>
            <a:off x="777240" y="5522976"/>
            <a:ext cx="4937760" cy="502920"/>
          </a:xfrm>
          <a:prstGeom prst="rect">
            <a:avLst/>
          </a:prstGeom>
          <a:noFill/>
          <a:ln/>
        </p:spPr>
        <p:txBody>
          <a:bodyPr wrap="square" lIns="0" tIns="0" rIns="0" bIns="0" rtlCol="0" anchor="t"/>
          <a:lstStyle/>
          <a:p>
            <a:pPr marL="0" indent="0">
              <a:buNone/>
            </a:pPr>
            <a:r>
              <a:rPr lang="en-US" sz="1300" dirty="0">
                <a:solidFill>
                  <a:srgbClr val="475569"/>
                </a:solidFill>
              </a:rPr>
              <a:t>Metadata filters on both paths; exact terms + paraphrases</a:t>
            </a:r>
            <a:endParaRPr lang="en-US" sz="1300" dirty="0"/>
          </a:p>
        </p:txBody>
      </p:sp>
      <p:sp>
        <p:nvSpPr>
          <p:cNvPr id="25" name="Shape 23"/>
          <p:cNvSpPr/>
          <p:nvPr/>
        </p:nvSpPr>
        <p:spPr>
          <a:xfrm>
            <a:off x="6217920" y="5065776"/>
            <a:ext cx="5394960" cy="1005840"/>
          </a:xfrm>
          <a:prstGeom prst="roundRect">
            <a:avLst>
              <a:gd name="adj" fmla="val 10909"/>
            </a:avLst>
          </a:prstGeom>
          <a:solidFill>
            <a:srgbClr val="F6F8FB"/>
          </a:solidFill>
          <a:ln w="12700">
            <a:solidFill>
              <a:srgbClr val="E2E8F0"/>
            </a:solidFill>
            <a:prstDash val="solid"/>
          </a:ln>
        </p:spPr>
      </p:sp>
      <p:sp>
        <p:nvSpPr>
          <p:cNvPr id="26" name="Text 24"/>
          <p:cNvSpPr txBox="1"/>
          <p:nvPr/>
        </p:nvSpPr>
        <p:spPr>
          <a:xfrm>
            <a:off x="6446520" y="5193792"/>
            <a:ext cx="4937760" cy="320040"/>
          </a:xfrm>
          <a:prstGeom prst="rect">
            <a:avLst/>
          </a:prstGeom>
          <a:noFill/>
          <a:ln/>
        </p:spPr>
        <p:txBody>
          <a:bodyPr wrap="square" lIns="0" tIns="0" rIns="0" bIns="0" rtlCol="0" anchor="t"/>
          <a:lstStyle/>
          <a:p>
            <a:pPr marL="0" indent="0">
              <a:buNone/>
            </a:pPr>
            <a:r>
              <a:rPr lang="en-US" sz="1500" b="1" dirty="0">
                <a:solidFill>
                  <a:srgbClr val="0B2545"/>
                </a:solidFill>
              </a:rPr>
              <a:t>Production needs</a:t>
            </a:r>
            <a:endParaRPr lang="en-US" sz="1500" dirty="0"/>
          </a:p>
        </p:txBody>
      </p:sp>
      <p:sp>
        <p:nvSpPr>
          <p:cNvPr id="27" name="Text 25"/>
          <p:cNvSpPr txBox="1"/>
          <p:nvPr/>
        </p:nvSpPr>
        <p:spPr>
          <a:xfrm>
            <a:off x="6446520" y="5522976"/>
            <a:ext cx="4937760" cy="502920"/>
          </a:xfrm>
          <a:prstGeom prst="rect">
            <a:avLst/>
          </a:prstGeom>
          <a:noFill/>
          <a:ln/>
        </p:spPr>
        <p:txBody>
          <a:bodyPr wrap="square" lIns="0" tIns="0" rIns="0" bIns="0" rtlCol="0" anchor="t"/>
          <a:lstStyle/>
          <a:p>
            <a:pPr marL="0" indent="0">
              <a:buNone/>
            </a:pPr>
            <a:r>
              <a:rPr lang="en-US" sz="1300" dirty="0">
                <a:solidFill>
                  <a:srgbClr val="475569"/>
                </a:solidFill>
              </a:rPr>
              <a:t>Real data, authentication, production vector DB, monitoring</a:t>
            </a:r>
            <a:endParaRPr lang="en-US" sz="1300" dirty="0"/>
          </a:p>
        </p:txBody>
      </p:sp>
      <p:sp>
        <p:nvSpPr>
          <p:cNvPr id="28"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64748B"/>
                </a:solidFill>
              </a:defRPr>
            </a:lvl1pPr>
          </a:lstStyle>
          <a:p>
            <a:pPr algn="r"/>
            <a:fld id="{F7021451-1387-4CA6-816F-3879F97B5CBC}" type="slidenum">
              <a:rPr lang="en-US" b="0"/>
              <a:t>16</a:t>
            </a:fld>
            <a:endParaRPr lang="en-US"/>
          </a:p>
        </p:txBody>
      </p:sp>
    </p:spTree>
  </p:cSld>
  <p:clrMapOvr>
    <a:masterClrMapping/>
  </p:clrMapOvr>
</p:sld>
</file>

<file path=ppt/theme/theme1.xml><?xml version="1.0" encoding="utf-8"?>
<a:theme xmlns:a="http://schemas.openxmlformats.org/drawingml/2006/main" name="NetOps">
  <a:themeElements>
    <a:clrScheme name="NetOps">
      <a:dk1>
        <a:srgbClr val="0F172A"/>
      </a:dk1>
      <a:lt1>
        <a:srgbClr val="FFFFFF"/>
      </a:lt1>
      <a:dk2>
        <a:srgbClr val="0B2545"/>
      </a:dk2>
      <a:lt2>
        <a:srgbClr val="F1F5F9"/>
      </a:lt2>
      <a:accent1>
        <a:srgbClr val="2563EB"/>
      </a:accent1>
      <a:accent2>
        <a:srgbClr val="0E9F6E"/>
      </a:accent2>
      <a:accent3>
        <a:srgbClr val="EA580C"/>
      </a:accent3>
      <a:accent4>
        <a:srgbClr val="64748B"/>
      </a:accent4>
      <a:accent5>
        <a:srgbClr val="7C3AED"/>
      </a:accent5>
      <a:accent6>
        <a:srgbClr val="0EA5E9"/>
      </a:accent6>
      <a:hlink>
        <a:srgbClr val="2563EB"/>
      </a:hlink>
      <a:folHlink>
        <a:srgbClr val="7C3AED"/>
      </a:folHlink>
    </a:clrScheme>
    <a:fontScheme name="NetOp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1834</Words>
  <Application>Microsoft Office PowerPoint</Application>
  <PresentationFormat>Widescreen</PresentationFormat>
  <Paragraphs>293</Paragraphs>
  <Slides>16</Slides>
  <Notes>15</Notes>
  <HiddenSlides>5</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NetOps</vt:lpstr>
      <vt:lpstr>PowerPoint Presentation</vt:lpstr>
      <vt:lpstr>The problem: slow, inconsistent incident triage</vt:lpstr>
      <vt:lpstr>Business need: quicker, consistent triaging</vt:lpstr>
      <vt:lpstr>What the engineer gets</vt:lpstr>
      <vt:lpstr>PowerPoint Presentation</vt:lpstr>
      <vt:lpstr>Data flow: built once, used on every request</vt:lpstr>
      <vt:lpstr>The dataset: three surprising findings</vt:lpstr>
      <vt:lpstr>Technology stack</vt:lpstr>
      <vt:lpstr>Agent workflow: why agents, and the judge loop</vt:lpstr>
      <vt:lpstr>PowerPoint Presentation</vt:lpstr>
      <vt:lpstr>Challenges and learnings</vt:lpstr>
      <vt:lpstr>Backup: the report</vt:lpstr>
      <vt:lpstr>Evaluation results</vt:lpstr>
      <vt:lpstr>Live demo (3 minutes)</vt:lpstr>
      <vt:lpstr>Backup: Haiku 5.5 vs Sonnet 5.5</vt:lpstr>
      <vt:lpstr>Backup: Q&amp;A preparation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Telecom Network Operations Assistant</dc:title>
  <dc:subject>PptxGenJS Presentation</dc:subject>
  <dc:creator>Kavini Muthamizhvalvan</dc:creator>
  <cp:lastModifiedBy>Kavini Muthamizhvalavan</cp:lastModifiedBy>
  <cp:revision>2</cp:revision>
  <dcterms:created xsi:type="dcterms:W3CDTF">2026-10-11T14:03:58Z</dcterms:created>
  <dcterms:modified xsi:type="dcterms:W3CDTF">2026-10-11T15:56:41Z</dcterms:modified>
</cp:coreProperties>
</file>